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2"/>
    <p:sldId id="256" r:id="rId3"/>
    <p:sldId id="277" r:id="rId4"/>
    <p:sldId id="257" r:id="rId5"/>
    <p:sldId id="258" r:id="rId6"/>
    <p:sldId id="278" r:id="rId7"/>
    <p:sldId id="279" r:id="rId8"/>
    <p:sldId id="259" r:id="rId9"/>
    <p:sldId id="260" r:id="rId10"/>
    <p:sldId id="280" r:id="rId11"/>
    <p:sldId id="281" r:id="rId12"/>
    <p:sldId id="283" r:id="rId13"/>
    <p:sldId id="282" r:id="rId14"/>
    <p:sldId id="284" r:id="rId15"/>
    <p:sldId id="285" r:id="rId16"/>
    <p:sldId id="286" r:id="rId17"/>
    <p:sldId id="287" r:id="rId18"/>
    <p:sldId id="288" r:id="rId19"/>
    <p:sldId id="289" r:id="rId20"/>
    <p:sldId id="290" r:id="rId21"/>
    <p:sldId id="291" r:id="rId22"/>
    <p:sldId id="292" r:id="rId23"/>
    <p:sldId id="293" r:id="rId24"/>
    <p:sldId id="261" r:id="rId25"/>
    <p:sldId id="294" r:id="rId26"/>
    <p:sldId id="295" r:id="rId27"/>
    <p:sldId id="296" r:id="rId28"/>
    <p:sldId id="297" r:id="rId29"/>
    <p:sldId id="298" r:id="rId30"/>
    <p:sldId id="299" r:id="rId31"/>
    <p:sldId id="300" r:id="rId32"/>
    <p:sldId id="301" r:id="rId33"/>
    <p:sldId id="302" r:id="rId34"/>
    <p:sldId id="303" r:id="rId35"/>
    <p:sldId id="263" r:id="rId36"/>
    <p:sldId id="304" r:id="rId37"/>
    <p:sldId id="305" r:id="rId38"/>
    <p:sldId id="306" r:id="rId39"/>
    <p:sldId id="307" r:id="rId40"/>
    <p:sldId id="308" r:id="rId41"/>
    <p:sldId id="309" r:id="rId42"/>
    <p:sldId id="265"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 id="330" r:id="rId64"/>
    <p:sldId id="331" r:id="rId65"/>
    <p:sldId id="332" r:id="rId66"/>
    <p:sldId id="267" r:id="rId6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105" d="100"/>
          <a:sy n="105" d="100"/>
        </p:scale>
        <p:origin x="819"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image" Target="../media/image16.svg"/><Relationship Id="rId21" Type="http://schemas.openxmlformats.org/officeDocument/2006/relationships/image" Target="../media/image34.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19" Type="http://schemas.openxmlformats.org/officeDocument/2006/relationships/image" Target="../media/image32.sv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6.sv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8.sv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image" Target="../media/image16.svg"/><Relationship Id="rId21" Type="http://schemas.openxmlformats.org/officeDocument/2006/relationships/image" Target="../media/image34.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19" Type="http://schemas.openxmlformats.org/officeDocument/2006/relationships/image" Target="../media/image32.sv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image" Target="../media/image16.svg"/><Relationship Id="rId21" Type="http://schemas.openxmlformats.org/officeDocument/2006/relationships/image" Target="../media/image34.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19" Type="http://schemas.openxmlformats.org/officeDocument/2006/relationships/image" Target="../media/image32.sv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6.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11.png"/><Relationship Id="rId5" Type="http://schemas.openxmlformats.org/officeDocument/2006/relationships/image" Target="../media/image40.png"/><Relationship Id="rId15" Type="http://schemas.openxmlformats.org/officeDocument/2006/relationships/image" Target="../media/image47.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9.png"/><Relationship Id="rId1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0.png"/><Relationship Id="rId7" Type="http://schemas.openxmlformats.org/officeDocument/2006/relationships/image" Target="../media/image52.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1.png"/><Relationship Id="rId4" Type="http://schemas.openxmlformats.org/officeDocument/2006/relationships/image" Target="../media/image9.png"/><Relationship Id="rId9"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CF795F-4529-C3A6-5B50-0742B6299608}"/>
              </a:ext>
            </a:extLst>
          </p:cNvPr>
          <p:cNvSpPr txBox="1"/>
          <p:nvPr/>
        </p:nvSpPr>
        <p:spPr>
          <a:xfrm>
            <a:off x="364067" y="1200077"/>
            <a:ext cx="11463866" cy="5355312"/>
          </a:xfrm>
          <a:prstGeom prst="rect">
            <a:avLst/>
          </a:prstGeom>
          <a:noFill/>
        </p:spPr>
        <p:txBody>
          <a:bodyPr wrap="square" rtlCol="0">
            <a:spAutoFit/>
          </a:bodyPr>
          <a:lstStyle/>
          <a:p>
            <a:r>
              <a:rPr lang="en-US" i="1" kern="0" spc="-40" dirty="0">
                <a:solidFill>
                  <a:srgbClr val="555555">
                    <a:alpha val="100000"/>
                  </a:srgbClr>
                </a:solidFill>
                <a:latin typeface="Tahoma"/>
                <a:ea typeface="Tahoma"/>
                <a:cs typeface="Tahoma"/>
              </a:rPr>
              <a:t>We can’t truly speak for anyone but ourselves. I was born in the USA but I am from Vonguul. The terms and conditions of my existence are not dictated by those that do not understand the weight of my purpose. I tried to be part of a whole, where I did not fit. I chose life when offered death. It is not my desire to impress upon anyone, anything other than what I stand for. I vow to create a man that is willing to live, than to suffer the slowest of deaths just because it is better than nothing. Nothing, another concept created to deceive you into thinking that is what you are. I vow to create a woman, that will create a child, that will know to be proud of the men we all support, because we support each other. Reciprocity isn’t as difficult as some would have you believe.</a:t>
            </a:r>
          </a:p>
          <a:p>
            <a:endParaRPr lang="en-US" i="1" kern="0" spc="-40" dirty="0">
              <a:solidFill>
                <a:srgbClr val="555555">
                  <a:alpha val="100000"/>
                </a:srgbClr>
              </a:solidFill>
              <a:latin typeface="Tahoma"/>
              <a:ea typeface="Tahoma"/>
              <a:cs typeface="Tahoma"/>
            </a:endParaRPr>
          </a:p>
          <a:p>
            <a:r>
              <a:rPr lang="en-US" i="1" kern="0" spc="-40" dirty="0">
                <a:solidFill>
                  <a:srgbClr val="555555">
                    <a:alpha val="100000"/>
                  </a:srgbClr>
                </a:solidFill>
                <a:latin typeface="Tahoma"/>
                <a:ea typeface="Tahoma"/>
                <a:cs typeface="Tahoma"/>
              </a:rPr>
              <a:t>Vonguul came from all of us. It is the feeling we all get when we know something is not right, because we inherently know what right is supposed to be. It the place we all desire to go when we’re being wronged, because we know we won’t be treated unfairly. When things don’t make sense, no matter how we try to rationalize it. The safety in the trust we have for each other, because we know we choose our family. The bonds we built, with the people we trust, created the foundations we choose to stand on today.</a:t>
            </a:r>
          </a:p>
          <a:p>
            <a:endParaRPr lang="en-US" i="1" kern="0" spc="-40" dirty="0">
              <a:solidFill>
                <a:srgbClr val="555555">
                  <a:alpha val="100000"/>
                </a:srgbClr>
              </a:solidFill>
              <a:latin typeface="Tahoma"/>
              <a:ea typeface="Tahoma"/>
              <a:cs typeface="Tahoma"/>
            </a:endParaRPr>
          </a:p>
          <a:p>
            <a:r>
              <a:rPr lang="en-US" i="1" kern="0" spc="-40" dirty="0">
                <a:solidFill>
                  <a:srgbClr val="555555">
                    <a:alpha val="100000"/>
                  </a:srgbClr>
                </a:solidFill>
                <a:latin typeface="Tahoma"/>
                <a:ea typeface="Tahoma"/>
                <a:cs typeface="Tahoma"/>
              </a:rPr>
              <a:t>I think it makes perfect sense for us to finally build a metaphorical house, for our collective household. All flowers aside, regardless of what others do, we have to be responsible for us no matter what, because maybe it isn’t better to concede our lives for their opportunity to die slow. “Their” is anyone that wants you to do what they want you to do and don’t care about what you want. There are many names for these kinds of people, e.g. users, abusers, sociopaths, etc.</a:t>
            </a:r>
            <a:endParaRPr lang="en-US" dirty="0"/>
          </a:p>
        </p:txBody>
      </p:sp>
      <p:sp>
        <p:nvSpPr>
          <p:cNvPr id="3" name="textbox 4">
            <a:extLst>
              <a:ext uri="{FF2B5EF4-FFF2-40B4-BE49-F238E27FC236}">
                <a16:creationId xmlns:a16="http://schemas.microsoft.com/office/drawing/2014/main" id="{EC179745-94FB-D19B-89BA-9042FAA2F3D8}"/>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lang="en-US" sz="2700" b="1" kern="0" spc="-90" dirty="0">
                <a:solidFill>
                  <a:srgbClr val="FFFFFF">
                    <a:alpha val="100000"/>
                  </a:srgbClr>
                </a:solidFill>
                <a:latin typeface="Tahoma"/>
                <a:ea typeface="Tahoma"/>
                <a:cs typeface="Tahoma"/>
              </a:rPr>
              <a:t>The Vonguulian Organized Nation – Origin Story</a:t>
            </a:r>
            <a:endParaRPr sz="2700" dirty="0">
              <a:latin typeface="Tahoma"/>
              <a:ea typeface="Tahoma"/>
              <a:cs typeface="Tahoma"/>
            </a:endParaRPr>
          </a:p>
        </p:txBody>
      </p:sp>
    </p:spTree>
    <p:extLst>
      <p:ext uri="{BB962C8B-B14F-4D97-AF65-F5344CB8AC3E}">
        <p14:creationId xmlns:p14="http://schemas.microsoft.com/office/powerpoint/2010/main" val="3495169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8F9FA">
              <a:alpha val="100000"/>
            </a:srgbClr>
          </a:solidFill>
          <a:ln w="0" cap="flat">
            <a:noFill/>
            <a:prstDash val="solid"/>
            <a:miter lim="0"/>
          </a:ln>
        </p:spPr>
        <p:txBody>
          <a:bodyPr rtlCol="0"/>
          <a:lstStyle/>
          <a:p>
            <a:pPr algn="ctr"/>
            <a:endParaRPr lang="zh-CN" altLang="en-US"/>
          </a:p>
        </p:txBody>
      </p:sp>
      <p:sp>
        <p:nvSpPr>
          <p:cNvPr id="4" name="textbox 4"/>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lang="en-US" sz="2700" b="1" kern="0" spc="-90" dirty="0">
                <a:solidFill>
                  <a:srgbClr val="FFFFFF">
                    <a:alpha val="100000"/>
                  </a:srgbClr>
                </a:solidFill>
                <a:latin typeface="Tahoma"/>
                <a:ea typeface="Tahoma"/>
                <a:cs typeface="Tahoma"/>
              </a:rPr>
              <a:t>The Vonguulian Organized Nation - Mission</a:t>
            </a:r>
            <a:endParaRPr sz="2700" dirty="0">
              <a:latin typeface="Tahoma"/>
              <a:ea typeface="Tahoma"/>
              <a:cs typeface="Tahoma"/>
            </a:endParaRPr>
          </a:p>
        </p:txBody>
      </p:sp>
      <p:sp>
        <p:nvSpPr>
          <p:cNvPr id="6" name="textbox 6"/>
          <p:cNvSpPr/>
          <p:nvPr/>
        </p:nvSpPr>
        <p:spPr>
          <a:xfrm>
            <a:off x="435608" y="1493065"/>
            <a:ext cx="10118091" cy="5051668"/>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56514" algn="l" rtl="0" eaLnBrk="0">
              <a:lnSpc>
                <a:spcPts val="2717"/>
              </a:lnSpc>
              <a:tabLst>
                <a:tab pos="189229" algn="l"/>
              </a:tabLst>
            </a:pPr>
            <a:r>
              <a:rPr sz="1900" b="1" kern="0" spc="0" dirty="0">
                <a:solidFill>
                  <a:srgbClr val="19376D">
                    <a:alpha val="100000"/>
                  </a:srgbClr>
                </a:solidFill>
                <a:latin typeface="Tahoma"/>
                <a:ea typeface="Tahoma"/>
                <a:cs typeface="Tahoma"/>
              </a:rPr>
              <a:t>	</a:t>
            </a:r>
            <a:r>
              <a:rPr sz="1900" b="1" kern="0" spc="70" dirty="0">
                <a:solidFill>
                  <a:srgbClr val="19376D">
                    <a:alpha val="100000"/>
                  </a:srgbClr>
                </a:solidFill>
                <a:latin typeface="Tahoma"/>
                <a:ea typeface="Tahoma"/>
                <a:cs typeface="Tahoma"/>
              </a:rPr>
              <a:t>  </a:t>
            </a:r>
            <a:r>
              <a:rPr sz="1900" b="1" kern="0" spc="-60" dirty="0">
                <a:solidFill>
                  <a:srgbClr val="19376D">
                    <a:alpha val="100000"/>
                  </a:srgbClr>
                </a:solidFill>
                <a:latin typeface="Tahoma"/>
                <a:ea typeface="Tahoma"/>
                <a:cs typeface="Tahoma"/>
              </a:rPr>
              <a:t>Our Mission</a:t>
            </a:r>
            <a:endParaRPr sz="1900" dirty="0">
              <a:latin typeface="Tahoma"/>
              <a:ea typeface="Tahoma"/>
              <a:cs typeface="Tahoma"/>
            </a:endParaRPr>
          </a:p>
          <a:p>
            <a:pPr algn="l" rtl="0" eaLnBrk="0">
              <a:lnSpc>
                <a:spcPct val="100000"/>
              </a:lnSpc>
              <a:tabLst/>
            </a:pPr>
            <a:endParaRPr sz="1000" dirty="0">
              <a:latin typeface="Arial"/>
              <a:ea typeface="Arial"/>
              <a:cs typeface="Arial"/>
            </a:endParaRPr>
          </a:p>
          <a:p>
            <a:pPr marL="12700" algn="l" rtl="0" eaLnBrk="0">
              <a:lnSpc>
                <a:spcPts val="1941"/>
              </a:lnSpc>
              <a:spcBef>
                <a:spcPts val="426"/>
              </a:spcBef>
              <a:tabLst/>
            </a:pPr>
            <a:r>
              <a:rPr lang="en-US" sz="1400" kern="0" spc="-30" dirty="0">
                <a:solidFill>
                  <a:srgbClr val="333333">
                    <a:alpha val="100000"/>
                  </a:srgbClr>
                </a:solidFill>
                <a:latin typeface="Tahoma"/>
                <a:ea typeface="Tahoma"/>
                <a:cs typeface="Tahoma"/>
              </a:rPr>
              <a:t>It truly isn’t something complicated, we simply want to progress. Whether that is with, or without the rest of humanity.</a:t>
            </a:r>
          </a:p>
          <a:p>
            <a:pPr marL="12700" algn="l" rtl="0" eaLnBrk="0">
              <a:lnSpc>
                <a:spcPts val="1941"/>
              </a:lnSpc>
              <a:spcBef>
                <a:spcPts val="426"/>
              </a:spcBef>
              <a:tabLst/>
            </a:pPr>
            <a:endParaRPr lang="en-US" sz="1400" kern="0" spc="-30" dirty="0">
              <a:solidFill>
                <a:srgbClr val="333333">
                  <a:alpha val="100000"/>
                </a:srgbClr>
              </a:solidFill>
              <a:latin typeface="Tahoma"/>
              <a:ea typeface="Tahoma"/>
              <a:cs typeface="Tahoma"/>
            </a:endParaRPr>
          </a:p>
          <a:p>
            <a:pPr marL="12700" algn="l" rtl="0" eaLnBrk="0">
              <a:lnSpc>
                <a:spcPts val="1941"/>
              </a:lnSpc>
              <a:spcBef>
                <a:spcPts val="426"/>
              </a:spcBef>
              <a:tabLst/>
            </a:pPr>
            <a:r>
              <a:rPr lang="en-US" sz="1400" kern="0" spc="-30" dirty="0">
                <a:solidFill>
                  <a:srgbClr val="333333">
                    <a:alpha val="100000"/>
                  </a:srgbClr>
                </a:solidFill>
                <a:latin typeface="Tahoma"/>
                <a:ea typeface="Tahoma"/>
                <a:cs typeface="Tahoma"/>
              </a:rPr>
              <a:t>Aren’t you tired of politics treating your livelihood like it is a game or a disposable commodity that they have control of? Aren’t you tired of religions lying to you about spirituality opting to instill fear in a mask of salvation? Aren’t you tired of being sold a plate of poison at every store you’re allowed to walk into? Aren’t you tired of our children growing up confused and stressed out forced to rebel to feel normal? Aren’t you tired of being tired of things that distract you from your purpose? I am.</a:t>
            </a:r>
          </a:p>
          <a:p>
            <a:pPr marL="12700" algn="l" rtl="0" eaLnBrk="0">
              <a:lnSpc>
                <a:spcPts val="1941"/>
              </a:lnSpc>
              <a:spcBef>
                <a:spcPts val="426"/>
              </a:spcBef>
              <a:tabLst/>
            </a:pPr>
            <a:endParaRPr lang="en-US" sz="1400" kern="0" spc="-30" dirty="0">
              <a:solidFill>
                <a:srgbClr val="333333">
                  <a:alpha val="100000"/>
                </a:srgbClr>
              </a:solidFill>
              <a:latin typeface="Tahoma"/>
              <a:ea typeface="Tahoma"/>
              <a:cs typeface="Tahoma"/>
            </a:endParaRPr>
          </a:p>
          <a:p>
            <a:pPr marL="12700" algn="l" rtl="0" eaLnBrk="0">
              <a:lnSpc>
                <a:spcPts val="1941"/>
              </a:lnSpc>
              <a:spcBef>
                <a:spcPts val="426"/>
              </a:spcBef>
              <a:tabLst/>
            </a:pPr>
            <a:r>
              <a:rPr lang="en-US" sz="1400" kern="0" spc="-30" dirty="0">
                <a:solidFill>
                  <a:srgbClr val="333333">
                    <a:alpha val="100000"/>
                  </a:srgbClr>
                </a:solidFill>
                <a:latin typeface="Tahoma"/>
                <a:ea typeface="Tahoma"/>
                <a:cs typeface="Tahoma"/>
              </a:rPr>
              <a:t>The thing about this entire process, is that this is the easiest and simplest part for everyone to agree on. We are all tired of some obvious injustice, but we refuse to agree on what to do about it, or it looks too confusing to be implemented. Most people that are willing to discuss the topic are only willing to complain about the problems, like this is supposed to be some kind of therapeutic vent session topic. If you offer solutions, they offer excuses, and the problem never gets fixed. </a:t>
            </a:r>
          </a:p>
          <a:p>
            <a:pPr marL="12700" algn="l" rtl="0" eaLnBrk="0">
              <a:lnSpc>
                <a:spcPts val="1941"/>
              </a:lnSpc>
              <a:spcBef>
                <a:spcPts val="426"/>
              </a:spcBef>
              <a:tabLst/>
            </a:pPr>
            <a:endParaRPr lang="en-US" sz="1400" kern="0" spc="-30" dirty="0">
              <a:solidFill>
                <a:srgbClr val="333333">
                  <a:alpha val="100000"/>
                </a:srgbClr>
              </a:solidFill>
              <a:latin typeface="Tahoma"/>
              <a:ea typeface="Tahoma"/>
              <a:cs typeface="Tahoma"/>
            </a:endParaRPr>
          </a:p>
          <a:p>
            <a:pPr marL="12700" algn="l" rtl="0" eaLnBrk="0">
              <a:lnSpc>
                <a:spcPts val="1941"/>
              </a:lnSpc>
              <a:spcBef>
                <a:spcPts val="426"/>
              </a:spcBef>
              <a:tabLst/>
            </a:pPr>
            <a:r>
              <a:rPr lang="en-US" sz="1400" kern="0" spc="-30" dirty="0">
                <a:solidFill>
                  <a:srgbClr val="333333">
                    <a:alpha val="100000"/>
                  </a:srgbClr>
                </a:solidFill>
                <a:latin typeface="Tahoma"/>
                <a:ea typeface="Tahoma"/>
                <a:cs typeface="Tahoma"/>
              </a:rPr>
              <a:t>I created a system where the only people that would complain about it would be the people that we are trying to avoid, the ones we always call “They” or “Them” no-trans. The people whose only desire is to use and abuse others for their own benefit or enjoyment. </a:t>
            </a:r>
          </a:p>
          <a:p>
            <a:pPr marL="12700" algn="l" rtl="0" eaLnBrk="0">
              <a:lnSpc>
                <a:spcPts val="1941"/>
              </a:lnSpc>
              <a:spcBef>
                <a:spcPts val="426"/>
              </a:spcBef>
              <a:tabLst/>
            </a:pPr>
            <a:endParaRPr lang="en-US" sz="1400" kern="0" spc="-30" dirty="0">
              <a:solidFill>
                <a:srgbClr val="333333">
                  <a:alpha val="100000"/>
                </a:srgbClr>
              </a:solidFill>
              <a:latin typeface="Tahoma"/>
              <a:ea typeface="Tahoma"/>
              <a:cs typeface="Tahoma"/>
            </a:endParaRPr>
          </a:p>
          <a:p>
            <a:pPr marL="12700" algn="l" rtl="0" eaLnBrk="0">
              <a:lnSpc>
                <a:spcPts val="1941"/>
              </a:lnSpc>
              <a:spcBef>
                <a:spcPts val="426"/>
              </a:spcBef>
              <a:tabLst/>
            </a:pPr>
            <a:r>
              <a:rPr lang="en-US" sz="1400" kern="0" spc="-30" dirty="0">
                <a:solidFill>
                  <a:srgbClr val="333333">
                    <a:alpha val="100000"/>
                  </a:srgbClr>
                </a:solidFill>
                <a:latin typeface="Tahoma"/>
                <a:ea typeface="Tahoma"/>
                <a:cs typeface="Tahoma"/>
              </a:rPr>
              <a:t>And we have no place for them in Vonguul.</a:t>
            </a:r>
          </a:p>
        </p:txBody>
      </p:sp>
      <p:pic>
        <p:nvPicPr>
          <p:cNvPr id="8" name="picture 8"/>
          <p:cNvPicPr>
            <a:picLocks noChangeAspect="1"/>
          </p:cNvPicPr>
          <p:nvPr/>
        </p:nvPicPr>
        <p:blipFill>
          <a:blip r:embed="rId2"/>
          <a:stretch>
            <a:fillRect/>
          </a:stretch>
        </p:blipFill>
        <p:spPr>
          <a:xfrm rot="21600000">
            <a:off x="496511" y="1573361"/>
            <a:ext cx="133045" cy="230885"/>
          </a:xfrm>
          <a:prstGeom prst="rect">
            <a:avLst/>
          </a:prstGeom>
        </p:spPr>
      </p:pic>
      <p:sp>
        <p:nvSpPr>
          <p:cNvPr id="36" name="textbox 36"/>
          <p:cNvSpPr/>
          <p:nvPr/>
        </p:nvSpPr>
        <p:spPr>
          <a:xfrm>
            <a:off x="1053235" y="2641346"/>
            <a:ext cx="4549140" cy="558165"/>
          </a:xfrm>
          <a:prstGeom prst="rect">
            <a:avLst/>
          </a:prstGeom>
          <a:noFill/>
          <a:ln w="0" cap="flat">
            <a:noFill/>
            <a:prstDash val="solid"/>
            <a:miter lim="0"/>
          </a:ln>
        </p:spPr>
        <p:txBody>
          <a:bodyPr vert="horz" wrap="square" lIns="0" tIns="0" rIns="0" bIns="0"/>
          <a:lstStyle/>
          <a:p>
            <a:pPr algn="l" rtl="0" eaLnBrk="0">
              <a:lnSpc>
                <a:spcPct val="36714"/>
              </a:lnSpc>
              <a:tabLst/>
            </a:pPr>
            <a:endParaRPr sz="100" dirty="0">
              <a:latin typeface="Arial"/>
              <a:ea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BFC0FFA2-34C0-328F-BAF8-03E11332EFCB}"/>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700" b="1" kern="0" spc="-90" dirty="0">
                <a:solidFill>
                  <a:srgbClr val="FFFFFF">
                    <a:alpha val="100000"/>
                  </a:srgbClr>
                </a:solidFill>
                <a:latin typeface="Tahoma"/>
                <a:ea typeface="Tahoma"/>
                <a:cs typeface="Tahoma"/>
              </a:rPr>
              <a:t>Introduction</a:t>
            </a:r>
            <a:endParaRPr sz="2700" dirty="0">
              <a:latin typeface="Tahoma"/>
              <a:ea typeface="Tahoma"/>
              <a:cs typeface="Tahoma"/>
            </a:endParaRPr>
          </a:p>
        </p:txBody>
      </p:sp>
      <p:sp>
        <p:nvSpPr>
          <p:cNvPr id="3" name="TextBox 2">
            <a:extLst>
              <a:ext uri="{FF2B5EF4-FFF2-40B4-BE49-F238E27FC236}">
                <a16:creationId xmlns:a16="http://schemas.microsoft.com/office/drawing/2014/main" id="{9FBF25EC-578D-DE36-3BBC-27EFD8F7CAF4}"/>
              </a:ext>
            </a:extLst>
          </p:cNvPr>
          <p:cNvSpPr txBox="1"/>
          <p:nvPr/>
        </p:nvSpPr>
        <p:spPr>
          <a:xfrm>
            <a:off x="287867" y="1468967"/>
            <a:ext cx="11595100" cy="4524315"/>
          </a:xfrm>
          <a:prstGeom prst="rect">
            <a:avLst/>
          </a:prstGeom>
          <a:noFill/>
        </p:spPr>
        <p:txBody>
          <a:bodyPr wrap="square" rtlCol="0">
            <a:spAutoFit/>
          </a:bodyPr>
          <a:lstStyle/>
          <a:p>
            <a:r>
              <a:rPr lang="en-US" dirty="0"/>
              <a:t>This is a serious matter and should be treated as such, I am not here to flex on anyone about anything for any reason. It is my understanding that everyone has their role to play that was created specifically for them to do as they please. There should never be a time where we need to prove ourselves to anyone but us. </a:t>
            </a:r>
          </a:p>
          <a:p>
            <a:endParaRPr lang="en-US" dirty="0"/>
          </a:p>
          <a:p>
            <a:r>
              <a:rPr lang="en-US" dirty="0"/>
              <a:t>We have a structure designed to empower and encourage our members to excel at every chance that they get. Providing an outlet to grow beyond their potential, becoming exceptional by all standards. Most people that will do something with the information I am sharing with you won’t do it right, and I will still have to continue the execution.</a:t>
            </a:r>
          </a:p>
          <a:p>
            <a:endParaRPr lang="en-US" dirty="0"/>
          </a:p>
          <a:p>
            <a:r>
              <a:rPr lang="en-US" dirty="0"/>
              <a:t>The plan only requires 1 sacrifice, most won’t desire to be the first, but most also won’t mind being second, because they will have had the opportunity to see the vision firsthand as a beneficiary.</a:t>
            </a:r>
          </a:p>
          <a:p>
            <a:endParaRPr lang="en-US" dirty="0"/>
          </a:p>
          <a:p>
            <a:r>
              <a:rPr lang="en-US" dirty="0"/>
              <a:t>The plan is simple. We own profitable businesses and split the proceeds amongst our organized nation. That is the core of the plan. The rest is for longevity and sustainability. That’s literally all there is to it. </a:t>
            </a:r>
          </a:p>
          <a:p>
            <a:endParaRPr lang="en-US" dirty="0"/>
          </a:p>
          <a:p>
            <a:r>
              <a:rPr lang="en-US" dirty="0"/>
              <a:t>Let’s talk about the details…</a:t>
            </a:r>
          </a:p>
        </p:txBody>
      </p:sp>
    </p:spTree>
    <p:extLst>
      <p:ext uri="{BB962C8B-B14F-4D97-AF65-F5344CB8AC3E}">
        <p14:creationId xmlns:p14="http://schemas.microsoft.com/office/powerpoint/2010/main" val="1296369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 44"/>
          <p:cNvSpPr/>
          <p:nvPr/>
        </p:nvSpPr>
        <p:spPr>
          <a:xfrm>
            <a:off x="0" y="0"/>
            <a:ext cx="12192000" cy="6858000"/>
          </a:xfrm>
          <a:prstGeom prst="rect">
            <a:avLst/>
          </a:prstGeom>
          <a:solidFill>
            <a:srgbClr val="F8F9FA">
              <a:alpha val="100000"/>
            </a:srgbClr>
          </a:solidFill>
          <a:ln w="0" cap="flat">
            <a:noFill/>
            <a:prstDash val="solid"/>
            <a:miter lim="0"/>
          </a:ln>
        </p:spPr>
        <p:txBody>
          <a:bodyPr rtlCol="0"/>
          <a:lstStyle/>
          <a:p>
            <a:pPr algn="ctr"/>
            <a:endParaRPr lang="zh-CN" altLang="en-US"/>
          </a:p>
        </p:txBody>
      </p:sp>
      <p:sp>
        <p:nvSpPr>
          <p:cNvPr id="48" name="textbox 48"/>
          <p:cNvSpPr/>
          <p:nvPr/>
        </p:nvSpPr>
        <p:spPr>
          <a:xfrm>
            <a:off x="0" y="-33866"/>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10" dirty="0">
                <a:solidFill>
                  <a:srgbClr val="FFFFFF">
                    <a:alpha val="100000"/>
                  </a:srgbClr>
                </a:solidFill>
                <a:latin typeface="Tahoma"/>
                <a:ea typeface="Tahoma"/>
                <a:cs typeface="Tahoma"/>
              </a:rPr>
              <a:t>Education</a:t>
            </a:r>
            <a:endParaRPr sz="2800" dirty="0">
              <a:latin typeface="Tahoma"/>
              <a:ea typeface="Tahoma"/>
              <a:cs typeface="Tahoma"/>
            </a:endParaRPr>
          </a:p>
        </p:txBody>
      </p:sp>
      <p:sp>
        <p:nvSpPr>
          <p:cNvPr id="3" name="textbox 116">
            <a:extLst>
              <a:ext uri="{FF2B5EF4-FFF2-40B4-BE49-F238E27FC236}">
                <a16:creationId xmlns:a16="http://schemas.microsoft.com/office/drawing/2014/main" id="{65F71025-FE1C-B001-4516-D668004788BB}"/>
              </a:ext>
            </a:extLst>
          </p:cNvPr>
          <p:cNvSpPr/>
          <p:nvPr/>
        </p:nvSpPr>
        <p:spPr>
          <a:xfrm>
            <a:off x="0" y="138430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5" name="textbox 176">
            <a:extLst>
              <a:ext uri="{FF2B5EF4-FFF2-40B4-BE49-F238E27FC236}">
                <a16:creationId xmlns:a16="http://schemas.microsoft.com/office/drawing/2014/main" id="{73F3AB65-589E-AE31-7C5B-CD6BADCD4B4C}"/>
              </a:ext>
            </a:extLst>
          </p:cNvPr>
          <p:cNvSpPr/>
          <p:nvPr/>
        </p:nvSpPr>
        <p:spPr>
          <a:xfrm>
            <a:off x="0" y="2802466"/>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7" name="textbox 218">
            <a:extLst>
              <a:ext uri="{FF2B5EF4-FFF2-40B4-BE49-F238E27FC236}">
                <a16:creationId xmlns:a16="http://schemas.microsoft.com/office/drawing/2014/main" id="{F15940CC-816E-6351-3CCA-C573B54A0DB7}"/>
              </a:ext>
            </a:extLst>
          </p:cNvPr>
          <p:cNvSpPr/>
          <p:nvPr/>
        </p:nvSpPr>
        <p:spPr>
          <a:xfrm>
            <a:off x="0" y="4258733"/>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76275" algn="l" rtl="0" eaLnBrk="0">
              <a:lnSpc>
                <a:spcPts val="3881"/>
              </a:lnSpc>
              <a:tabLst/>
            </a:pPr>
            <a:r>
              <a:rPr sz="2800" b="1" kern="0" spc="-120" dirty="0">
                <a:solidFill>
                  <a:srgbClr val="FFFFFF">
                    <a:alpha val="100000"/>
                  </a:srgbClr>
                </a:solidFill>
                <a:latin typeface="Tahoma"/>
                <a:ea typeface="Tahoma"/>
                <a:cs typeface="Tahoma"/>
              </a:rPr>
              <a:t>Technology</a:t>
            </a:r>
            <a:endParaRPr sz="2800" dirty="0">
              <a:latin typeface="Tahoma"/>
              <a:ea typeface="Tahoma"/>
              <a:cs typeface="Tahoma"/>
            </a:endParaRPr>
          </a:p>
        </p:txBody>
      </p:sp>
      <p:sp>
        <p:nvSpPr>
          <p:cNvPr id="8" name="textbox 288">
            <a:extLst>
              <a:ext uri="{FF2B5EF4-FFF2-40B4-BE49-F238E27FC236}">
                <a16:creationId xmlns:a16="http://schemas.microsoft.com/office/drawing/2014/main" id="{872D79AF-633B-D641-B42A-C9573256AB08}"/>
              </a:ext>
            </a:extLst>
          </p:cNvPr>
          <p:cNvSpPr/>
          <p:nvPr/>
        </p:nvSpPr>
        <p:spPr>
          <a:xfrm>
            <a:off x="0" y="571500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endParaRPr sz="2700" dirty="0">
              <a:latin typeface="Tahoma"/>
              <a:ea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8">
            <a:extLst>
              <a:ext uri="{FF2B5EF4-FFF2-40B4-BE49-F238E27FC236}">
                <a16:creationId xmlns:a16="http://schemas.microsoft.com/office/drawing/2014/main" id="{06BAF5AC-33D6-9C60-CA93-3C1E516926B7}"/>
              </a:ext>
            </a:extLst>
          </p:cNvPr>
          <p:cNvSpPr/>
          <p:nvPr/>
        </p:nvSpPr>
        <p:spPr>
          <a:xfrm>
            <a:off x="0" y="-33866"/>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10" dirty="0">
                <a:solidFill>
                  <a:srgbClr val="FFFFFF">
                    <a:alpha val="100000"/>
                  </a:srgbClr>
                </a:solidFill>
                <a:latin typeface="Tahoma"/>
                <a:ea typeface="Tahoma"/>
                <a:cs typeface="Tahoma"/>
              </a:rPr>
              <a:t>Education</a:t>
            </a:r>
            <a:endParaRPr sz="2800" dirty="0">
              <a:latin typeface="Tahoma"/>
              <a:ea typeface="Tahoma"/>
              <a:cs typeface="Tahoma"/>
            </a:endParaRPr>
          </a:p>
        </p:txBody>
      </p:sp>
      <p:sp>
        <p:nvSpPr>
          <p:cNvPr id="3" name="TextBox 2">
            <a:extLst>
              <a:ext uri="{FF2B5EF4-FFF2-40B4-BE49-F238E27FC236}">
                <a16:creationId xmlns:a16="http://schemas.microsoft.com/office/drawing/2014/main" id="{13C405A5-A018-56FF-DA42-B312067B4C3D}"/>
              </a:ext>
            </a:extLst>
          </p:cNvPr>
          <p:cNvSpPr txBox="1"/>
          <p:nvPr/>
        </p:nvSpPr>
        <p:spPr>
          <a:xfrm>
            <a:off x="88900" y="1227667"/>
            <a:ext cx="11959167" cy="5355312"/>
          </a:xfrm>
          <a:prstGeom prst="rect">
            <a:avLst/>
          </a:prstGeom>
          <a:noFill/>
        </p:spPr>
        <p:txBody>
          <a:bodyPr wrap="square" rtlCol="0">
            <a:spAutoFit/>
          </a:bodyPr>
          <a:lstStyle/>
          <a:p>
            <a:r>
              <a:rPr lang="en-US" dirty="0"/>
              <a:t>While anyone can tell you that innovation and change are what’s needed in the education system today, not many will tell you how that change should look. With the Vonguulian approach to education, it is understood that teaching someone the fundamentals of a subject before teaching them how the information can be applied, left little opportunity for an individual to be restricted by the knowledge they received. This is something that can be applied to existing subjects such as Math, Science, Language Arts, and even History, which are the 4 basic topics present in most publicly provided school systems. Though I don’t think we are going to be able to compare to public schools in the targeted demographic, I also don’t think that education should stop with the base topics. [See MATH Excerpt]</a:t>
            </a:r>
          </a:p>
          <a:p>
            <a:endParaRPr lang="en-US" dirty="0"/>
          </a:p>
          <a:p>
            <a:r>
              <a:rPr lang="en-US" dirty="0"/>
              <a:t>This begs the question of how would we implement these principles into our organized nation’s community. There are levels to understanding how these principles will be implemented. First level, is where we are today, utilizing the knowledge we have as intellectual property to guide others to understanding the value in what we present as a solution. Second level, is where we would create a network and system for teaching anyone that would want to learn how to succeed in their endeavors and sets the groundwork for the third level. Third level, is where we start to give ourselves credibility. As Vonguul continues to expand, the businesses within our network will also grow and we can give credence to our own private schooling programs, accepting them as suitable facilitators for creating experts in their field, using methods that we approve. Fourth level, is where we can start establishing our own variant of a private school that receives not only our own credence but the credibility of what we would consider to be a foreign nation. Our private school would only be offered to our members and their offspring. Fifth level, is where we would start looking into creating a public university to spread our organized nations ideologies.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760EB-CA1C-9622-AA95-4F4153D03FB0}"/>
            </a:ext>
          </a:extLst>
        </p:cNvPr>
        <p:cNvGrpSpPr/>
        <p:nvPr/>
      </p:nvGrpSpPr>
      <p:grpSpPr>
        <a:xfrm>
          <a:off x="0" y="0"/>
          <a:ext cx="0" cy="0"/>
          <a:chOff x="0" y="0"/>
          <a:chExt cx="0" cy="0"/>
        </a:xfrm>
      </p:grpSpPr>
      <p:sp>
        <p:nvSpPr>
          <p:cNvPr id="2" name="textbox 48">
            <a:extLst>
              <a:ext uri="{FF2B5EF4-FFF2-40B4-BE49-F238E27FC236}">
                <a16:creationId xmlns:a16="http://schemas.microsoft.com/office/drawing/2014/main" id="{CC6BD9DF-3D5E-B39F-C349-725993EAFB82}"/>
              </a:ext>
            </a:extLst>
          </p:cNvPr>
          <p:cNvSpPr/>
          <p:nvPr/>
        </p:nvSpPr>
        <p:spPr>
          <a:xfrm>
            <a:off x="0" y="-33866"/>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10" dirty="0">
                <a:solidFill>
                  <a:srgbClr val="FFFFFF">
                    <a:alpha val="100000"/>
                  </a:srgbClr>
                </a:solidFill>
                <a:latin typeface="Tahoma"/>
                <a:ea typeface="Tahoma"/>
                <a:cs typeface="Tahoma"/>
              </a:rPr>
              <a:t>Education</a:t>
            </a:r>
            <a:endParaRPr sz="2800" dirty="0">
              <a:latin typeface="Tahoma"/>
              <a:ea typeface="Tahoma"/>
              <a:cs typeface="Tahoma"/>
            </a:endParaRPr>
          </a:p>
        </p:txBody>
      </p:sp>
      <p:sp>
        <p:nvSpPr>
          <p:cNvPr id="3" name="TextBox 2">
            <a:extLst>
              <a:ext uri="{FF2B5EF4-FFF2-40B4-BE49-F238E27FC236}">
                <a16:creationId xmlns:a16="http://schemas.microsoft.com/office/drawing/2014/main" id="{BAAAA1C7-E955-1BEB-314A-40DE6ADE3D69}"/>
              </a:ext>
            </a:extLst>
          </p:cNvPr>
          <p:cNvSpPr txBox="1"/>
          <p:nvPr/>
        </p:nvSpPr>
        <p:spPr>
          <a:xfrm>
            <a:off x="88900" y="1668347"/>
            <a:ext cx="5621867" cy="5078313"/>
          </a:xfrm>
          <a:prstGeom prst="rect">
            <a:avLst/>
          </a:prstGeom>
          <a:noFill/>
        </p:spPr>
        <p:txBody>
          <a:bodyPr wrap="square" rtlCol="0">
            <a:spAutoFit/>
          </a:bodyPr>
          <a:lstStyle/>
          <a:p>
            <a:r>
              <a:rPr lang="en-US" dirty="0"/>
              <a:t>First Level:</a:t>
            </a:r>
          </a:p>
          <a:p>
            <a:pPr marL="742950" lvl="1" indent="-285750">
              <a:buFont typeface="Arial" panose="020B0604020202020204" pitchFamily="34" charset="0"/>
              <a:buChar char="•"/>
            </a:pPr>
            <a:r>
              <a:rPr lang="en-US" dirty="0"/>
              <a:t>Tutoring Classes for K-12 Subjects</a:t>
            </a:r>
          </a:p>
          <a:p>
            <a:pPr marL="742950" lvl="1" indent="-285750">
              <a:buFont typeface="Arial" panose="020B0604020202020204" pitchFamily="34" charset="0"/>
              <a:buChar char="•"/>
            </a:pPr>
            <a:r>
              <a:rPr lang="en-US" dirty="0"/>
              <a:t>Specialized Guidance Services</a:t>
            </a:r>
          </a:p>
          <a:p>
            <a:pPr marL="742950" lvl="1" indent="-285750">
              <a:buFont typeface="Arial" panose="020B0604020202020204" pitchFamily="34" charset="0"/>
              <a:buChar char="•"/>
            </a:pPr>
            <a:r>
              <a:rPr lang="en-US" dirty="0"/>
              <a:t>Webinars &amp; Seminars</a:t>
            </a:r>
          </a:p>
          <a:p>
            <a:pPr marL="742950" lvl="1" indent="-285750">
              <a:buFont typeface="Arial" panose="020B0604020202020204" pitchFamily="34" charset="0"/>
              <a:buChar char="•"/>
            </a:pPr>
            <a:r>
              <a:rPr lang="en-US" dirty="0"/>
              <a:t>Workshops &amp; Online Video Courses</a:t>
            </a:r>
          </a:p>
          <a:p>
            <a:endParaRPr lang="en-US" dirty="0"/>
          </a:p>
          <a:p>
            <a:r>
              <a:rPr lang="en-US" dirty="0"/>
              <a:t>Second Level:</a:t>
            </a:r>
          </a:p>
          <a:p>
            <a:pPr marL="742950" lvl="1" indent="-285750">
              <a:buFont typeface="Arial" panose="020B0604020202020204" pitchFamily="34" charset="0"/>
              <a:buChar char="•"/>
            </a:pPr>
            <a:r>
              <a:rPr lang="en-US" dirty="0"/>
              <a:t>Creating a targeted apprenticeship program</a:t>
            </a:r>
          </a:p>
          <a:p>
            <a:pPr marL="742950" lvl="1" indent="-285750">
              <a:buFont typeface="Arial" panose="020B0604020202020204" pitchFamily="34" charset="0"/>
              <a:buChar char="•"/>
            </a:pPr>
            <a:r>
              <a:rPr lang="en-US" dirty="0"/>
              <a:t>Focus on creating success from within</a:t>
            </a:r>
          </a:p>
          <a:p>
            <a:pPr marL="742950" lvl="1" indent="-285750">
              <a:buFont typeface="Arial" panose="020B0604020202020204" pitchFamily="34" charset="0"/>
              <a:buChar char="•"/>
            </a:pPr>
            <a:r>
              <a:rPr lang="en-US" dirty="0"/>
              <a:t>Providing resources to promising individuals</a:t>
            </a:r>
          </a:p>
          <a:p>
            <a:pPr marL="742950" lvl="1" indent="-285750">
              <a:buFont typeface="Arial" panose="020B0604020202020204" pitchFamily="34" charset="0"/>
              <a:buChar char="•"/>
            </a:pPr>
            <a:r>
              <a:rPr lang="en-US" dirty="0"/>
              <a:t>With guidance from approved leaders</a:t>
            </a:r>
          </a:p>
          <a:p>
            <a:pPr marL="742950" lvl="1" indent="-285750">
              <a:buFont typeface="Arial" panose="020B0604020202020204" pitchFamily="34" charset="0"/>
              <a:buChar char="•"/>
            </a:pPr>
            <a:endParaRPr lang="en-US" dirty="0"/>
          </a:p>
          <a:p>
            <a:r>
              <a:rPr lang="en-US" dirty="0"/>
              <a:t>Third Level:</a:t>
            </a:r>
          </a:p>
          <a:p>
            <a:pPr marL="742950" lvl="1" indent="-285750">
              <a:buFont typeface="Arial" panose="020B0604020202020204" pitchFamily="34" charset="0"/>
              <a:buChar char="•"/>
            </a:pPr>
            <a:r>
              <a:rPr lang="en-US" dirty="0"/>
              <a:t>Those that have gone through our courses receive recognition and certification</a:t>
            </a:r>
          </a:p>
          <a:p>
            <a:pPr marL="742950" lvl="1" indent="-285750">
              <a:buFont typeface="Arial" panose="020B0604020202020204" pitchFamily="34" charset="0"/>
              <a:buChar char="•"/>
            </a:pPr>
            <a:r>
              <a:rPr lang="en-US" dirty="0"/>
              <a:t>Creating our own network of credibility</a:t>
            </a:r>
          </a:p>
          <a:p>
            <a:pPr marL="742950" lvl="1" indent="-285750">
              <a:buFont typeface="Arial" panose="020B0604020202020204" pitchFamily="34" charset="0"/>
              <a:buChar char="•"/>
            </a:pPr>
            <a:r>
              <a:rPr lang="en-US" dirty="0"/>
              <a:t>Solving the issue of Entry Level Positions not being Entry Level by selecting from us first</a:t>
            </a:r>
          </a:p>
        </p:txBody>
      </p:sp>
      <p:sp>
        <p:nvSpPr>
          <p:cNvPr id="4" name="TextBox 3">
            <a:extLst>
              <a:ext uri="{FF2B5EF4-FFF2-40B4-BE49-F238E27FC236}">
                <a16:creationId xmlns:a16="http://schemas.microsoft.com/office/drawing/2014/main" id="{C5946A11-EBA2-2A3F-1BD9-66DE52405387}"/>
              </a:ext>
            </a:extLst>
          </p:cNvPr>
          <p:cNvSpPr txBox="1"/>
          <p:nvPr/>
        </p:nvSpPr>
        <p:spPr>
          <a:xfrm>
            <a:off x="5858933" y="1671070"/>
            <a:ext cx="6019800" cy="3739104"/>
          </a:xfrm>
          <a:prstGeom prst="rect">
            <a:avLst/>
          </a:prstGeom>
          <a:noFill/>
        </p:spPr>
        <p:txBody>
          <a:bodyPr wrap="square" rtlCol="0">
            <a:spAutoFit/>
          </a:bodyPr>
          <a:lstStyle/>
          <a:p>
            <a:r>
              <a:rPr lang="en-US" dirty="0"/>
              <a:t>Fourth Level:</a:t>
            </a:r>
          </a:p>
          <a:p>
            <a:pPr marL="742950" lvl="1" indent="-285750">
              <a:buFont typeface="Arial" panose="020B0604020202020204" pitchFamily="34" charset="0"/>
              <a:buChar char="•"/>
            </a:pPr>
            <a:r>
              <a:rPr lang="en-US" dirty="0"/>
              <a:t>Create our own private education institute that is publicly accredited</a:t>
            </a:r>
          </a:p>
          <a:p>
            <a:pPr marL="742950" lvl="1" indent="-285750">
              <a:buFont typeface="Arial" panose="020B0604020202020204" pitchFamily="34" charset="0"/>
              <a:buChar char="•"/>
            </a:pPr>
            <a:r>
              <a:rPr lang="en-US" dirty="0"/>
              <a:t>Admit the offspring of our members to ensure top quality education</a:t>
            </a:r>
          </a:p>
          <a:p>
            <a:pPr marL="742950" lvl="1" indent="-285750">
              <a:buFont typeface="Arial" panose="020B0604020202020204" pitchFamily="34" charset="0"/>
              <a:buChar char="•"/>
            </a:pPr>
            <a:r>
              <a:rPr lang="en-US" dirty="0"/>
              <a:t>Make sure their education is validated by public communities we still engage with</a:t>
            </a:r>
          </a:p>
          <a:p>
            <a:pPr marL="742950" lvl="1" indent="-285750">
              <a:buFont typeface="Arial" panose="020B0604020202020204" pitchFamily="34" charset="0"/>
              <a:buChar char="•"/>
            </a:pPr>
            <a:endParaRPr lang="en-US" dirty="0"/>
          </a:p>
          <a:p>
            <a:r>
              <a:rPr lang="en-US" dirty="0"/>
              <a:t>Fifth Level:</a:t>
            </a:r>
          </a:p>
          <a:p>
            <a:pPr marL="742950" lvl="1" indent="-285750">
              <a:buFont typeface="Arial" panose="020B0604020202020204" pitchFamily="34" charset="0"/>
              <a:buChar char="•"/>
            </a:pPr>
            <a:r>
              <a:rPr lang="en-US" dirty="0"/>
              <a:t>Create a University that allows our children to interact with other children in a safe and secure environment.</a:t>
            </a:r>
          </a:p>
          <a:p>
            <a:pPr marL="742950" lvl="1" indent="-285750">
              <a:buFont typeface="Arial" panose="020B0604020202020204" pitchFamily="34" charset="0"/>
              <a:buChar char="•"/>
            </a:pPr>
            <a:r>
              <a:rPr lang="en-US" dirty="0"/>
              <a:t>Assured and enforced by us</a:t>
            </a:r>
          </a:p>
          <a:p>
            <a:pPr marL="742950" lvl="1" indent="-285750">
              <a:buFont typeface="Arial" panose="020B0604020202020204" pitchFamily="34" charset="0"/>
              <a:buChar char="•"/>
            </a:pPr>
            <a:r>
              <a:rPr lang="en-US" dirty="0"/>
              <a:t>Allows our ideologies to be spread to those that are not part of our organized nation</a:t>
            </a:r>
          </a:p>
          <a:p>
            <a:pPr marL="742950" lvl="1"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6F76704E-A333-26A0-DD2E-06372917015C}"/>
              </a:ext>
            </a:extLst>
          </p:cNvPr>
          <p:cNvSpPr txBox="1"/>
          <p:nvPr/>
        </p:nvSpPr>
        <p:spPr>
          <a:xfrm>
            <a:off x="148167" y="1198033"/>
            <a:ext cx="5710766" cy="369332"/>
          </a:xfrm>
          <a:prstGeom prst="rect">
            <a:avLst/>
          </a:prstGeom>
          <a:noFill/>
        </p:spPr>
        <p:txBody>
          <a:bodyPr wrap="square" rtlCol="0">
            <a:spAutoFit/>
          </a:bodyPr>
          <a:lstStyle/>
          <a:p>
            <a:r>
              <a:rPr lang="en-US" b="1" dirty="0"/>
              <a:t>What this looks like in practice…</a:t>
            </a:r>
          </a:p>
        </p:txBody>
      </p:sp>
    </p:spTree>
    <p:extLst>
      <p:ext uri="{BB962C8B-B14F-4D97-AF65-F5344CB8AC3E}">
        <p14:creationId xmlns:p14="http://schemas.microsoft.com/office/powerpoint/2010/main" val="172331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8">
            <a:extLst>
              <a:ext uri="{FF2B5EF4-FFF2-40B4-BE49-F238E27FC236}">
                <a16:creationId xmlns:a16="http://schemas.microsoft.com/office/drawing/2014/main" id="{681031CB-D879-F27B-E6FF-A77D727FFD70}"/>
              </a:ext>
            </a:extLst>
          </p:cNvPr>
          <p:cNvSpPr/>
          <p:nvPr/>
        </p:nvSpPr>
        <p:spPr>
          <a:xfrm>
            <a:off x="0" y="-33866"/>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10" dirty="0">
                <a:solidFill>
                  <a:srgbClr val="FFFFFF">
                    <a:alpha val="100000"/>
                  </a:srgbClr>
                </a:solidFill>
                <a:latin typeface="Tahoma"/>
                <a:ea typeface="Tahoma"/>
                <a:cs typeface="Tahoma"/>
              </a:rPr>
              <a:t>Education</a:t>
            </a:r>
            <a:endParaRPr sz="2800" dirty="0">
              <a:latin typeface="Tahoma"/>
              <a:ea typeface="Tahoma"/>
              <a:cs typeface="Tahoma"/>
            </a:endParaRPr>
          </a:p>
        </p:txBody>
      </p:sp>
      <p:sp>
        <p:nvSpPr>
          <p:cNvPr id="3" name="TextBox 2">
            <a:extLst>
              <a:ext uri="{FF2B5EF4-FFF2-40B4-BE49-F238E27FC236}">
                <a16:creationId xmlns:a16="http://schemas.microsoft.com/office/drawing/2014/main" id="{AD909D73-D78B-0DB7-0204-A130406FB027}"/>
              </a:ext>
            </a:extLst>
          </p:cNvPr>
          <p:cNvSpPr txBox="1"/>
          <p:nvPr/>
        </p:nvSpPr>
        <p:spPr>
          <a:xfrm>
            <a:off x="143933" y="1109134"/>
            <a:ext cx="11921067" cy="5632311"/>
          </a:xfrm>
          <a:prstGeom prst="rect">
            <a:avLst/>
          </a:prstGeom>
          <a:noFill/>
        </p:spPr>
        <p:txBody>
          <a:bodyPr wrap="square" rtlCol="0">
            <a:spAutoFit/>
          </a:bodyPr>
          <a:lstStyle/>
          <a:p>
            <a:r>
              <a:rPr lang="en-US" dirty="0"/>
              <a:t>Every plan starts with the first step. With the plan for Vonguul, it is believed that education is the best starting point for us to progress to our desired destination. I do not wish for things, but I do acknowledge that it would be nice to already be at the Third level at least, where we could offer benefits that feel tangible. </a:t>
            </a:r>
          </a:p>
          <a:p>
            <a:endParaRPr lang="en-US" dirty="0"/>
          </a:p>
          <a:p>
            <a:r>
              <a:rPr lang="en-US" dirty="0"/>
              <a:t>We are where we are, and we will do what we can with what we have. If you think that our plan is worth supporting, the best way is to patronize our businesses and utilize our services to be ready for the day when Vonguul can be positioned to make reality what it should have been from the beginning. </a:t>
            </a:r>
          </a:p>
          <a:p>
            <a:endParaRPr lang="en-US" dirty="0"/>
          </a:p>
          <a:p>
            <a:r>
              <a:rPr lang="en-US" dirty="0"/>
              <a:t>One day, it truly will be someone’s beginning, but for today we have the Vonguulian Design Counseling Service along with Human Design information cheat sheets. Tomorrow, figuratively, we will have cheat sheets for more education subjects, but we will be focusing on providing the best quality we can achieve, so it may take time to create something for every subject in a timely manner. However, the better our businesses (We call these “mines” in Vonguul, because they are mining the currency of a nation) perform, the faster our progress will be.</a:t>
            </a:r>
          </a:p>
          <a:p>
            <a:endParaRPr lang="en-US" dirty="0"/>
          </a:p>
          <a:p>
            <a:r>
              <a:rPr lang="en-US" dirty="0"/>
              <a:t>I think it was important to start with education and then give the details on the structure of Vonguul’s Administration afterwards, because it should have set the precedence of creating a viable plan before creating an actionable plan. Where we currently are, we need a system that isn’t designed to see us fail and give up, because we can’t be mad at the person that does bad things for good reasons without being unfair. </a:t>
            </a:r>
          </a:p>
          <a:p>
            <a:endParaRPr lang="en-US" dirty="0"/>
          </a:p>
          <a:p>
            <a:r>
              <a:rPr lang="en-US" dirty="0"/>
              <a:t>Let’s get into the details around the Vonguulian Administration</a:t>
            </a:r>
          </a:p>
        </p:txBody>
      </p:sp>
    </p:spTree>
    <p:extLst>
      <p:ext uri="{BB962C8B-B14F-4D97-AF65-F5344CB8AC3E}">
        <p14:creationId xmlns:p14="http://schemas.microsoft.com/office/powerpoint/2010/main" val="1044172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 100"/>
          <p:cNvSpPr/>
          <p:nvPr/>
        </p:nvSpPr>
        <p:spPr>
          <a:xfrm>
            <a:off x="0" y="0"/>
            <a:ext cx="12192000" cy="6858000"/>
          </a:xfrm>
          <a:prstGeom prst="rect">
            <a:avLst/>
          </a:prstGeom>
          <a:solidFill>
            <a:srgbClr val="F8F9FA">
              <a:alpha val="100000"/>
            </a:srgbClr>
          </a:solidFill>
          <a:ln w="0" cap="flat">
            <a:noFill/>
            <a:prstDash val="solid"/>
            <a:miter lim="0"/>
          </a:ln>
        </p:spPr>
        <p:txBody>
          <a:bodyPr rtlCol="0"/>
          <a:lstStyle/>
          <a:p>
            <a:pPr algn="ctr"/>
            <a:endParaRPr lang="zh-CN" altLang="en-US"/>
          </a:p>
        </p:txBody>
      </p:sp>
      <p:sp>
        <p:nvSpPr>
          <p:cNvPr id="102" name="textbox 102"/>
          <p:cNvSpPr/>
          <p:nvPr/>
        </p:nvSpPr>
        <p:spPr>
          <a:xfrm>
            <a:off x="6483197" y="1514233"/>
            <a:ext cx="4714875" cy="400748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22225" algn="l" rtl="0" eaLnBrk="0">
              <a:lnSpc>
                <a:spcPts val="2717"/>
              </a:lnSpc>
              <a:tabLst>
                <a:tab pos="212090" algn="l"/>
              </a:tabLst>
            </a:pPr>
            <a:r>
              <a:rPr sz="1900" b="1" kern="0" spc="0" dirty="0">
                <a:solidFill>
                  <a:srgbClr val="19376D">
                    <a:alpha val="100000"/>
                  </a:srgbClr>
                </a:solidFill>
                <a:latin typeface="Tahoma"/>
                <a:ea typeface="Tahoma"/>
                <a:cs typeface="Tahoma"/>
              </a:rPr>
              <a:t>	</a:t>
            </a:r>
            <a:r>
              <a:rPr sz="1900" b="1" kern="0" spc="510" dirty="0">
                <a:solidFill>
                  <a:srgbClr val="19376D">
                    <a:alpha val="100000"/>
                  </a:srgbClr>
                </a:solidFill>
                <a:latin typeface="Tahoma"/>
                <a:ea typeface="Tahoma"/>
                <a:cs typeface="Tahoma"/>
              </a:rPr>
              <a:t> </a:t>
            </a:r>
            <a:r>
              <a:rPr sz="1900" b="1" kern="0" spc="-70" dirty="0">
                <a:solidFill>
                  <a:srgbClr val="19376D">
                    <a:alpha val="100000"/>
                  </a:srgbClr>
                </a:solidFill>
                <a:latin typeface="Tahoma"/>
                <a:ea typeface="Tahoma"/>
                <a:cs typeface="Tahoma"/>
              </a:rPr>
              <a:t>Checks &amp; Balances</a:t>
            </a:r>
            <a:endParaRPr sz="1900" dirty="0">
              <a:latin typeface="Tahoma"/>
              <a:ea typeface="Tahoma"/>
              <a:cs typeface="Tahoma"/>
            </a:endParaRPr>
          </a:p>
          <a:p>
            <a:pPr marL="342265" indent="-329565" algn="l" rtl="0" eaLnBrk="0">
              <a:lnSpc>
                <a:spcPct val="123000"/>
              </a:lnSpc>
              <a:spcBef>
                <a:spcPts val="1433"/>
              </a:spcBef>
              <a:tabLst>
                <a:tab pos="214629" algn="l"/>
              </a:tabLst>
            </a:pPr>
            <a:r>
              <a:rPr sz="1400" b="1" kern="0" spc="0" dirty="0">
                <a:solidFill>
                  <a:srgbClr val="576CBC">
                    <a:alpha val="100000"/>
                  </a:srgbClr>
                </a:solidFill>
                <a:latin typeface="Tahoma"/>
                <a:ea typeface="Tahoma"/>
                <a:cs typeface="Tahoma"/>
              </a:rPr>
              <a:t>	</a:t>
            </a:r>
            <a:r>
              <a:rPr sz="1400" b="1" kern="0" spc="100" dirty="0">
                <a:solidFill>
                  <a:srgbClr val="576CBC">
                    <a:alpha val="100000"/>
                  </a:srgbClr>
                </a:solidFill>
                <a:latin typeface="Tahoma"/>
                <a:ea typeface="Tahoma"/>
                <a:cs typeface="Tahoma"/>
              </a:rPr>
              <a:t>  </a:t>
            </a:r>
            <a:r>
              <a:rPr sz="1400" b="1" kern="0" spc="-30" dirty="0">
                <a:solidFill>
                  <a:srgbClr val="576CBC">
                    <a:alpha val="100000"/>
                  </a:srgbClr>
                </a:solidFill>
                <a:latin typeface="Tahoma"/>
                <a:ea typeface="Tahoma"/>
                <a:cs typeface="Tahoma"/>
              </a:rPr>
              <a:t>Governance Framework </a:t>
            </a:r>
            <a:r>
              <a:rPr sz="1400" kern="0" spc="-30" dirty="0">
                <a:solidFill>
                  <a:srgbClr val="333333">
                    <a:alpha val="100000"/>
                  </a:srgbClr>
                </a:solidFill>
                <a:latin typeface="Tahoma"/>
                <a:ea typeface="Tahoma"/>
                <a:cs typeface="Tahoma"/>
              </a:rPr>
              <a:t>with clear accountability</a:t>
            </a:r>
            <a:r>
              <a:rPr sz="1400" kern="0" spc="0" dirty="0">
                <a:solidFill>
                  <a:srgbClr val="333333">
                    <a:alpha val="100000"/>
                  </a:srgbClr>
                </a:solidFill>
                <a:latin typeface="Tahoma"/>
                <a:ea typeface="Tahoma"/>
                <a:cs typeface="Tahoma"/>
              </a:rPr>
              <a:t>         </a:t>
            </a:r>
            <a:r>
              <a:rPr sz="1500" kern="0" spc="-60" dirty="0">
                <a:solidFill>
                  <a:srgbClr val="333333">
                    <a:alpha val="100000"/>
                  </a:srgbClr>
                </a:solidFill>
                <a:latin typeface="Tahoma"/>
                <a:ea typeface="Tahoma"/>
                <a:cs typeface="Tahoma"/>
              </a:rPr>
              <a:t>measures</a:t>
            </a:r>
            <a:endParaRPr sz="1500" dirty="0">
              <a:latin typeface="Tahoma"/>
              <a:ea typeface="Tahoma"/>
              <a:cs typeface="Tahoma"/>
            </a:endParaRPr>
          </a:p>
          <a:p>
            <a:pPr marL="342265" indent="-329565" algn="l" rtl="0" eaLnBrk="0">
              <a:lnSpc>
                <a:spcPct val="126000"/>
              </a:lnSpc>
              <a:spcBef>
                <a:spcPts val="1377"/>
              </a:spcBef>
              <a:tabLst>
                <a:tab pos="222250" algn="l"/>
              </a:tabLst>
            </a:pPr>
            <a:r>
              <a:rPr sz="1400" b="1" kern="0" spc="0" dirty="0">
                <a:solidFill>
                  <a:srgbClr val="576CBC">
                    <a:alpha val="100000"/>
                  </a:srgbClr>
                </a:solidFill>
                <a:latin typeface="Tahoma"/>
                <a:ea typeface="Tahoma"/>
                <a:cs typeface="Tahoma"/>
              </a:rPr>
              <a:t>	</a:t>
            </a:r>
            <a:r>
              <a:rPr sz="1400" b="1" kern="0" spc="60" dirty="0">
                <a:solidFill>
                  <a:srgbClr val="576CBC">
                    <a:alpha val="100000"/>
                  </a:srgbClr>
                </a:solidFill>
                <a:latin typeface="Tahoma"/>
                <a:ea typeface="Tahoma"/>
                <a:cs typeface="Tahoma"/>
              </a:rPr>
              <a:t>  </a:t>
            </a:r>
            <a:r>
              <a:rPr sz="1400" b="1" kern="0" spc="-20" dirty="0">
                <a:solidFill>
                  <a:srgbClr val="576CBC">
                    <a:alpha val="100000"/>
                  </a:srgbClr>
                </a:solidFill>
                <a:latin typeface="Tahoma"/>
                <a:ea typeface="Tahoma"/>
                <a:cs typeface="Tahoma"/>
              </a:rPr>
              <a:t>Performanc</a:t>
            </a:r>
            <a:r>
              <a:rPr sz="1400" b="1" kern="0" spc="-30" dirty="0">
                <a:solidFill>
                  <a:srgbClr val="576CBC">
                    <a:alpha val="100000"/>
                  </a:srgbClr>
                </a:solidFill>
                <a:latin typeface="Tahoma"/>
                <a:ea typeface="Tahoma"/>
                <a:cs typeface="Tahoma"/>
              </a:rPr>
              <a:t>e Metrics </a:t>
            </a:r>
            <a:r>
              <a:rPr sz="1400" kern="0" spc="-30" dirty="0">
                <a:solidFill>
                  <a:srgbClr val="333333">
                    <a:alpha val="100000"/>
                  </a:srgbClr>
                </a:solidFill>
                <a:latin typeface="Tahoma"/>
                <a:ea typeface="Tahoma"/>
                <a:cs typeface="Tahoma"/>
              </a:rPr>
              <a:t>to</a:t>
            </a:r>
            <a:r>
              <a:rPr sz="1400" kern="0" spc="-100" dirty="0">
                <a:solidFill>
                  <a:srgbClr val="333333">
                    <a:alpha val="100000"/>
                  </a:srgbClr>
                </a:solidFill>
                <a:latin typeface="Tahoma"/>
                <a:ea typeface="Tahoma"/>
                <a:cs typeface="Tahoma"/>
              </a:rPr>
              <a:t> </a:t>
            </a:r>
            <a:r>
              <a:rPr sz="1400" kern="0" spc="-30" dirty="0">
                <a:solidFill>
                  <a:srgbClr val="333333">
                    <a:alpha val="100000"/>
                  </a:srgbClr>
                </a:solidFill>
                <a:latin typeface="Tahoma"/>
                <a:ea typeface="Tahoma"/>
                <a:cs typeface="Tahoma"/>
              </a:rPr>
              <a:t>track organizational and</a:t>
            </a:r>
            <a:r>
              <a:rPr sz="1400" kern="0" spc="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member</a:t>
            </a:r>
            <a:r>
              <a:rPr sz="1500" kern="0" spc="-12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grow</a:t>
            </a:r>
            <a:r>
              <a:rPr sz="1500" kern="0" spc="-50" dirty="0">
                <a:solidFill>
                  <a:srgbClr val="333333">
                    <a:alpha val="100000"/>
                  </a:srgbClr>
                </a:solidFill>
                <a:latin typeface="Tahoma"/>
                <a:ea typeface="Tahoma"/>
                <a:cs typeface="Tahoma"/>
              </a:rPr>
              <a:t>th</a:t>
            </a:r>
            <a:endParaRPr sz="1500" dirty="0">
              <a:latin typeface="Tahoma"/>
              <a:ea typeface="Tahoma"/>
              <a:cs typeface="Tahoma"/>
            </a:endParaRPr>
          </a:p>
          <a:p>
            <a:pPr marL="342265" indent="-320040" algn="l" rtl="0" eaLnBrk="0">
              <a:lnSpc>
                <a:spcPct val="130000"/>
              </a:lnSpc>
              <a:spcBef>
                <a:spcPts val="1233"/>
              </a:spcBef>
              <a:tabLst>
                <a:tab pos="212090" algn="l"/>
              </a:tabLst>
            </a:pPr>
            <a:r>
              <a:rPr sz="1500" b="1" kern="0" spc="0" dirty="0">
                <a:solidFill>
                  <a:srgbClr val="576CBC">
                    <a:alpha val="100000"/>
                  </a:srgbClr>
                </a:solidFill>
                <a:latin typeface="Tahoma"/>
                <a:ea typeface="Tahoma"/>
                <a:cs typeface="Tahoma"/>
              </a:rPr>
              <a:t>	</a:t>
            </a:r>
            <a:r>
              <a:rPr sz="1500" b="1" kern="0" spc="90" dirty="0">
                <a:solidFill>
                  <a:srgbClr val="576CBC">
                    <a:alpha val="100000"/>
                  </a:srgbClr>
                </a:solidFill>
                <a:latin typeface="Tahoma"/>
                <a:ea typeface="Tahoma"/>
                <a:cs typeface="Tahoma"/>
              </a:rPr>
              <a:t>  </a:t>
            </a:r>
            <a:r>
              <a:rPr sz="1500" b="1" kern="0" spc="-70" dirty="0">
                <a:solidFill>
                  <a:srgbClr val="576CBC">
                    <a:alpha val="100000"/>
                  </a:srgbClr>
                </a:solidFill>
                <a:latin typeface="Tahoma"/>
                <a:ea typeface="Tahoma"/>
                <a:cs typeface="Tahoma"/>
              </a:rPr>
              <a:t>Feedback Systems </a:t>
            </a:r>
            <a:r>
              <a:rPr sz="1500" kern="0" spc="-70" dirty="0">
                <a:solidFill>
                  <a:srgbClr val="333333">
                    <a:alpha val="100000"/>
                  </a:srgbClr>
                </a:solidFill>
                <a:latin typeface="Tahoma"/>
                <a:ea typeface="Tahoma"/>
                <a:cs typeface="Tahoma"/>
              </a:rPr>
              <a:t>for</a:t>
            </a:r>
            <a:r>
              <a:rPr sz="1500" kern="0" spc="-110" dirty="0">
                <a:solidFill>
                  <a:srgbClr val="333333">
                    <a:alpha val="100000"/>
                  </a:srgbClr>
                </a:solidFill>
                <a:latin typeface="Tahoma"/>
                <a:ea typeface="Tahoma"/>
                <a:cs typeface="Tahoma"/>
              </a:rPr>
              <a:t> </a:t>
            </a:r>
            <a:r>
              <a:rPr sz="1500" kern="0" spc="-70" dirty="0">
                <a:solidFill>
                  <a:srgbClr val="333333">
                    <a:alpha val="100000"/>
                  </a:srgbClr>
                </a:solidFill>
                <a:latin typeface="Tahoma"/>
                <a:ea typeface="Tahoma"/>
                <a:cs typeface="Tahoma"/>
              </a:rPr>
              <a:t>continuous improvement</a:t>
            </a:r>
            <a:r>
              <a:rPr sz="1500" kern="0" spc="-100" dirty="0">
                <a:solidFill>
                  <a:srgbClr val="333333">
                    <a:alpha val="100000"/>
                  </a:srgbClr>
                </a:solidFill>
                <a:latin typeface="Tahoma"/>
                <a:ea typeface="Tahoma"/>
                <a:cs typeface="Tahoma"/>
              </a:rPr>
              <a:t> </a:t>
            </a:r>
            <a:r>
              <a:rPr sz="1500" kern="0" spc="-70" dirty="0">
                <a:solidFill>
                  <a:srgbClr val="333333">
                    <a:alpha val="100000"/>
                  </a:srgbClr>
                </a:solidFill>
                <a:latin typeface="Tahoma"/>
                <a:ea typeface="Tahoma"/>
                <a:cs typeface="Tahoma"/>
              </a:rPr>
              <a:t>and</a:t>
            </a:r>
            <a:r>
              <a:rPr sz="15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member</a:t>
            </a:r>
            <a:r>
              <a:rPr sz="1500" kern="0" spc="-14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satisfaction</a:t>
            </a:r>
            <a:endParaRPr sz="1500" dirty="0">
              <a:latin typeface="Tahoma"/>
              <a:ea typeface="Tahoma"/>
              <a:cs typeface="Tahoma"/>
            </a:endParaRPr>
          </a:p>
          <a:p>
            <a:pPr marL="342265" indent="-310515" algn="l" rtl="0" eaLnBrk="0">
              <a:lnSpc>
                <a:spcPct val="122000"/>
              </a:lnSpc>
              <a:spcBef>
                <a:spcPts val="946"/>
              </a:spcBef>
              <a:tabLst>
                <a:tab pos="203200" algn="l"/>
              </a:tabLst>
            </a:pPr>
            <a:r>
              <a:rPr sz="1500" b="1" kern="0" spc="0" dirty="0">
                <a:solidFill>
                  <a:srgbClr val="576CBC">
                    <a:alpha val="100000"/>
                  </a:srgbClr>
                </a:solidFill>
                <a:latin typeface="Tahoma"/>
                <a:ea typeface="Tahoma"/>
                <a:cs typeface="Tahoma"/>
              </a:rPr>
              <a:t>	</a:t>
            </a:r>
            <a:r>
              <a:rPr sz="1500" b="1" kern="0" spc="150" dirty="0">
                <a:solidFill>
                  <a:srgbClr val="576CBC">
                    <a:alpha val="100000"/>
                  </a:srgbClr>
                </a:solidFill>
                <a:latin typeface="Tahoma"/>
                <a:ea typeface="Tahoma"/>
                <a:cs typeface="Tahoma"/>
              </a:rPr>
              <a:t>  </a:t>
            </a:r>
            <a:r>
              <a:rPr sz="1500" b="1" kern="0" spc="-70" dirty="0">
                <a:solidFill>
                  <a:srgbClr val="576CBC">
                    <a:alpha val="100000"/>
                  </a:srgbClr>
                </a:solidFill>
                <a:latin typeface="Tahoma"/>
                <a:ea typeface="Tahoma"/>
                <a:cs typeface="Tahoma"/>
              </a:rPr>
              <a:t>Member Protection </a:t>
            </a:r>
            <a:r>
              <a:rPr sz="1500" kern="0" spc="-70" dirty="0">
                <a:solidFill>
                  <a:srgbClr val="333333">
                    <a:alpha val="100000"/>
                  </a:srgbClr>
                </a:solidFill>
                <a:latin typeface="Tahoma"/>
                <a:ea typeface="Tahoma"/>
                <a:cs typeface="Tahoma"/>
              </a:rPr>
              <a:t>protocols ensuring</a:t>
            </a:r>
            <a:r>
              <a:rPr sz="1500" kern="0" spc="-140" dirty="0">
                <a:solidFill>
                  <a:srgbClr val="333333">
                    <a:alpha val="100000"/>
                  </a:srgbClr>
                </a:solidFill>
                <a:latin typeface="Tahoma"/>
                <a:ea typeface="Tahoma"/>
                <a:cs typeface="Tahoma"/>
              </a:rPr>
              <a:t> </a:t>
            </a:r>
            <a:r>
              <a:rPr sz="1500" kern="0" spc="-70" dirty="0">
                <a:solidFill>
                  <a:srgbClr val="333333">
                    <a:alpha val="100000"/>
                  </a:srgbClr>
                </a:solidFill>
                <a:latin typeface="Tahoma"/>
                <a:ea typeface="Tahoma"/>
                <a:cs typeface="Tahoma"/>
              </a:rPr>
              <a:t>safety and</a:t>
            </a:r>
            <a:r>
              <a:rPr sz="1500" kern="0" spc="-130" dirty="0">
                <a:solidFill>
                  <a:srgbClr val="333333">
                    <a:alpha val="100000"/>
                  </a:srgbClr>
                </a:solidFill>
                <a:latin typeface="Tahoma"/>
                <a:ea typeface="Tahoma"/>
                <a:cs typeface="Tahoma"/>
              </a:rPr>
              <a:t> </a:t>
            </a:r>
            <a:r>
              <a:rPr sz="1500" kern="0" spc="-70" dirty="0">
                <a:solidFill>
                  <a:srgbClr val="333333">
                    <a:alpha val="100000"/>
                  </a:srgbClr>
                </a:solidFill>
                <a:latin typeface="Tahoma"/>
                <a:ea typeface="Tahoma"/>
                <a:cs typeface="Tahoma"/>
              </a:rPr>
              <a:t>well-</a:t>
            </a:r>
            <a:r>
              <a:rPr sz="1500" kern="0" spc="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being</a:t>
            </a:r>
            <a:endParaRPr sz="1500" dirty="0">
              <a:latin typeface="Tahoma"/>
              <a:ea typeface="Tahoma"/>
              <a:cs typeface="Tahoma"/>
            </a:endParaRPr>
          </a:p>
          <a:p>
            <a:pPr algn="l" rtl="0" eaLnBrk="0">
              <a:lnSpc>
                <a:spcPct val="101000"/>
              </a:lnSpc>
              <a:tabLst/>
            </a:pPr>
            <a:endParaRPr sz="1000" dirty="0">
              <a:latin typeface="Arial"/>
              <a:ea typeface="Arial"/>
              <a:cs typeface="Arial"/>
            </a:endParaRPr>
          </a:p>
          <a:p>
            <a:pPr marL="336550" indent="-314325" algn="l" rtl="0" eaLnBrk="0">
              <a:lnSpc>
                <a:spcPct val="135000"/>
              </a:lnSpc>
              <a:spcBef>
                <a:spcPts val="3"/>
              </a:spcBef>
              <a:tabLst>
                <a:tab pos="203200" algn="l"/>
              </a:tabLst>
            </a:pPr>
            <a:r>
              <a:rPr sz="1400" b="1" kern="0" spc="0" dirty="0">
                <a:solidFill>
                  <a:srgbClr val="576CBC">
                    <a:alpha val="100000"/>
                  </a:srgbClr>
                </a:solidFill>
                <a:latin typeface="Tahoma"/>
                <a:ea typeface="Tahoma"/>
                <a:cs typeface="Tahoma"/>
              </a:rPr>
              <a:t>	</a:t>
            </a:r>
            <a:r>
              <a:rPr sz="1400" b="1" kern="0" spc="150" dirty="0">
                <a:solidFill>
                  <a:srgbClr val="576CBC">
                    <a:alpha val="100000"/>
                  </a:srgbClr>
                </a:solidFill>
                <a:latin typeface="Tahoma"/>
                <a:ea typeface="Tahoma"/>
                <a:cs typeface="Tahoma"/>
              </a:rPr>
              <a:t>  </a:t>
            </a:r>
            <a:r>
              <a:rPr sz="1400" b="1" kern="0" spc="-30" dirty="0">
                <a:solidFill>
                  <a:srgbClr val="576CBC">
                    <a:alpha val="100000"/>
                  </a:srgbClr>
                </a:solidFill>
                <a:latin typeface="Tahoma"/>
                <a:ea typeface="Tahoma"/>
                <a:cs typeface="Tahoma"/>
              </a:rPr>
              <a:t>Financial Transparency </a:t>
            </a:r>
            <a:r>
              <a:rPr sz="1400" kern="0" spc="-30" dirty="0">
                <a:solidFill>
                  <a:srgbClr val="333333">
                    <a:alpha val="100000"/>
                  </a:srgbClr>
                </a:solidFill>
                <a:latin typeface="Tahoma"/>
                <a:ea typeface="Tahoma"/>
                <a:cs typeface="Tahoma"/>
              </a:rPr>
              <a:t>with regular reporting and</a:t>
            </a:r>
            <a:r>
              <a:rPr sz="1400" kern="0" spc="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audits</a:t>
            </a:r>
            <a:endParaRPr sz="1500" dirty="0">
              <a:latin typeface="Tahoma"/>
              <a:ea typeface="Tahoma"/>
              <a:cs typeface="Tahoma"/>
            </a:endParaRPr>
          </a:p>
        </p:txBody>
      </p:sp>
      <p:pic>
        <p:nvPicPr>
          <p:cNvPr id="104" name="picture 104"/>
          <p:cNvPicPr>
            <a:picLocks noChangeAspect="1"/>
          </p:cNvPicPr>
          <p:nvPr/>
        </p:nvPicPr>
        <p:blipFill>
          <a:blip r:embed="rId2"/>
          <a:stretch>
            <a:fillRect/>
          </a:stretch>
        </p:blipFill>
        <p:spPr>
          <a:xfrm rot="21600000">
            <a:off x="6505727" y="4913757"/>
            <a:ext cx="180822" cy="230885"/>
          </a:xfrm>
          <a:prstGeom prst="rect">
            <a:avLst/>
          </a:prstGeom>
        </p:spPr>
      </p:pic>
      <p:pic>
        <p:nvPicPr>
          <p:cNvPr id="106" name="picture 106"/>
          <p:cNvPicPr>
            <a:picLocks noChangeAspect="1"/>
          </p:cNvPicPr>
          <p:nvPr/>
        </p:nvPicPr>
        <p:blipFill>
          <a:blip r:embed="rId3"/>
          <a:stretch>
            <a:fillRect/>
          </a:stretch>
        </p:blipFill>
        <p:spPr>
          <a:xfrm rot="21600000">
            <a:off x="6515100" y="4199382"/>
            <a:ext cx="171450" cy="230885"/>
          </a:xfrm>
          <a:prstGeom prst="rect">
            <a:avLst/>
          </a:prstGeom>
        </p:spPr>
      </p:pic>
      <p:pic>
        <p:nvPicPr>
          <p:cNvPr id="108" name="picture 108"/>
          <p:cNvPicPr>
            <a:picLocks noChangeAspect="1"/>
          </p:cNvPicPr>
          <p:nvPr/>
        </p:nvPicPr>
        <p:blipFill>
          <a:blip r:embed="rId4"/>
          <a:stretch>
            <a:fillRect/>
          </a:stretch>
        </p:blipFill>
        <p:spPr>
          <a:xfrm rot="21600000">
            <a:off x="6505727" y="3485007"/>
            <a:ext cx="190194" cy="230885"/>
          </a:xfrm>
          <a:prstGeom prst="rect">
            <a:avLst/>
          </a:prstGeom>
        </p:spPr>
      </p:pic>
      <p:pic>
        <p:nvPicPr>
          <p:cNvPr id="110" name="picture 110"/>
          <p:cNvPicPr>
            <a:picLocks noChangeAspect="1"/>
          </p:cNvPicPr>
          <p:nvPr/>
        </p:nvPicPr>
        <p:blipFill>
          <a:blip r:embed="rId5"/>
          <a:stretch>
            <a:fillRect/>
          </a:stretch>
        </p:blipFill>
        <p:spPr>
          <a:xfrm rot="21600000">
            <a:off x="6495897" y="2770632"/>
            <a:ext cx="209855" cy="230885"/>
          </a:xfrm>
          <a:prstGeom prst="rect">
            <a:avLst/>
          </a:prstGeom>
        </p:spPr>
      </p:pic>
      <p:pic>
        <p:nvPicPr>
          <p:cNvPr id="112" name="picture 112"/>
          <p:cNvPicPr>
            <a:picLocks noChangeAspect="1"/>
          </p:cNvPicPr>
          <p:nvPr/>
        </p:nvPicPr>
        <p:blipFill>
          <a:blip r:embed="rId6"/>
          <a:stretch>
            <a:fillRect/>
          </a:stretch>
        </p:blipFill>
        <p:spPr>
          <a:xfrm rot="21600000">
            <a:off x="6495897" y="2056257"/>
            <a:ext cx="202311" cy="230885"/>
          </a:xfrm>
          <a:prstGeom prst="rect">
            <a:avLst/>
          </a:prstGeom>
        </p:spPr>
      </p:pic>
      <p:pic>
        <p:nvPicPr>
          <p:cNvPr id="114" name="picture 114"/>
          <p:cNvPicPr>
            <a:picLocks noChangeAspect="1"/>
          </p:cNvPicPr>
          <p:nvPr/>
        </p:nvPicPr>
        <p:blipFill>
          <a:blip r:embed="rId7"/>
          <a:stretch>
            <a:fillRect/>
          </a:stretch>
        </p:blipFill>
        <p:spPr>
          <a:xfrm rot="21600000">
            <a:off x="6505727" y="1580007"/>
            <a:ext cx="190194" cy="230885"/>
          </a:xfrm>
          <a:prstGeom prst="rect">
            <a:avLst/>
          </a:prstGeom>
        </p:spPr>
      </p:pic>
      <p:sp>
        <p:nvSpPr>
          <p:cNvPr id="116" name="textbox 116"/>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118" name="textbox 118"/>
          <p:cNvSpPr/>
          <p:nvPr/>
        </p:nvSpPr>
        <p:spPr>
          <a:xfrm>
            <a:off x="1605025" y="2256345"/>
            <a:ext cx="3564254" cy="4025922"/>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20320" algn="l" rtl="0" eaLnBrk="0">
              <a:lnSpc>
                <a:spcPts val="1941"/>
              </a:lnSpc>
              <a:tabLst/>
            </a:pPr>
            <a:r>
              <a:rPr sz="1400" b="1" kern="0" spc="-60" dirty="0">
                <a:solidFill>
                  <a:srgbClr val="19376D">
                    <a:alpha val="100000"/>
                  </a:srgbClr>
                </a:solidFill>
                <a:latin typeface="Tahoma"/>
                <a:ea typeface="Tahoma"/>
                <a:cs typeface="Tahoma"/>
              </a:rPr>
              <a:t>Leadership </a:t>
            </a:r>
            <a:r>
              <a:rPr sz="1400" b="1" kern="0" spc="-70" dirty="0">
                <a:solidFill>
                  <a:srgbClr val="19376D">
                    <a:alpha val="100000"/>
                  </a:srgbClr>
                </a:solidFill>
                <a:latin typeface="Tahoma"/>
                <a:ea typeface="Tahoma"/>
                <a:cs typeface="Tahoma"/>
              </a:rPr>
              <a:t>Council</a:t>
            </a:r>
            <a:endParaRPr sz="1400" dirty="0">
              <a:latin typeface="Tahoma"/>
              <a:ea typeface="Tahoma"/>
              <a:cs typeface="Tahoma"/>
            </a:endParaRPr>
          </a:p>
          <a:p>
            <a:pPr marL="20320" indent="-7620" algn="l" rtl="0" eaLnBrk="0">
              <a:lnSpc>
                <a:spcPct val="118000"/>
              </a:lnSpc>
              <a:spcBef>
                <a:spcPts val="668"/>
              </a:spcBef>
              <a:tabLst/>
            </a:pPr>
            <a:r>
              <a:rPr sz="1500" kern="0" spc="-30" dirty="0">
                <a:solidFill>
                  <a:srgbClr val="333333">
                    <a:alpha val="100000"/>
                  </a:srgbClr>
                </a:solidFill>
                <a:latin typeface="Tahoma"/>
                <a:ea typeface="Tahoma"/>
                <a:cs typeface="Tahoma"/>
              </a:rPr>
              <a:t>Strategic</a:t>
            </a:r>
            <a:r>
              <a:rPr sz="1500" kern="0" spc="-11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decision-making body</a:t>
            </a:r>
            <a:r>
              <a:rPr sz="1500" kern="0" spc="-14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w</a:t>
            </a:r>
            <a:r>
              <a:rPr sz="1500" kern="0" spc="-40" dirty="0">
                <a:solidFill>
                  <a:srgbClr val="333333">
                    <a:alpha val="100000"/>
                  </a:srgbClr>
                </a:solidFill>
                <a:latin typeface="Tahoma"/>
                <a:ea typeface="Tahoma"/>
                <a:cs typeface="Tahoma"/>
              </a:rPr>
              <a:t>ith</a:t>
            </a:r>
            <a:r>
              <a:rPr sz="15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representatives</a:t>
            </a:r>
            <a:r>
              <a:rPr sz="1500" kern="0" spc="-14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from al</a:t>
            </a:r>
            <a:r>
              <a:rPr sz="1500" kern="0" spc="-40" dirty="0">
                <a:solidFill>
                  <a:srgbClr val="333333">
                    <a:alpha val="100000"/>
                  </a:srgbClr>
                </a:solidFill>
                <a:latin typeface="Tahoma"/>
                <a:ea typeface="Tahoma"/>
                <a:cs typeface="Tahoma"/>
              </a:rPr>
              <a:t>l</a:t>
            </a:r>
            <a:r>
              <a:rPr sz="1500" kern="0" spc="-10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core</a:t>
            </a:r>
            <a:r>
              <a:rPr sz="1500" kern="0" spc="-11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divisions</a:t>
            </a:r>
            <a:endParaRPr sz="1500" dirty="0">
              <a:latin typeface="Tahoma"/>
              <a:ea typeface="Tahoma"/>
              <a:cs typeface="Tahoma"/>
            </a:endParaRPr>
          </a:p>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20320" algn="l" rtl="0" eaLnBrk="0">
              <a:lnSpc>
                <a:spcPts val="1940"/>
              </a:lnSpc>
              <a:spcBef>
                <a:spcPts val="422"/>
              </a:spcBef>
              <a:tabLst/>
            </a:pPr>
            <a:r>
              <a:rPr sz="1400" b="1" kern="0" spc="-70" dirty="0">
                <a:solidFill>
                  <a:srgbClr val="19376D">
                    <a:alpha val="100000"/>
                  </a:srgbClr>
                </a:solidFill>
                <a:latin typeface="Tahoma"/>
                <a:ea typeface="Tahoma"/>
                <a:cs typeface="Tahoma"/>
              </a:rPr>
              <a:t>Divisional Tea</a:t>
            </a:r>
            <a:r>
              <a:rPr sz="1400" b="1" kern="0" spc="-80" dirty="0">
                <a:solidFill>
                  <a:srgbClr val="19376D">
                    <a:alpha val="100000"/>
                  </a:srgbClr>
                </a:solidFill>
                <a:latin typeface="Tahoma"/>
                <a:ea typeface="Tahoma"/>
                <a:cs typeface="Tahoma"/>
              </a:rPr>
              <a:t>ms</a:t>
            </a:r>
            <a:endParaRPr sz="1400" dirty="0">
              <a:latin typeface="Tahoma"/>
              <a:ea typeface="Tahoma"/>
              <a:cs typeface="Tahoma"/>
            </a:endParaRPr>
          </a:p>
          <a:p>
            <a:pPr marL="21590" indent="-8889" algn="l" rtl="0" eaLnBrk="0">
              <a:lnSpc>
                <a:spcPct val="118000"/>
              </a:lnSpc>
              <a:spcBef>
                <a:spcPts val="660"/>
              </a:spcBef>
              <a:tabLst/>
            </a:pPr>
            <a:r>
              <a:rPr sz="1500" kern="0" spc="-30" dirty="0">
                <a:solidFill>
                  <a:srgbClr val="333333">
                    <a:alpha val="100000"/>
                  </a:srgbClr>
                </a:solidFill>
                <a:latin typeface="Tahoma"/>
                <a:ea typeface="Tahoma"/>
                <a:cs typeface="Tahoma"/>
              </a:rPr>
              <a:t>Specialized</a:t>
            </a:r>
            <a:r>
              <a:rPr sz="1500" kern="0" spc="-11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groups</a:t>
            </a:r>
            <a:r>
              <a:rPr sz="1500" kern="0" spc="-13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focused</a:t>
            </a:r>
            <a:r>
              <a:rPr sz="1500" kern="0" spc="-11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on </a:t>
            </a:r>
            <a:r>
              <a:rPr lang="en-US" sz="1500" kern="0" spc="-30" dirty="0">
                <a:solidFill>
                  <a:srgbClr val="333333">
                    <a:alpha val="100000"/>
                  </a:srgbClr>
                </a:solidFill>
                <a:latin typeface="Tahoma"/>
                <a:ea typeface="Tahoma"/>
                <a:cs typeface="Tahoma"/>
              </a:rPr>
              <a:t>Administration, </a:t>
            </a:r>
            <a:r>
              <a:rPr sz="1500" kern="0" spc="-30" dirty="0">
                <a:solidFill>
                  <a:srgbClr val="333333">
                    <a:alpha val="100000"/>
                  </a:srgbClr>
                </a:solidFill>
                <a:latin typeface="Tahoma"/>
                <a:ea typeface="Tahoma"/>
                <a:cs typeface="Tahoma"/>
              </a:rPr>
              <a:t>Educat</a:t>
            </a:r>
            <a:r>
              <a:rPr sz="1500" kern="0" spc="-40" dirty="0">
                <a:solidFill>
                  <a:srgbClr val="333333">
                    <a:alpha val="100000"/>
                  </a:srgbClr>
                </a:solidFill>
                <a:latin typeface="Tahoma"/>
                <a:ea typeface="Tahoma"/>
                <a:cs typeface="Tahoma"/>
              </a:rPr>
              <a:t>ion,</a:t>
            </a:r>
            <a:r>
              <a:rPr lang="en-US" sz="1500" kern="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Health,</a:t>
            </a:r>
            <a:r>
              <a:rPr sz="1500" kern="0" spc="-14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Technology, and</a:t>
            </a:r>
            <a:r>
              <a:rPr sz="1500" kern="0" spc="-15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X-factor ini</a:t>
            </a:r>
            <a:r>
              <a:rPr sz="1500" kern="0" spc="-50" dirty="0">
                <a:solidFill>
                  <a:srgbClr val="333333">
                    <a:alpha val="100000"/>
                  </a:srgbClr>
                </a:solidFill>
                <a:latin typeface="Tahoma"/>
                <a:ea typeface="Tahoma"/>
                <a:cs typeface="Tahoma"/>
              </a:rPr>
              <a:t>tiatives</a:t>
            </a:r>
            <a:endParaRPr sz="1500" dirty="0">
              <a:latin typeface="Tahoma"/>
              <a:ea typeface="Tahoma"/>
              <a:cs typeface="Tahoma"/>
            </a:endParaRPr>
          </a:p>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20320" algn="l" rtl="0" eaLnBrk="0">
              <a:lnSpc>
                <a:spcPts val="1940"/>
              </a:lnSpc>
              <a:spcBef>
                <a:spcPts val="430"/>
              </a:spcBef>
              <a:tabLst/>
            </a:pPr>
            <a:r>
              <a:rPr sz="1400" b="1" kern="0" spc="-70" dirty="0">
                <a:solidFill>
                  <a:srgbClr val="19376D">
                    <a:alpha val="100000"/>
                  </a:srgbClr>
                </a:solidFill>
                <a:latin typeface="Tahoma"/>
                <a:ea typeface="Tahoma"/>
                <a:cs typeface="Tahoma"/>
              </a:rPr>
              <a:t>Member Communities</a:t>
            </a:r>
            <a:endParaRPr sz="1400" dirty="0">
              <a:latin typeface="Tahoma"/>
              <a:ea typeface="Tahoma"/>
              <a:cs typeface="Tahoma"/>
            </a:endParaRPr>
          </a:p>
          <a:p>
            <a:pPr algn="l" rtl="0" eaLnBrk="0">
              <a:lnSpc>
                <a:spcPct val="111000"/>
              </a:lnSpc>
              <a:tabLst/>
            </a:pPr>
            <a:endParaRPr sz="500" dirty="0">
              <a:latin typeface="Arial"/>
              <a:ea typeface="Arial"/>
              <a:cs typeface="Arial"/>
            </a:endParaRPr>
          </a:p>
          <a:p>
            <a:pPr marL="13334" indent="8254" algn="l" rtl="0" eaLnBrk="0">
              <a:lnSpc>
                <a:spcPct val="118000"/>
              </a:lnSpc>
              <a:spcBef>
                <a:spcPts val="2"/>
              </a:spcBef>
              <a:tabLst/>
            </a:pPr>
            <a:r>
              <a:rPr sz="1500" kern="0" spc="-40" dirty="0">
                <a:solidFill>
                  <a:srgbClr val="333333">
                    <a:alpha val="100000"/>
                  </a:srgbClr>
                </a:solidFill>
                <a:latin typeface="Tahoma"/>
                <a:ea typeface="Tahoma"/>
                <a:cs typeface="Tahoma"/>
              </a:rPr>
              <a:t>Regional and interest-based</a:t>
            </a:r>
            <a:r>
              <a:rPr sz="1500" kern="0" spc="-11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gro</a:t>
            </a:r>
            <a:r>
              <a:rPr sz="1500" kern="0" spc="-50" dirty="0">
                <a:solidFill>
                  <a:srgbClr val="333333">
                    <a:alpha val="100000"/>
                  </a:srgbClr>
                </a:solidFill>
                <a:latin typeface="Tahoma"/>
                <a:ea typeface="Tahoma"/>
                <a:cs typeface="Tahoma"/>
              </a:rPr>
              <a:t>ups</a:t>
            </a:r>
            <a:r>
              <a:rPr sz="1500" kern="0" spc="-13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fostering</a:t>
            </a:r>
            <a:r>
              <a:rPr sz="1500" kern="0" spc="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collaboration</a:t>
            </a:r>
            <a:r>
              <a:rPr sz="1500" kern="0" spc="-6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and</a:t>
            </a:r>
            <a:r>
              <a:rPr sz="1500" kern="0" spc="-14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support</a:t>
            </a:r>
            <a:endParaRPr sz="1500" dirty="0">
              <a:latin typeface="Tahoma"/>
              <a:ea typeface="Tahoma"/>
              <a:cs typeface="Tahoma"/>
            </a:endParaRPr>
          </a:p>
        </p:txBody>
      </p:sp>
      <p:sp>
        <p:nvSpPr>
          <p:cNvPr id="124" name="textbox 124"/>
          <p:cNvSpPr/>
          <p:nvPr/>
        </p:nvSpPr>
        <p:spPr>
          <a:xfrm>
            <a:off x="863752" y="1514233"/>
            <a:ext cx="3148964" cy="37084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717"/>
              </a:lnSpc>
              <a:tabLst>
                <a:tab pos="202564" algn="l"/>
              </a:tabLst>
            </a:pPr>
            <a:r>
              <a:rPr sz="1900" b="1" kern="0" spc="0" dirty="0">
                <a:solidFill>
                  <a:srgbClr val="19376D">
                    <a:alpha val="100000"/>
                  </a:srgbClr>
                </a:solidFill>
                <a:latin typeface="Tahoma"/>
                <a:ea typeface="Tahoma"/>
                <a:cs typeface="Tahoma"/>
              </a:rPr>
              <a:t>	</a:t>
            </a:r>
            <a:r>
              <a:rPr sz="1900" b="1" kern="0" spc="440" dirty="0">
                <a:solidFill>
                  <a:srgbClr val="19376D">
                    <a:alpha val="100000"/>
                  </a:srgbClr>
                </a:solidFill>
                <a:latin typeface="Tahoma"/>
                <a:ea typeface="Tahoma"/>
                <a:cs typeface="Tahoma"/>
              </a:rPr>
              <a:t> </a:t>
            </a:r>
            <a:r>
              <a:rPr sz="1900" b="1" kern="0" spc="-70" dirty="0">
                <a:solidFill>
                  <a:srgbClr val="19376D">
                    <a:alpha val="100000"/>
                  </a:srgbClr>
                </a:solidFill>
                <a:latin typeface="Tahoma"/>
                <a:ea typeface="Tahoma"/>
                <a:cs typeface="Tahoma"/>
              </a:rPr>
              <a:t>Or</a:t>
            </a:r>
            <a:r>
              <a:rPr sz="1900" b="1" kern="0" spc="-60" dirty="0">
                <a:solidFill>
                  <a:srgbClr val="19376D">
                    <a:alpha val="100000"/>
                  </a:srgbClr>
                </a:solidFill>
                <a:latin typeface="Tahoma"/>
                <a:ea typeface="Tahoma"/>
                <a:cs typeface="Tahoma"/>
              </a:rPr>
              <a:t>ganizational Str</a:t>
            </a:r>
            <a:r>
              <a:rPr sz="1900" b="1" kern="0" spc="-70" dirty="0">
                <a:solidFill>
                  <a:srgbClr val="19376D">
                    <a:alpha val="100000"/>
                  </a:srgbClr>
                </a:solidFill>
                <a:latin typeface="Tahoma"/>
                <a:ea typeface="Tahoma"/>
                <a:cs typeface="Tahoma"/>
              </a:rPr>
              <a:t>uctur</a:t>
            </a:r>
            <a:r>
              <a:rPr sz="1900" b="1" kern="0" spc="-50" dirty="0">
                <a:solidFill>
                  <a:srgbClr val="19376D">
                    <a:alpha val="100000"/>
                  </a:srgbClr>
                </a:solidFill>
                <a:latin typeface="Tahoma"/>
                <a:ea typeface="Tahoma"/>
                <a:cs typeface="Tahoma"/>
              </a:rPr>
              <a:t>e</a:t>
            </a:r>
            <a:endParaRPr sz="1900" dirty="0">
              <a:latin typeface="Tahoma"/>
              <a:ea typeface="Tahoma"/>
              <a:cs typeface="Tahoma"/>
            </a:endParaRPr>
          </a:p>
        </p:txBody>
      </p:sp>
      <p:pic>
        <p:nvPicPr>
          <p:cNvPr id="126" name="picture 126"/>
          <p:cNvPicPr>
            <a:picLocks noChangeAspect="1"/>
          </p:cNvPicPr>
          <p:nvPr/>
        </p:nvPicPr>
        <p:blipFill>
          <a:blip r:embed="rId8"/>
          <a:stretch>
            <a:fillRect/>
          </a:stretch>
        </p:blipFill>
        <p:spPr>
          <a:xfrm rot="21600000">
            <a:off x="876452" y="1580007"/>
            <a:ext cx="190195" cy="230885"/>
          </a:xfrm>
          <a:prstGeom prst="rect">
            <a:avLst/>
          </a:prstGeom>
        </p:spPr>
      </p:pic>
      <p:grpSp>
        <p:nvGrpSpPr>
          <p:cNvPr id="8" name="group 8"/>
          <p:cNvGrpSpPr/>
          <p:nvPr/>
        </p:nvGrpSpPr>
        <p:grpSpPr>
          <a:xfrm rot="21600000">
            <a:off x="1035050" y="2171699"/>
            <a:ext cx="419100" cy="419100"/>
            <a:chOff x="0" y="0"/>
            <a:chExt cx="419100" cy="419100"/>
          </a:xfrm>
        </p:grpSpPr>
        <p:pic>
          <p:nvPicPr>
            <p:cNvPr id="128" name="picture 128"/>
            <p:cNvPicPr>
              <a:picLocks noChangeAspect="1"/>
            </p:cNvPicPr>
            <p:nvPr/>
          </p:nvPicPr>
          <p:blipFill>
            <a:blip r:embed="rId9"/>
            <a:stretch>
              <a:fillRect/>
            </a:stretch>
          </p:blipFill>
          <p:spPr>
            <a:xfrm rot="21600000">
              <a:off x="0" y="0"/>
              <a:ext cx="419100" cy="419100"/>
            </a:xfrm>
            <a:prstGeom prst="rect">
              <a:avLst/>
            </a:prstGeom>
          </p:spPr>
        </p:pic>
        <p:sp>
          <p:nvSpPr>
            <p:cNvPr id="130" name="textbox 130"/>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07950" algn="l" rtl="0" eaLnBrk="0">
                <a:lnSpc>
                  <a:spcPct val="84000"/>
                </a:lnSpc>
                <a:spcBef>
                  <a:spcPts val="5"/>
                </a:spcBef>
                <a:tabLst>
                  <a:tab pos="336550"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132" name="picture 132"/>
            <p:cNvPicPr>
              <a:picLocks noChangeAspect="1"/>
            </p:cNvPicPr>
            <p:nvPr/>
          </p:nvPicPr>
          <p:blipFill>
            <a:blip r:embed="rId10"/>
            <a:stretch>
              <a:fillRect/>
            </a:stretch>
          </p:blipFill>
          <p:spPr>
            <a:xfrm rot="21600000">
              <a:off x="95250" y="94107"/>
              <a:ext cx="228600" cy="230885"/>
            </a:xfrm>
            <a:prstGeom prst="rect">
              <a:avLst/>
            </a:prstGeom>
          </p:spPr>
        </p:pic>
      </p:grpSp>
      <p:grpSp>
        <p:nvGrpSpPr>
          <p:cNvPr id="10" name="group 10"/>
          <p:cNvGrpSpPr/>
          <p:nvPr/>
        </p:nvGrpSpPr>
        <p:grpSpPr>
          <a:xfrm rot="21600000">
            <a:off x="1047750" y="3600449"/>
            <a:ext cx="419100" cy="419100"/>
            <a:chOff x="0" y="0"/>
            <a:chExt cx="419100" cy="419100"/>
          </a:xfrm>
        </p:grpSpPr>
        <p:pic>
          <p:nvPicPr>
            <p:cNvPr id="134" name="picture 134"/>
            <p:cNvPicPr>
              <a:picLocks noChangeAspect="1"/>
            </p:cNvPicPr>
            <p:nvPr/>
          </p:nvPicPr>
          <p:blipFill>
            <a:blip r:embed="rId11"/>
            <a:stretch>
              <a:fillRect/>
            </a:stretch>
          </p:blipFill>
          <p:spPr>
            <a:xfrm rot="21600000">
              <a:off x="0" y="0"/>
              <a:ext cx="419100" cy="419100"/>
            </a:xfrm>
            <a:prstGeom prst="rect">
              <a:avLst/>
            </a:prstGeom>
          </p:spPr>
        </p:pic>
        <p:sp>
          <p:nvSpPr>
            <p:cNvPr id="136" name="textbox 136"/>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16839" algn="l" rtl="0" eaLnBrk="0">
                <a:lnSpc>
                  <a:spcPct val="84000"/>
                </a:lnSpc>
                <a:spcBef>
                  <a:spcPts val="5"/>
                </a:spcBef>
                <a:tabLst>
                  <a:tab pos="327025"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138" name="picture 138"/>
            <p:cNvPicPr>
              <a:picLocks noChangeAspect="1"/>
            </p:cNvPicPr>
            <p:nvPr/>
          </p:nvPicPr>
          <p:blipFill>
            <a:blip r:embed="rId12"/>
            <a:stretch>
              <a:fillRect/>
            </a:stretch>
          </p:blipFill>
          <p:spPr>
            <a:xfrm rot="21600000">
              <a:off x="104622" y="94107"/>
              <a:ext cx="209854" cy="230885"/>
            </a:xfrm>
            <a:prstGeom prst="rect">
              <a:avLst/>
            </a:prstGeom>
          </p:spPr>
        </p:pic>
      </p:grpSp>
      <p:grpSp>
        <p:nvGrpSpPr>
          <p:cNvPr id="12" name="group 12"/>
          <p:cNvGrpSpPr/>
          <p:nvPr/>
        </p:nvGrpSpPr>
        <p:grpSpPr>
          <a:xfrm rot="21600000">
            <a:off x="1035050" y="5312167"/>
            <a:ext cx="419100" cy="419100"/>
            <a:chOff x="0" y="0"/>
            <a:chExt cx="419100" cy="419100"/>
          </a:xfrm>
        </p:grpSpPr>
        <p:pic>
          <p:nvPicPr>
            <p:cNvPr id="140" name="picture 140"/>
            <p:cNvPicPr>
              <a:picLocks noChangeAspect="1"/>
            </p:cNvPicPr>
            <p:nvPr/>
          </p:nvPicPr>
          <p:blipFill>
            <a:blip r:embed="rId11"/>
            <a:stretch>
              <a:fillRect/>
            </a:stretch>
          </p:blipFill>
          <p:spPr>
            <a:xfrm rot="21600000">
              <a:off x="0" y="0"/>
              <a:ext cx="419100" cy="419100"/>
            </a:xfrm>
            <a:prstGeom prst="rect">
              <a:avLst/>
            </a:prstGeom>
          </p:spPr>
        </p:pic>
        <p:sp>
          <p:nvSpPr>
            <p:cNvPr id="142" name="textbox 142"/>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07950" algn="l" rtl="0" eaLnBrk="0">
                <a:lnSpc>
                  <a:spcPct val="84000"/>
                </a:lnSpc>
                <a:spcBef>
                  <a:spcPts val="5"/>
                </a:spcBef>
                <a:tabLst>
                  <a:tab pos="336550"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144" name="picture 144"/>
            <p:cNvPicPr>
              <a:picLocks noChangeAspect="1"/>
            </p:cNvPicPr>
            <p:nvPr/>
          </p:nvPicPr>
          <p:blipFill>
            <a:blip r:embed="rId13"/>
            <a:stretch>
              <a:fillRect/>
            </a:stretch>
          </p:blipFill>
          <p:spPr>
            <a:xfrm rot="21600000">
              <a:off x="95250" y="94107"/>
              <a:ext cx="228600" cy="230885"/>
            </a:xfrm>
            <a:prstGeom prst="rect">
              <a:avLst/>
            </a:prstGeom>
          </p:spPr>
        </p:pic>
      </p:grpSp>
      <p:pic>
        <p:nvPicPr>
          <p:cNvPr id="146" name="picture 146"/>
          <p:cNvPicPr>
            <a:picLocks noChangeAspect="1"/>
          </p:cNvPicPr>
          <p:nvPr/>
        </p:nvPicPr>
        <p:blipFill>
          <a:blip r:embed="rId14"/>
          <a:stretch>
            <a:fillRect/>
          </a:stretch>
        </p:blipFill>
        <p:spPr>
          <a:xfrm rot="21600000">
            <a:off x="6086475" y="1524000"/>
            <a:ext cx="19050" cy="533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4E473CEF-46FD-5677-6CE3-C87ACCA1C32A}"/>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E3636FE5-C2BC-0841-F748-61BE334B61B7}"/>
              </a:ext>
            </a:extLst>
          </p:cNvPr>
          <p:cNvSpPr txBox="1"/>
          <p:nvPr/>
        </p:nvSpPr>
        <p:spPr>
          <a:xfrm>
            <a:off x="131233" y="1236133"/>
            <a:ext cx="11993034" cy="5078313"/>
          </a:xfrm>
          <a:prstGeom prst="rect">
            <a:avLst/>
          </a:prstGeom>
          <a:noFill/>
        </p:spPr>
        <p:txBody>
          <a:bodyPr wrap="square" rtlCol="0">
            <a:spAutoFit/>
          </a:bodyPr>
          <a:lstStyle/>
          <a:p>
            <a:r>
              <a:rPr lang="en-US" dirty="0"/>
              <a:t>Before we go too deep into how Vonguul operates, it is imperative that it is expressed that Vonguul is NOT for everyone, and not everyone is qualified to be a part of what we are creating. We do not care about your demographics; we care about your mindset. Do your views and values align with the views and values of Vonguul? </a:t>
            </a:r>
          </a:p>
          <a:p>
            <a:endParaRPr lang="en-US" dirty="0"/>
          </a:p>
          <a:p>
            <a:r>
              <a:rPr lang="en-US" dirty="0"/>
              <a:t>To help you answer that question, we provide you with the core of the Vonguulian “Code of Conduct”:</a:t>
            </a:r>
          </a:p>
          <a:p>
            <a:endParaRPr lang="en-US" dirty="0"/>
          </a:p>
          <a:p>
            <a:r>
              <a:rPr lang="en-US" dirty="0"/>
              <a:t>Code: LI 0 – In all things look for the Polarity</a:t>
            </a:r>
          </a:p>
          <a:p>
            <a:r>
              <a:rPr lang="en-US" dirty="0"/>
              <a:t>Code: LI 1 – Do not impose yourself onto others, without their Consent</a:t>
            </a:r>
          </a:p>
          <a:p>
            <a:r>
              <a:rPr lang="en-US" dirty="0"/>
              <a:t>Code: LI 2 – We do not Hope, We do not Pray, We Plan</a:t>
            </a:r>
          </a:p>
          <a:p>
            <a:r>
              <a:rPr lang="en-US" dirty="0"/>
              <a:t>Code: LI 3 – We do not Fear, what we do not Understand</a:t>
            </a:r>
          </a:p>
          <a:p>
            <a:r>
              <a:rPr lang="en-US" dirty="0"/>
              <a:t>Code: LI 4 – It is our Responsibility to Abstain from Ignorance</a:t>
            </a:r>
          </a:p>
          <a:p>
            <a:r>
              <a:rPr lang="en-US" dirty="0"/>
              <a:t>Code: LI 5 – Right and Wrong are Subjective terms that Require Definition to be Determined</a:t>
            </a:r>
          </a:p>
          <a:p>
            <a:r>
              <a:rPr lang="en-US" dirty="0"/>
              <a:t>Code: LI 6 – Plan to succeed in your endeavors, Always</a:t>
            </a:r>
          </a:p>
          <a:p>
            <a:r>
              <a:rPr lang="en-US" dirty="0"/>
              <a:t>Code: LI 7 – Don't Assume, Research</a:t>
            </a:r>
          </a:p>
          <a:p>
            <a:r>
              <a:rPr lang="en-US" dirty="0"/>
              <a:t>Code: LI 8 – Knowledge breeds Confidence and Confidence generates Power</a:t>
            </a:r>
          </a:p>
          <a:p>
            <a:r>
              <a:rPr lang="en-US" dirty="0"/>
              <a:t>Code: LI 9 – Know your own Strengths and Weaknesses</a:t>
            </a:r>
          </a:p>
          <a:p>
            <a:endParaRPr lang="en-US" dirty="0"/>
          </a:p>
          <a:p>
            <a:r>
              <a:rPr lang="en-US" dirty="0"/>
              <a:t>If you do not resonate with our Code, Vonguul probably isn’t for you.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1FDBC674-1738-856A-3CB6-1FA1F0CA1788}"/>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FA3DD610-A6C8-CDF5-3BD0-D29E1ED11ABA}"/>
              </a:ext>
            </a:extLst>
          </p:cNvPr>
          <p:cNvSpPr txBox="1"/>
          <p:nvPr/>
        </p:nvSpPr>
        <p:spPr>
          <a:xfrm>
            <a:off x="80433" y="1219200"/>
            <a:ext cx="12065000" cy="4801314"/>
          </a:xfrm>
          <a:prstGeom prst="rect">
            <a:avLst/>
          </a:prstGeom>
          <a:noFill/>
        </p:spPr>
        <p:txBody>
          <a:bodyPr wrap="square" rtlCol="0">
            <a:spAutoFit/>
          </a:bodyPr>
          <a:lstStyle/>
          <a:p>
            <a:r>
              <a:rPr lang="en-US" dirty="0"/>
              <a:t>Let’s assume you do resonate with our code of conduct, in order to be part of Vonguul, you would have to be invited by an existing member, and you would then have to pass 2 tests of character &amp; mind. If you pass both tests, congratulations you become a Vonguulian with a Rank of 36.9 or Level 1 of 12. To increase your level, you would contribute to the organized nation in whatever way you deem compatible with your interests. The Rank tracks your progress to the next Level of Access which is why it is called Level 1. Each level unlocks 8% of access up to a max of 96% at Level 12. </a:t>
            </a:r>
          </a:p>
          <a:p>
            <a:endParaRPr lang="en-US" dirty="0"/>
          </a:p>
          <a:p>
            <a:r>
              <a:rPr lang="en-US" dirty="0"/>
              <a:t>All of this may sound confusing, but the idea is for it to make sense by the end of this section. If Vonguul were a business, what I would be explaining is the business model. It isn’t complex but is instead layers of simplicity. The first layer involves the distribution of resources. Vonguul chooses to use a set split of 80/20, where 20 is dedicated to ourselves and 80 is dedicated to our community. In practice, this looks like a mine being created by an individual that contributed it to Vonguul, that individual would receive 20% of the net profits and 80% would be contributed to our community. The 20% is separate from your Level of Access and is yours in full no matter what, whereas the 80% requires Levels of access to be utilized. At Level 1 you have access to 8% of 100% of your share of the 80% shared among everyone.</a:t>
            </a:r>
          </a:p>
          <a:p>
            <a:endParaRPr lang="en-US" dirty="0"/>
          </a:p>
          <a:p>
            <a:r>
              <a:rPr lang="en-US" dirty="0"/>
              <a:t>Let’s visualize this for clarity.</a:t>
            </a:r>
          </a:p>
        </p:txBody>
      </p:sp>
    </p:spTree>
    <p:extLst>
      <p:ext uri="{BB962C8B-B14F-4D97-AF65-F5344CB8AC3E}">
        <p14:creationId xmlns:p14="http://schemas.microsoft.com/office/powerpoint/2010/main" val="2941483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5CCFEF0B-A163-93CB-2F58-0D59D1694251}"/>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pic>
        <p:nvPicPr>
          <p:cNvPr id="4" name="Graphic 3" descr="Woman with afro hair">
            <a:extLst>
              <a:ext uri="{FF2B5EF4-FFF2-40B4-BE49-F238E27FC236}">
                <a16:creationId xmlns:a16="http://schemas.microsoft.com/office/drawing/2014/main" id="{EC0D3622-BA9A-5539-E305-183C1DE51A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89026" y="2415740"/>
            <a:ext cx="1085850" cy="971550"/>
          </a:xfrm>
          <a:prstGeom prst="rect">
            <a:avLst/>
          </a:prstGeom>
        </p:spPr>
      </p:pic>
      <p:pic>
        <p:nvPicPr>
          <p:cNvPr id="6" name="Graphic 5" descr="Woman with top knot">
            <a:extLst>
              <a:ext uri="{FF2B5EF4-FFF2-40B4-BE49-F238E27FC236}">
                <a16:creationId xmlns:a16="http://schemas.microsoft.com/office/drawing/2014/main" id="{AC341E39-A9DB-7B55-19C8-D3813987F2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00692" y="2415740"/>
            <a:ext cx="819150" cy="904875"/>
          </a:xfrm>
          <a:prstGeom prst="rect">
            <a:avLst/>
          </a:prstGeom>
        </p:spPr>
      </p:pic>
      <p:pic>
        <p:nvPicPr>
          <p:cNvPr id="8" name="Graphic 7" descr="Woman wearing a ribbon">
            <a:extLst>
              <a:ext uri="{FF2B5EF4-FFF2-40B4-BE49-F238E27FC236}">
                <a16:creationId xmlns:a16="http://schemas.microsoft.com/office/drawing/2014/main" id="{FBEE2D0C-1BBA-9752-3228-6BBE4949DB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79264" y="2442877"/>
            <a:ext cx="723900" cy="914400"/>
          </a:xfrm>
          <a:prstGeom prst="rect">
            <a:avLst/>
          </a:prstGeom>
        </p:spPr>
      </p:pic>
      <p:pic>
        <p:nvPicPr>
          <p:cNvPr id="10" name="Graphic 9" descr="Woman with cornrows">
            <a:extLst>
              <a:ext uri="{FF2B5EF4-FFF2-40B4-BE49-F238E27FC236}">
                <a16:creationId xmlns:a16="http://schemas.microsoft.com/office/drawing/2014/main" id="{406A87ED-5B72-6FDA-6378-200F4E30D8F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05389" y="2494416"/>
            <a:ext cx="781050" cy="885825"/>
          </a:xfrm>
          <a:prstGeom prst="rect">
            <a:avLst/>
          </a:prstGeom>
        </p:spPr>
      </p:pic>
      <p:pic>
        <p:nvPicPr>
          <p:cNvPr id="12" name="Graphic 11" descr="Man with dreads">
            <a:extLst>
              <a:ext uri="{FF2B5EF4-FFF2-40B4-BE49-F238E27FC236}">
                <a16:creationId xmlns:a16="http://schemas.microsoft.com/office/drawing/2014/main" id="{1D23AEE6-1F4F-4E45-970C-D72932C2E54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45789" y="2494416"/>
            <a:ext cx="866775" cy="800100"/>
          </a:xfrm>
          <a:prstGeom prst="rect">
            <a:avLst/>
          </a:prstGeom>
        </p:spPr>
      </p:pic>
      <p:pic>
        <p:nvPicPr>
          <p:cNvPr id="14" name="Graphic 13" descr="Woman with buns">
            <a:extLst>
              <a:ext uri="{FF2B5EF4-FFF2-40B4-BE49-F238E27FC236}">
                <a16:creationId xmlns:a16="http://schemas.microsoft.com/office/drawing/2014/main" id="{067B7B46-B6FE-CE2F-44D0-EAB40AD7C96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545789" y="1459177"/>
            <a:ext cx="762000" cy="819150"/>
          </a:xfrm>
          <a:prstGeom prst="rect">
            <a:avLst/>
          </a:prstGeom>
        </p:spPr>
      </p:pic>
      <p:pic>
        <p:nvPicPr>
          <p:cNvPr id="16" name="Graphic 15" descr="Man with braided hair">
            <a:extLst>
              <a:ext uri="{FF2B5EF4-FFF2-40B4-BE49-F238E27FC236}">
                <a16:creationId xmlns:a16="http://schemas.microsoft.com/office/drawing/2014/main" id="{B357BCA8-DC9D-C025-F30E-1A6784707DC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05389" y="1507766"/>
            <a:ext cx="638175" cy="762000"/>
          </a:xfrm>
          <a:prstGeom prst="rect">
            <a:avLst/>
          </a:prstGeom>
        </p:spPr>
      </p:pic>
      <p:pic>
        <p:nvPicPr>
          <p:cNvPr id="18" name="Graphic 17" descr="Woman with long curly hair">
            <a:extLst>
              <a:ext uri="{FF2B5EF4-FFF2-40B4-BE49-F238E27FC236}">
                <a16:creationId xmlns:a16="http://schemas.microsoft.com/office/drawing/2014/main" id="{5A5148AF-1964-3B72-BE6C-39AC726658A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436426" y="1453091"/>
            <a:ext cx="1000125" cy="885825"/>
          </a:xfrm>
          <a:prstGeom prst="rect">
            <a:avLst/>
          </a:prstGeom>
        </p:spPr>
      </p:pic>
      <p:pic>
        <p:nvPicPr>
          <p:cNvPr id="20" name="Graphic 19" descr="Woman with short afro">
            <a:extLst>
              <a:ext uri="{FF2B5EF4-FFF2-40B4-BE49-F238E27FC236}">
                <a16:creationId xmlns:a16="http://schemas.microsoft.com/office/drawing/2014/main" id="{A4636F9C-389C-E24E-07DE-DBD50CB6914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717501" y="1472199"/>
            <a:ext cx="781050" cy="809625"/>
          </a:xfrm>
          <a:prstGeom prst="rect">
            <a:avLst/>
          </a:prstGeom>
        </p:spPr>
      </p:pic>
      <p:pic>
        <p:nvPicPr>
          <p:cNvPr id="22" name="Graphic 21" descr="Boy with twisted hair">
            <a:extLst>
              <a:ext uri="{FF2B5EF4-FFF2-40B4-BE49-F238E27FC236}">
                <a16:creationId xmlns:a16="http://schemas.microsoft.com/office/drawing/2014/main" id="{812FE140-186C-847A-6532-64D02B222E2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789026" y="1507766"/>
            <a:ext cx="666750" cy="771525"/>
          </a:xfrm>
          <a:prstGeom prst="rect">
            <a:avLst/>
          </a:prstGeom>
        </p:spPr>
      </p:pic>
      <p:sp>
        <p:nvSpPr>
          <p:cNvPr id="23" name="TextBox 22">
            <a:extLst>
              <a:ext uri="{FF2B5EF4-FFF2-40B4-BE49-F238E27FC236}">
                <a16:creationId xmlns:a16="http://schemas.microsoft.com/office/drawing/2014/main" id="{E207E502-775B-E688-1E2B-B3A1472BF030}"/>
              </a:ext>
            </a:extLst>
          </p:cNvPr>
          <p:cNvSpPr txBox="1"/>
          <p:nvPr/>
        </p:nvSpPr>
        <p:spPr>
          <a:xfrm>
            <a:off x="419100" y="1913467"/>
            <a:ext cx="3519772" cy="646331"/>
          </a:xfrm>
          <a:prstGeom prst="rect">
            <a:avLst/>
          </a:prstGeom>
          <a:noFill/>
        </p:spPr>
        <p:txBody>
          <a:bodyPr wrap="square" rtlCol="0">
            <a:spAutoFit/>
          </a:bodyPr>
          <a:lstStyle/>
          <a:p>
            <a:r>
              <a:rPr lang="en-US" dirty="0"/>
              <a:t>Let’s imagine Vonguul has 10 members</a:t>
            </a:r>
          </a:p>
        </p:txBody>
      </p:sp>
      <p:pic>
        <p:nvPicPr>
          <p:cNvPr id="24" name="Graphic 23" descr="Woman with afro hair">
            <a:extLst>
              <a:ext uri="{FF2B5EF4-FFF2-40B4-BE49-F238E27FC236}">
                <a16:creationId xmlns:a16="http://schemas.microsoft.com/office/drawing/2014/main" id="{F85B2785-C601-1F8B-B832-6333CB3006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89112" y="4968440"/>
            <a:ext cx="1085850" cy="971550"/>
          </a:xfrm>
          <a:prstGeom prst="rect">
            <a:avLst/>
          </a:prstGeom>
        </p:spPr>
      </p:pic>
      <p:pic>
        <p:nvPicPr>
          <p:cNvPr id="25" name="Graphic 24" descr="Woman with top knot">
            <a:extLst>
              <a:ext uri="{FF2B5EF4-FFF2-40B4-BE49-F238E27FC236}">
                <a16:creationId xmlns:a16="http://schemas.microsoft.com/office/drawing/2014/main" id="{AF966A2E-970A-F040-E0CC-DF57A50714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00778" y="4968440"/>
            <a:ext cx="819150" cy="904875"/>
          </a:xfrm>
          <a:prstGeom prst="rect">
            <a:avLst/>
          </a:prstGeom>
        </p:spPr>
      </p:pic>
      <p:pic>
        <p:nvPicPr>
          <p:cNvPr id="26" name="Graphic 25" descr="Woman wearing a ribbon">
            <a:extLst>
              <a:ext uri="{FF2B5EF4-FFF2-40B4-BE49-F238E27FC236}">
                <a16:creationId xmlns:a16="http://schemas.microsoft.com/office/drawing/2014/main" id="{E2B0BA54-557D-AE88-8794-3AE2A65352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79350" y="4995577"/>
            <a:ext cx="723900" cy="914400"/>
          </a:xfrm>
          <a:prstGeom prst="rect">
            <a:avLst/>
          </a:prstGeom>
        </p:spPr>
      </p:pic>
      <p:pic>
        <p:nvPicPr>
          <p:cNvPr id="27" name="Graphic 26" descr="Woman with cornrows">
            <a:extLst>
              <a:ext uri="{FF2B5EF4-FFF2-40B4-BE49-F238E27FC236}">
                <a16:creationId xmlns:a16="http://schemas.microsoft.com/office/drawing/2014/main" id="{D3605CD0-85EB-5D7A-1457-32AF84F5BF7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05475" y="5047116"/>
            <a:ext cx="781050" cy="885825"/>
          </a:xfrm>
          <a:prstGeom prst="rect">
            <a:avLst/>
          </a:prstGeom>
        </p:spPr>
      </p:pic>
      <p:pic>
        <p:nvPicPr>
          <p:cNvPr id="28" name="Graphic 27" descr="Man with dreads">
            <a:extLst>
              <a:ext uri="{FF2B5EF4-FFF2-40B4-BE49-F238E27FC236}">
                <a16:creationId xmlns:a16="http://schemas.microsoft.com/office/drawing/2014/main" id="{3481333E-A989-0F50-ECC1-B9EECABE253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45875" y="5047116"/>
            <a:ext cx="866775" cy="800100"/>
          </a:xfrm>
          <a:prstGeom prst="rect">
            <a:avLst/>
          </a:prstGeom>
        </p:spPr>
      </p:pic>
      <p:pic>
        <p:nvPicPr>
          <p:cNvPr id="29" name="Graphic 28" descr="Woman with buns">
            <a:extLst>
              <a:ext uri="{FF2B5EF4-FFF2-40B4-BE49-F238E27FC236}">
                <a16:creationId xmlns:a16="http://schemas.microsoft.com/office/drawing/2014/main" id="{4EAAC1D5-C7CE-A07C-5B95-D842E7759A7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45875" y="4011877"/>
            <a:ext cx="762000" cy="819150"/>
          </a:xfrm>
          <a:prstGeom prst="rect">
            <a:avLst/>
          </a:prstGeom>
        </p:spPr>
      </p:pic>
      <p:pic>
        <p:nvPicPr>
          <p:cNvPr id="30" name="Graphic 29" descr="Man with braided hair">
            <a:extLst>
              <a:ext uri="{FF2B5EF4-FFF2-40B4-BE49-F238E27FC236}">
                <a16:creationId xmlns:a16="http://schemas.microsoft.com/office/drawing/2014/main" id="{A1D34CEB-908A-74B8-F08D-94141361FE2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05475" y="4060466"/>
            <a:ext cx="638175" cy="762000"/>
          </a:xfrm>
          <a:prstGeom prst="rect">
            <a:avLst/>
          </a:prstGeom>
        </p:spPr>
      </p:pic>
      <p:pic>
        <p:nvPicPr>
          <p:cNvPr id="31" name="Graphic 30" descr="Woman with long curly hair">
            <a:extLst>
              <a:ext uri="{FF2B5EF4-FFF2-40B4-BE49-F238E27FC236}">
                <a16:creationId xmlns:a16="http://schemas.microsoft.com/office/drawing/2014/main" id="{A7F5DF83-FE81-CDC3-213F-A1F0E85FFA9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36512" y="4005791"/>
            <a:ext cx="1000125" cy="885825"/>
          </a:xfrm>
          <a:prstGeom prst="rect">
            <a:avLst/>
          </a:prstGeom>
        </p:spPr>
      </p:pic>
      <p:pic>
        <p:nvPicPr>
          <p:cNvPr id="32" name="Graphic 31" descr="Woman with short afro">
            <a:extLst>
              <a:ext uri="{FF2B5EF4-FFF2-40B4-BE49-F238E27FC236}">
                <a16:creationId xmlns:a16="http://schemas.microsoft.com/office/drawing/2014/main" id="{92EE0B5A-79BB-C75E-8FF2-F20554E25C4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817587" y="4024899"/>
            <a:ext cx="781050" cy="809625"/>
          </a:xfrm>
          <a:prstGeom prst="rect">
            <a:avLst/>
          </a:prstGeom>
        </p:spPr>
      </p:pic>
      <p:pic>
        <p:nvPicPr>
          <p:cNvPr id="33" name="Graphic 32" descr="Boy with twisted hair">
            <a:extLst>
              <a:ext uri="{FF2B5EF4-FFF2-40B4-BE49-F238E27FC236}">
                <a16:creationId xmlns:a16="http://schemas.microsoft.com/office/drawing/2014/main" id="{0D7A5FB1-9C07-0959-93F3-02BEBE7B60E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889112" y="4060466"/>
            <a:ext cx="666750" cy="771525"/>
          </a:xfrm>
          <a:prstGeom prst="rect">
            <a:avLst/>
          </a:prstGeom>
        </p:spPr>
      </p:pic>
      <p:sp>
        <p:nvSpPr>
          <p:cNvPr id="34" name="Rectangle: Rounded Corners 33">
            <a:extLst>
              <a:ext uri="{FF2B5EF4-FFF2-40B4-BE49-F238E27FC236}">
                <a16:creationId xmlns:a16="http://schemas.microsoft.com/office/drawing/2014/main" id="{99D07FE6-46B5-CC33-4FC2-126674B28C1A}"/>
              </a:ext>
            </a:extLst>
          </p:cNvPr>
          <p:cNvSpPr/>
          <p:nvPr/>
        </p:nvSpPr>
        <p:spPr>
          <a:xfrm>
            <a:off x="4588933" y="3949700"/>
            <a:ext cx="1847493" cy="102826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55C1FCDD-0984-EDF9-CC21-196B6A67C088}"/>
              </a:ext>
            </a:extLst>
          </p:cNvPr>
          <p:cNvCxnSpPr/>
          <p:nvPr/>
        </p:nvCxnSpPr>
        <p:spPr>
          <a:xfrm>
            <a:off x="2683933" y="3632200"/>
            <a:ext cx="5846234" cy="0"/>
          </a:xfrm>
          <a:prstGeom prst="line">
            <a:avLst/>
          </a:prstGeom>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7438B08-ECF5-7C66-C804-8E84D8D52E1E}"/>
              </a:ext>
            </a:extLst>
          </p:cNvPr>
          <p:cNvSpPr txBox="1"/>
          <p:nvPr/>
        </p:nvSpPr>
        <p:spPr>
          <a:xfrm>
            <a:off x="457200" y="3985450"/>
            <a:ext cx="3519772" cy="646331"/>
          </a:xfrm>
          <a:prstGeom prst="rect">
            <a:avLst/>
          </a:prstGeom>
          <a:noFill/>
        </p:spPr>
        <p:txBody>
          <a:bodyPr wrap="square" rtlCol="0">
            <a:spAutoFit/>
          </a:bodyPr>
          <a:lstStyle/>
          <a:p>
            <a:r>
              <a:rPr lang="en-US" dirty="0"/>
              <a:t>2 members decide to establish a mine</a:t>
            </a:r>
          </a:p>
        </p:txBody>
      </p:sp>
    </p:spTree>
    <p:extLst>
      <p:ext uri="{BB962C8B-B14F-4D97-AF65-F5344CB8AC3E}">
        <p14:creationId xmlns:p14="http://schemas.microsoft.com/office/powerpoint/2010/main" val="3684247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C12FE-6C44-69F9-FB2F-63F0F39FACDC}"/>
            </a:ext>
          </a:extLst>
        </p:cNvPr>
        <p:cNvGrpSpPr/>
        <p:nvPr/>
      </p:nvGrpSpPr>
      <p:grpSpPr>
        <a:xfrm>
          <a:off x="0" y="0"/>
          <a:ext cx="0" cy="0"/>
          <a:chOff x="0" y="0"/>
          <a:chExt cx="0" cy="0"/>
        </a:xfrm>
      </p:grpSpPr>
      <p:sp>
        <p:nvSpPr>
          <p:cNvPr id="2" name="textbox 116">
            <a:extLst>
              <a:ext uri="{FF2B5EF4-FFF2-40B4-BE49-F238E27FC236}">
                <a16:creationId xmlns:a16="http://schemas.microsoft.com/office/drawing/2014/main" id="{B747D898-4E74-BF7B-9D46-86BE2C98397A}"/>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23" name="TextBox 22">
            <a:extLst>
              <a:ext uri="{FF2B5EF4-FFF2-40B4-BE49-F238E27FC236}">
                <a16:creationId xmlns:a16="http://schemas.microsoft.com/office/drawing/2014/main" id="{BE3F17AA-842E-EF61-281F-760708BB5B7F}"/>
              </a:ext>
            </a:extLst>
          </p:cNvPr>
          <p:cNvSpPr txBox="1"/>
          <p:nvPr/>
        </p:nvSpPr>
        <p:spPr>
          <a:xfrm>
            <a:off x="419100" y="1913467"/>
            <a:ext cx="3519772" cy="923330"/>
          </a:xfrm>
          <a:prstGeom prst="rect">
            <a:avLst/>
          </a:prstGeom>
          <a:noFill/>
        </p:spPr>
        <p:txBody>
          <a:bodyPr wrap="square" rtlCol="0">
            <a:spAutoFit/>
          </a:bodyPr>
          <a:lstStyle/>
          <a:p>
            <a:r>
              <a:rPr lang="en-US" dirty="0"/>
              <a:t>Those 2 members create a profitable business/mine, and </a:t>
            </a:r>
            <a:r>
              <a:rPr lang="en-US" b="1" dirty="0"/>
              <a:t>contribute</a:t>
            </a:r>
            <a:r>
              <a:rPr lang="en-US" dirty="0"/>
              <a:t> it to Vonguul</a:t>
            </a:r>
          </a:p>
        </p:txBody>
      </p:sp>
      <p:pic>
        <p:nvPicPr>
          <p:cNvPr id="29" name="Graphic 28" descr="Woman with buns">
            <a:extLst>
              <a:ext uri="{FF2B5EF4-FFF2-40B4-BE49-F238E27FC236}">
                <a16:creationId xmlns:a16="http://schemas.microsoft.com/office/drawing/2014/main" id="{6E3A4459-25E1-7F0C-E903-EDF2008DE8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86609" y="1762716"/>
            <a:ext cx="762000" cy="819150"/>
          </a:xfrm>
          <a:prstGeom prst="rect">
            <a:avLst/>
          </a:prstGeom>
        </p:spPr>
      </p:pic>
      <p:pic>
        <p:nvPicPr>
          <p:cNvPr id="30" name="Graphic 29" descr="Man with braided hair">
            <a:extLst>
              <a:ext uri="{FF2B5EF4-FFF2-40B4-BE49-F238E27FC236}">
                <a16:creationId xmlns:a16="http://schemas.microsoft.com/office/drawing/2014/main" id="{D5A218CB-25C2-6F6C-13A7-23DCA902E8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46209" y="1811305"/>
            <a:ext cx="638175" cy="762000"/>
          </a:xfrm>
          <a:prstGeom prst="rect">
            <a:avLst/>
          </a:prstGeom>
        </p:spPr>
      </p:pic>
      <p:sp>
        <p:nvSpPr>
          <p:cNvPr id="34" name="Rectangle: Rounded Corners 33">
            <a:extLst>
              <a:ext uri="{FF2B5EF4-FFF2-40B4-BE49-F238E27FC236}">
                <a16:creationId xmlns:a16="http://schemas.microsoft.com/office/drawing/2014/main" id="{5EE338BC-CE69-3645-349A-BC4A5F8384A3}"/>
              </a:ext>
            </a:extLst>
          </p:cNvPr>
          <p:cNvSpPr/>
          <p:nvPr/>
        </p:nvSpPr>
        <p:spPr>
          <a:xfrm>
            <a:off x="4529667" y="1700539"/>
            <a:ext cx="1847493" cy="102826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C549071-7230-6DEC-F117-F8EC7D9EA5FA}"/>
              </a:ext>
            </a:extLst>
          </p:cNvPr>
          <p:cNvCxnSpPr/>
          <p:nvPr/>
        </p:nvCxnSpPr>
        <p:spPr>
          <a:xfrm>
            <a:off x="2683933" y="3632200"/>
            <a:ext cx="5846234" cy="0"/>
          </a:xfrm>
          <a:prstGeom prst="line">
            <a:avLst/>
          </a:prstGeom>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87EDDA0E-4662-67DF-AA08-D722B505B176}"/>
              </a:ext>
            </a:extLst>
          </p:cNvPr>
          <p:cNvSpPr txBox="1"/>
          <p:nvPr/>
        </p:nvSpPr>
        <p:spPr>
          <a:xfrm>
            <a:off x="463511" y="4212430"/>
            <a:ext cx="3519772" cy="923330"/>
          </a:xfrm>
          <a:prstGeom prst="rect">
            <a:avLst/>
          </a:prstGeom>
          <a:noFill/>
        </p:spPr>
        <p:txBody>
          <a:bodyPr wrap="square" rtlCol="0">
            <a:spAutoFit/>
          </a:bodyPr>
          <a:lstStyle/>
          <a:p>
            <a:r>
              <a:rPr lang="en-US" dirty="0"/>
              <a:t>That business/mine then generates a net profit, that then follows the 80/20 split</a:t>
            </a:r>
          </a:p>
        </p:txBody>
      </p:sp>
      <p:sp>
        <p:nvSpPr>
          <p:cNvPr id="5" name="Equals 4">
            <a:extLst>
              <a:ext uri="{FF2B5EF4-FFF2-40B4-BE49-F238E27FC236}">
                <a16:creationId xmlns:a16="http://schemas.microsoft.com/office/drawing/2014/main" id="{9604158E-44D1-CA99-B611-1BB2F8556CFC}"/>
              </a:ext>
            </a:extLst>
          </p:cNvPr>
          <p:cNvSpPr/>
          <p:nvPr/>
        </p:nvSpPr>
        <p:spPr>
          <a:xfrm>
            <a:off x="6434102" y="2008155"/>
            <a:ext cx="368300" cy="368300"/>
          </a:xfrm>
          <a:prstGeom prst="mathEqual">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7" name="Plus Sign 6">
            <a:extLst>
              <a:ext uri="{FF2B5EF4-FFF2-40B4-BE49-F238E27FC236}">
                <a16:creationId xmlns:a16="http://schemas.microsoft.com/office/drawing/2014/main" id="{39622DBD-6DEF-1F93-1875-E4AF896CD58D}"/>
              </a:ext>
            </a:extLst>
          </p:cNvPr>
          <p:cNvSpPr/>
          <p:nvPr/>
        </p:nvSpPr>
        <p:spPr>
          <a:xfrm>
            <a:off x="5334426" y="2046395"/>
            <a:ext cx="325966" cy="325966"/>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Graphic 10" descr="Briefcase with solid fill">
            <a:extLst>
              <a:ext uri="{FF2B5EF4-FFF2-40B4-BE49-F238E27FC236}">
                <a16:creationId xmlns:a16="http://schemas.microsoft.com/office/drawing/2014/main" id="{41B64C48-B091-ABF5-EF27-DE769DB283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67955" y="1700539"/>
            <a:ext cx="914400" cy="914400"/>
          </a:xfrm>
          <a:prstGeom prst="rect">
            <a:avLst/>
          </a:prstGeom>
        </p:spPr>
      </p:pic>
      <p:sp>
        <p:nvSpPr>
          <p:cNvPr id="19" name="Equals 18">
            <a:extLst>
              <a:ext uri="{FF2B5EF4-FFF2-40B4-BE49-F238E27FC236}">
                <a16:creationId xmlns:a16="http://schemas.microsoft.com/office/drawing/2014/main" id="{600E5056-745C-B2F0-7A74-E710FCD6987A}"/>
              </a:ext>
            </a:extLst>
          </p:cNvPr>
          <p:cNvSpPr/>
          <p:nvPr/>
        </p:nvSpPr>
        <p:spPr>
          <a:xfrm>
            <a:off x="5854135" y="4490461"/>
            <a:ext cx="368300" cy="368300"/>
          </a:xfrm>
          <a:prstGeom prst="mathEqual">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35" name="Graphic 34" descr="Briefcase with solid fill">
            <a:extLst>
              <a:ext uri="{FF2B5EF4-FFF2-40B4-BE49-F238E27FC236}">
                <a16:creationId xmlns:a16="http://schemas.microsoft.com/office/drawing/2014/main" id="{9B1DF24C-587D-A004-3688-980B6CA5D4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43499" y="4192262"/>
            <a:ext cx="914400" cy="914400"/>
          </a:xfrm>
          <a:prstGeom prst="rect">
            <a:avLst/>
          </a:prstGeom>
        </p:spPr>
      </p:pic>
      <p:sp>
        <p:nvSpPr>
          <p:cNvPr id="38" name="TextBox 37">
            <a:extLst>
              <a:ext uri="{FF2B5EF4-FFF2-40B4-BE49-F238E27FC236}">
                <a16:creationId xmlns:a16="http://schemas.microsoft.com/office/drawing/2014/main" id="{42F715FD-E819-B888-D20C-5556ECDAF762}"/>
              </a:ext>
            </a:extLst>
          </p:cNvPr>
          <p:cNvSpPr txBox="1"/>
          <p:nvPr/>
        </p:nvSpPr>
        <p:spPr>
          <a:xfrm>
            <a:off x="6318671" y="4273142"/>
            <a:ext cx="1299633" cy="830997"/>
          </a:xfrm>
          <a:prstGeom prst="rect">
            <a:avLst/>
          </a:prstGeom>
          <a:noFill/>
        </p:spPr>
        <p:txBody>
          <a:bodyPr wrap="square" rtlCol="0">
            <a:spAutoFit/>
          </a:bodyPr>
          <a:lstStyle/>
          <a:p>
            <a:pPr algn="ctr"/>
            <a:r>
              <a:rPr lang="en-US" sz="2400" b="1" dirty="0"/>
              <a:t>Net Profits</a:t>
            </a:r>
          </a:p>
        </p:txBody>
      </p:sp>
      <p:sp>
        <p:nvSpPr>
          <p:cNvPr id="39" name="TextBox 38">
            <a:extLst>
              <a:ext uri="{FF2B5EF4-FFF2-40B4-BE49-F238E27FC236}">
                <a16:creationId xmlns:a16="http://schemas.microsoft.com/office/drawing/2014/main" id="{8DFC7A9C-BDF1-3999-0C87-F785196C5849}"/>
              </a:ext>
            </a:extLst>
          </p:cNvPr>
          <p:cNvSpPr txBox="1"/>
          <p:nvPr/>
        </p:nvSpPr>
        <p:spPr>
          <a:xfrm>
            <a:off x="463511" y="5780256"/>
            <a:ext cx="5511235" cy="369332"/>
          </a:xfrm>
          <a:prstGeom prst="rect">
            <a:avLst/>
          </a:prstGeom>
          <a:noFill/>
        </p:spPr>
        <p:txBody>
          <a:bodyPr wrap="square" rtlCol="0">
            <a:spAutoFit/>
          </a:bodyPr>
          <a:lstStyle/>
          <a:p>
            <a:r>
              <a:rPr lang="en-US" dirty="0"/>
              <a:t>To keep things simple, let's say the net profit is $100</a:t>
            </a:r>
          </a:p>
        </p:txBody>
      </p:sp>
    </p:spTree>
    <p:extLst>
      <p:ext uri="{BB962C8B-B14F-4D97-AF65-F5344CB8AC3E}">
        <p14:creationId xmlns:p14="http://schemas.microsoft.com/office/powerpoint/2010/main" val="72248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82979-2FD3-86A2-6ADE-9E80EC2FB2DD}"/>
            </a:ext>
          </a:extLst>
        </p:cNvPr>
        <p:cNvGrpSpPr/>
        <p:nvPr/>
      </p:nvGrpSpPr>
      <p:grpSpPr>
        <a:xfrm>
          <a:off x="0" y="0"/>
          <a:ext cx="0" cy="0"/>
          <a:chOff x="0" y="0"/>
          <a:chExt cx="0" cy="0"/>
        </a:xfrm>
      </p:grpSpPr>
      <p:sp>
        <p:nvSpPr>
          <p:cNvPr id="2" name="textbox 116">
            <a:extLst>
              <a:ext uri="{FF2B5EF4-FFF2-40B4-BE49-F238E27FC236}">
                <a16:creationId xmlns:a16="http://schemas.microsoft.com/office/drawing/2014/main" id="{2B25530A-5096-0E96-4AF5-F11F9D30A4A3}"/>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pic>
        <p:nvPicPr>
          <p:cNvPr id="4" name="Graphic 3" descr="Woman with afro hair">
            <a:extLst>
              <a:ext uri="{FF2B5EF4-FFF2-40B4-BE49-F238E27FC236}">
                <a16:creationId xmlns:a16="http://schemas.microsoft.com/office/drawing/2014/main" id="{E782260F-47CB-ED54-196D-2F3BA9CC21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43493" y="2588249"/>
            <a:ext cx="1085850" cy="971550"/>
          </a:xfrm>
          <a:prstGeom prst="rect">
            <a:avLst/>
          </a:prstGeom>
        </p:spPr>
      </p:pic>
      <p:pic>
        <p:nvPicPr>
          <p:cNvPr id="6" name="Graphic 5" descr="Woman with top knot">
            <a:extLst>
              <a:ext uri="{FF2B5EF4-FFF2-40B4-BE49-F238E27FC236}">
                <a16:creationId xmlns:a16="http://schemas.microsoft.com/office/drawing/2014/main" id="{5ADD3D6C-CA39-64B5-0287-651100921E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55159" y="2588249"/>
            <a:ext cx="819150" cy="904875"/>
          </a:xfrm>
          <a:prstGeom prst="rect">
            <a:avLst/>
          </a:prstGeom>
        </p:spPr>
      </p:pic>
      <p:pic>
        <p:nvPicPr>
          <p:cNvPr id="8" name="Graphic 7" descr="Woman wearing a ribbon">
            <a:extLst>
              <a:ext uri="{FF2B5EF4-FFF2-40B4-BE49-F238E27FC236}">
                <a16:creationId xmlns:a16="http://schemas.microsoft.com/office/drawing/2014/main" id="{1B86F106-C062-9956-7BBA-C6565486E5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33731" y="2615386"/>
            <a:ext cx="723900" cy="914400"/>
          </a:xfrm>
          <a:prstGeom prst="rect">
            <a:avLst/>
          </a:prstGeom>
        </p:spPr>
      </p:pic>
      <p:pic>
        <p:nvPicPr>
          <p:cNvPr id="10" name="Graphic 9" descr="Woman with cornrows">
            <a:extLst>
              <a:ext uri="{FF2B5EF4-FFF2-40B4-BE49-F238E27FC236}">
                <a16:creationId xmlns:a16="http://schemas.microsoft.com/office/drawing/2014/main" id="{744B9149-FD1C-40E0-62D7-970C8C6029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59856" y="2666925"/>
            <a:ext cx="781050" cy="885825"/>
          </a:xfrm>
          <a:prstGeom prst="rect">
            <a:avLst/>
          </a:prstGeom>
        </p:spPr>
      </p:pic>
      <p:pic>
        <p:nvPicPr>
          <p:cNvPr id="12" name="Graphic 11" descr="Man with dreads">
            <a:extLst>
              <a:ext uri="{FF2B5EF4-FFF2-40B4-BE49-F238E27FC236}">
                <a16:creationId xmlns:a16="http://schemas.microsoft.com/office/drawing/2014/main" id="{99D35095-1020-7C87-684F-9BEF72226CB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00256" y="2666925"/>
            <a:ext cx="866775" cy="800100"/>
          </a:xfrm>
          <a:prstGeom prst="rect">
            <a:avLst/>
          </a:prstGeom>
        </p:spPr>
      </p:pic>
      <p:pic>
        <p:nvPicPr>
          <p:cNvPr id="14" name="Graphic 13" descr="Woman with buns">
            <a:extLst>
              <a:ext uri="{FF2B5EF4-FFF2-40B4-BE49-F238E27FC236}">
                <a16:creationId xmlns:a16="http://schemas.microsoft.com/office/drawing/2014/main" id="{BE4CBD6B-C639-6717-659B-3810B969CA3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00256" y="1631686"/>
            <a:ext cx="762000" cy="819150"/>
          </a:xfrm>
          <a:prstGeom prst="rect">
            <a:avLst/>
          </a:prstGeom>
        </p:spPr>
      </p:pic>
      <p:pic>
        <p:nvPicPr>
          <p:cNvPr id="16" name="Graphic 15" descr="Man with braided hair">
            <a:extLst>
              <a:ext uri="{FF2B5EF4-FFF2-40B4-BE49-F238E27FC236}">
                <a16:creationId xmlns:a16="http://schemas.microsoft.com/office/drawing/2014/main" id="{4718FAE8-4A1F-BA61-47CD-88EED4270AA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359856" y="1680275"/>
            <a:ext cx="638175" cy="762000"/>
          </a:xfrm>
          <a:prstGeom prst="rect">
            <a:avLst/>
          </a:prstGeom>
        </p:spPr>
      </p:pic>
      <p:pic>
        <p:nvPicPr>
          <p:cNvPr id="18" name="Graphic 17" descr="Woman with long curly hair">
            <a:extLst>
              <a:ext uri="{FF2B5EF4-FFF2-40B4-BE49-F238E27FC236}">
                <a16:creationId xmlns:a16="http://schemas.microsoft.com/office/drawing/2014/main" id="{CC711DFA-EC4B-C135-BEB3-42483C6EE73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90893" y="1625600"/>
            <a:ext cx="1000125" cy="885825"/>
          </a:xfrm>
          <a:prstGeom prst="rect">
            <a:avLst/>
          </a:prstGeom>
        </p:spPr>
      </p:pic>
      <p:pic>
        <p:nvPicPr>
          <p:cNvPr id="20" name="Graphic 19" descr="Woman with short afro">
            <a:extLst>
              <a:ext uri="{FF2B5EF4-FFF2-40B4-BE49-F238E27FC236}">
                <a16:creationId xmlns:a16="http://schemas.microsoft.com/office/drawing/2014/main" id="{A63297CC-6B56-F788-333A-F77310BE74A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471968" y="1644708"/>
            <a:ext cx="781050" cy="809625"/>
          </a:xfrm>
          <a:prstGeom prst="rect">
            <a:avLst/>
          </a:prstGeom>
        </p:spPr>
      </p:pic>
      <p:pic>
        <p:nvPicPr>
          <p:cNvPr id="22" name="Graphic 21" descr="Boy with twisted hair">
            <a:extLst>
              <a:ext uri="{FF2B5EF4-FFF2-40B4-BE49-F238E27FC236}">
                <a16:creationId xmlns:a16="http://schemas.microsoft.com/office/drawing/2014/main" id="{3878AC4C-42F7-535C-13F6-BD6C2AD8278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543493" y="1680275"/>
            <a:ext cx="666750" cy="771525"/>
          </a:xfrm>
          <a:prstGeom prst="rect">
            <a:avLst/>
          </a:prstGeom>
        </p:spPr>
      </p:pic>
      <p:sp>
        <p:nvSpPr>
          <p:cNvPr id="3" name="TextBox 2">
            <a:extLst>
              <a:ext uri="{FF2B5EF4-FFF2-40B4-BE49-F238E27FC236}">
                <a16:creationId xmlns:a16="http://schemas.microsoft.com/office/drawing/2014/main" id="{396DACDA-98A7-6739-DA08-6D6EA37E2392}"/>
              </a:ext>
            </a:extLst>
          </p:cNvPr>
          <p:cNvSpPr txBox="1"/>
          <p:nvPr/>
        </p:nvSpPr>
        <p:spPr>
          <a:xfrm>
            <a:off x="393700" y="1778000"/>
            <a:ext cx="3158067" cy="1200329"/>
          </a:xfrm>
          <a:prstGeom prst="rect">
            <a:avLst/>
          </a:prstGeom>
          <a:noFill/>
        </p:spPr>
        <p:txBody>
          <a:bodyPr wrap="square" rtlCol="0">
            <a:spAutoFit/>
          </a:bodyPr>
          <a:lstStyle/>
          <a:p>
            <a:r>
              <a:rPr lang="en-US" dirty="0"/>
              <a:t>Of that $100, immediately $20 is split between the 2 members that created the business</a:t>
            </a:r>
          </a:p>
        </p:txBody>
      </p:sp>
      <p:sp>
        <p:nvSpPr>
          <p:cNvPr id="5" name="TextBox 4">
            <a:extLst>
              <a:ext uri="{FF2B5EF4-FFF2-40B4-BE49-F238E27FC236}">
                <a16:creationId xmlns:a16="http://schemas.microsoft.com/office/drawing/2014/main" id="{F4F0405F-76A6-2F87-B8F6-506087A0F1D9}"/>
              </a:ext>
            </a:extLst>
          </p:cNvPr>
          <p:cNvSpPr txBox="1"/>
          <p:nvPr/>
        </p:nvSpPr>
        <p:spPr>
          <a:xfrm>
            <a:off x="4393225" y="1385142"/>
            <a:ext cx="574923" cy="276999"/>
          </a:xfrm>
          <a:prstGeom prst="rect">
            <a:avLst/>
          </a:prstGeom>
          <a:noFill/>
        </p:spPr>
        <p:txBody>
          <a:bodyPr wrap="square" rtlCol="0">
            <a:spAutoFit/>
          </a:bodyPr>
          <a:lstStyle/>
          <a:p>
            <a:r>
              <a:rPr lang="en-US" sz="1200" b="1" dirty="0">
                <a:solidFill>
                  <a:schemeClr val="accent6"/>
                </a:solidFill>
              </a:rPr>
              <a:t>+$10</a:t>
            </a:r>
          </a:p>
        </p:txBody>
      </p:sp>
      <p:sp>
        <p:nvSpPr>
          <p:cNvPr id="7" name="TextBox 6">
            <a:extLst>
              <a:ext uri="{FF2B5EF4-FFF2-40B4-BE49-F238E27FC236}">
                <a16:creationId xmlns:a16="http://schemas.microsoft.com/office/drawing/2014/main" id="{42D0A821-D0DB-8B43-7E49-6A276B22AA74}"/>
              </a:ext>
            </a:extLst>
          </p:cNvPr>
          <p:cNvSpPr txBox="1"/>
          <p:nvPr/>
        </p:nvSpPr>
        <p:spPr>
          <a:xfrm>
            <a:off x="5391481" y="1385141"/>
            <a:ext cx="574923" cy="276999"/>
          </a:xfrm>
          <a:prstGeom prst="rect">
            <a:avLst/>
          </a:prstGeom>
          <a:noFill/>
        </p:spPr>
        <p:txBody>
          <a:bodyPr wrap="square" rtlCol="0">
            <a:spAutoFit/>
          </a:bodyPr>
          <a:lstStyle/>
          <a:p>
            <a:r>
              <a:rPr lang="en-US" sz="1200" b="1" dirty="0">
                <a:solidFill>
                  <a:schemeClr val="accent6"/>
                </a:solidFill>
              </a:rPr>
              <a:t>+$10</a:t>
            </a:r>
          </a:p>
        </p:txBody>
      </p:sp>
      <p:sp>
        <p:nvSpPr>
          <p:cNvPr id="9" name="TextBox 8">
            <a:extLst>
              <a:ext uri="{FF2B5EF4-FFF2-40B4-BE49-F238E27FC236}">
                <a16:creationId xmlns:a16="http://schemas.microsoft.com/office/drawing/2014/main" id="{366BF086-D5D6-91D1-F7D7-89584D80AAC5}"/>
              </a:ext>
            </a:extLst>
          </p:cNvPr>
          <p:cNvSpPr txBox="1"/>
          <p:nvPr/>
        </p:nvSpPr>
        <p:spPr>
          <a:xfrm>
            <a:off x="334434" y="4004734"/>
            <a:ext cx="3158067" cy="923330"/>
          </a:xfrm>
          <a:prstGeom prst="rect">
            <a:avLst/>
          </a:prstGeom>
          <a:noFill/>
        </p:spPr>
        <p:txBody>
          <a:bodyPr wrap="square" rtlCol="0">
            <a:spAutoFit/>
          </a:bodyPr>
          <a:lstStyle/>
          <a:p>
            <a:r>
              <a:rPr lang="en-US" dirty="0"/>
              <a:t>Of the remaining $80, it is split equally among all members</a:t>
            </a:r>
          </a:p>
        </p:txBody>
      </p:sp>
      <p:pic>
        <p:nvPicPr>
          <p:cNvPr id="11" name="Graphic 10" descr="Woman with afro hair">
            <a:extLst>
              <a:ext uri="{FF2B5EF4-FFF2-40B4-BE49-F238E27FC236}">
                <a16:creationId xmlns:a16="http://schemas.microsoft.com/office/drawing/2014/main" id="{5E72242B-5379-5899-427C-3C20BE036B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4593" y="5424572"/>
            <a:ext cx="1085850" cy="971550"/>
          </a:xfrm>
          <a:prstGeom prst="rect">
            <a:avLst/>
          </a:prstGeom>
        </p:spPr>
      </p:pic>
      <p:pic>
        <p:nvPicPr>
          <p:cNvPr id="13" name="Graphic 12" descr="Woman with top knot">
            <a:extLst>
              <a:ext uri="{FF2B5EF4-FFF2-40B4-BE49-F238E27FC236}">
                <a16:creationId xmlns:a16="http://schemas.microsoft.com/office/drawing/2014/main" id="{96562AC0-031F-000A-161D-E47054677B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66259" y="5424572"/>
            <a:ext cx="819150" cy="904875"/>
          </a:xfrm>
          <a:prstGeom prst="rect">
            <a:avLst/>
          </a:prstGeom>
        </p:spPr>
      </p:pic>
      <p:pic>
        <p:nvPicPr>
          <p:cNvPr id="15" name="Graphic 14" descr="Woman wearing a ribbon">
            <a:extLst>
              <a:ext uri="{FF2B5EF4-FFF2-40B4-BE49-F238E27FC236}">
                <a16:creationId xmlns:a16="http://schemas.microsoft.com/office/drawing/2014/main" id="{3549B159-6B32-90FD-CA60-F000D858415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4831" y="5451709"/>
            <a:ext cx="723900" cy="914400"/>
          </a:xfrm>
          <a:prstGeom prst="rect">
            <a:avLst/>
          </a:prstGeom>
        </p:spPr>
      </p:pic>
      <p:pic>
        <p:nvPicPr>
          <p:cNvPr id="17" name="Graphic 16" descr="Woman with cornrows">
            <a:extLst>
              <a:ext uri="{FF2B5EF4-FFF2-40B4-BE49-F238E27FC236}">
                <a16:creationId xmlns:a16="http://schemas.microsoft.com/office/drawing/2014/main" id="{8588C68E-23ED-29F7-E56D-0F86373AD7D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70956" y="5503248"/>
            <a:ext cx="781050" cy="885825"/>
          </a:xfrm>
          <a:prstGeom prst="rect">
            <a:avLst/>
          </a:prstGeom>
        </p:spPr>
      </p:pic>
      <p:pic>
        <p:nvPicPr>
          <p:cNvPr id="19" name="Graphic 18" descr="Man with dreads">
            <a:extLst>
              <a:ext uri="{FF2B5EF4-FFF2-40B4-BE49-F238E27FC236}">
                <a16:creationId xmlns:a16="http://schemas.microsoft.com/office/drawing/2014/main" id="{6192B794-F8E0-A297-3AA6-96F0BC36F43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11356" y="5503248"/>
            <a:ext cx="866775" cy="800100"/>
          </a:xfrm>
          <a:prstGeom prst="rect">
            <a:avLst/>
          </a:prstGeom>
        </p:spPr>
      </p:pic>
      <p:pic>
        <p:nvPicPr>
          <p:cNvPr id="21" name="Graphic 20" descr="Woman with buns">
            <a:extLst>
              <a:ext uri="{FF2B5EF4-FFF2-40B4-BE49-F238E27FC236}">
                <a16:creationId xmlns:a16="http://schemas.microsoft.com/office/drawing/2014/main" id="{CB98E9EC-9418-D176-53C7-CEAA8F32AF7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11356" y="4336786"/>
            <a:ext cx="762000" cy="819150"/>
          </a:xfrm>
          <a:prstGeom prst="rect">
            <a:avLst/>
          </a:prstGeom>
        </p:spPr>
      </p:pic>
      <p:pic>
        <p:nvPicPr>
          <p:cNvPr id="23" name="Graphic 22" descr="Man with braided hair">
            <a:extLst>
              <a:ext uri="{FF2B5EF4-FFF2-40B4-BE49-F238E27FC236}">
                <a16:creationId xmlns:a16="http://schemas.microsoft.com/office/drawing/2014/main" id="{242306A3-97D9-42BD-0B53-54D9DA9CD84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270956" y="4385375"/>
            <a:ext cx="638175" cy="762000"/>
          </a:xfrm>
          <a:prstGeom prst="rect">
            <a:avLst/>
          </a:prstGeom>
        </p:spPr>
      </p:pic>
      <p:pic>
        <p:nvPicPr>
          <p:cNvPr id="24" name="Graphic 23" descr="Woman with long curly hair">
            <a:extLst>
              <a:ext uri="{FF2B5EF4-FFF2-40B4-BE49-F238E27FC236}">
                <a16:creationId xmlns:a16="http://schemas.microsoft.com/office/drawing/2014/main" id="{71ED6367-D970-D567-D0F2-5778152DC51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01993" y="4330700"/>
            <a:ext cx="1000125" cy="885825"/>
          </a:xfrm>
          <a:prstGeom prst="rect">
            <a:avLst/>
          </a:prstGeom>
        </p:spPr>
      </p:pic>
      <p:pic>
        <p:nvPicPr>
          <p:cNvPr id="25" name="Graphic 24" descr="Woman with short afro">
            <a:extLst>
              <a:ext uri="{FF2B5EF4-FFF2-40B4-BE49-F238E27FC236}">
                <a16:creationId xmlns:a16="http://schemas.microsoft.com/office/drawing/2014/main" id="{F98BA698-0D82-4B31-E82F-17DF4661C11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383068" y="4349808"/>
            <a:ext cx="781050" cy="809625"/>
          </a:xfrm>
          <a:prstGeom prst="rect">
            <a:avLst/>
          </a:prstGeom>
        </p:spPr>
      </p:pic>
      <p:pic>
        <p:nvPicPr>
          <p:cNvPr id="26" name="Graphic 25" descr="Boy with twisted hair">
            <a:extLst>
              <a:ext uri="{FF2B5EF4-FFF2-40B4-BE49-F238E27FC236}">
                <a16:creationId xmlns:a16="http://schemas.microsoft.com/office/drawing/2014/main" id="{51E37241-15A1-7964-851F-53CA5BBFBFD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454593" y="4385375"/>
            <a:ext cx="666750" cy="771525"/>
          </a:xfrm>
          <a:prstGeom prst="rect">
            <a:avLst/>
          </a:prstGeom>
        </p:spPr>
      </p:pic>
      <p:sp>
        <p:nvSpPr>
          <p:cNvPr id="27" name="TextBox 26">
            <a:extLst>
              <a:ext uri="{FF2B5EF4-FFF2-40B4-BE49-F238E27FC236}">
                <a16:creationId xmlns:a16="http://schemas.microsoft.com/office/drawing/2014/main" id="{8B9374FC-0D6E-9738-F756-B6098B2C5285}"/>
              </a:ext>
            </a:extLst>
          </p:cNvPr>
          <p:cNvSpPr txBox="1"/>
          <p:nvPr/>
        </p:nvSpPr>
        <p:spPr>
          <a:xfrm>
            <a:off x="4304325" y="4090242"/>
            <a:ext cx="574923" cy="276999"/>
          </a:xfrm>
          <a:prstGeom prst="rect">
            <a:avLst/>
          </a:prstGeom>
          <a:noFill/>
        </p:spPr>
        <p:txBody>
          <a:bodyPr wrap="square" rtlCol="0">
            <a:spAutoFit/>
          </a:bodyPr>
          <a:lstStyle/>
          <a:p>
            <a:r>
              <a:rPr lang="en-US" sz="1200" b="1" dirty="0">
                <a:solidFill>
                  <a:schemeClr val="accent6"/>
                </a:solidFill>
              </a:rPr>
              <a:t>+$10</a:t>
            </a:r>
          </a:p>
        </p:txBody>
      </p:sp>
      <p:sp>
        <p:nvSpPr>
          <p:cNvPr id="28" name="TextBox 27">
            <a:extLst>
              <a:ext uri="{FF2B5EF4-FFF2-40B4-BE49-F238E27FC236}">
                <a16:creationId xmlns:a16="http://schemas.microsoft.com/office/drawing/2014/main" id="{6F2CC698-BFA1-D60C-6A5B-062842C6FB9D}"/>
              </a:ext>
            </a:extLst>
          </p:cNvPr>
          <p:cNvSpPr txBox="1"/>
          <p:nvPr/>
        </p:nvSpPr>
        <p:spPr>
          <a:xfrm>
            <a:off x="5302581" y="4090241"/>
            <a:ext cx="574923" cy="276999"/>
          </a:xfrm>
          <a:prstGeom prst="rect">
            <a:avLst/>
          </a:prstGeom>
          <a:noFill/>
        </p:spPr>
        <p:txBody>
          <a:bodyPr wrap="square" rtlCol="0">
            <a:spAutoFit/>
          </a:bodyPr>
          <a:lstStyle/>
          <a:p>
            <a:r>
              <a:rPr lang="en-US" sz="1200" b="1" dirty="0">
                <a:solidFill>
                  <a:schemeClr val="accent6"/>
                </a:solidFill>
              </a:rPr>
              <a:t>+$10</a:t>
            </a:r>
          </a:p>
        </p:txBody>
      </p:sp>
      <p:sp>
        <p:nvSpPr>
          <p:cNvPr id="29" name="TextBox 28">
            <a:extLst>
              <a:ext uri="{FF2B5EF4-FFF2-40B4-BE49-F238E27FC236}">
                <a16:creationId xmlns:a16="http://schemas.microsoft.com/office/drawing/2014/main" id="{C9DEE294-3AA5-97D5-0E82-67DA049236CD}"/>
              </a:ext>
            </a:extLst>
          </p:cNvPr>
          <p:cNvSpPr txBox="1"/>
          <p:nvPr/>
        </p:nvSpPr>
        <p:spPr>
          <a:xfrm>
            <a:off x="4351380" y="3898564"/>
            <a:ext cx="453454" cy="276999"/>
          </a:xfrm>
          <a:prstGeom prst="rect">
            <a:avLst/>
          </a:prstGeom>
          <a:noFill/>
        </p:spPr>
        <p:txBody>
          <a:bodyPr wrap="square" rtlCol="0">
            <a:spAutoFit/>
          </a:bodyPr>
          <a:lstStyle/>
          <a:p>
            <a:r>
              <a:rPr lang="en-US" sz="1200" b="1" dirty="0">
                <a:solidFill>
                  <a:schemeClr val="accent1"/>
                </a:solidFill>
              </a:rPr>
              <a:t>+$8</a:t>
            </a:r>
          </a:p>
        </p:txBody>
      </p:sp>
      <p:sp>
        <p:nvSpPr>
          <p:cNvPr id="30" name="TextBox 29">
            <a:extLst>
              <a:ext uri="{FF2B5EF4-FFF2-40B4-BE49-F238E27FC236}">
                <a16:creationId xmlns:a16="http://schemas.microsoft.com/office/drawing/2014/main" id="{FBDA8DD1-5075-4B91-1673-230176436BDE}"/>
              </a:ext>
            </a:extLst>
          </p:cNvPr>
          <p:cNvSpPr txBox="1"/>
          <p:nvPr/>
        </p:nvSpPr>
        <p:spPr>
          <a:xfrm>
            <a:off x="5366537" y="3898564"/>
            <a:ext cx="453454" cy="276999"/>
          </a:xfrm>
          <a:prstGeom prst="rect">
            <a:avLst/>
          </a:prstGeom>
          <a:noFill/>
        </p:spPr>
        <p:txBody>
          <a:bodyPr wrap="square" rtlCol="0">
            <a:spAutoFit/>
          </a:bodyPr>
          <a:lstStyle/>
          <a:p>
            <a:r>
              <a:rPr lang="en-US" sz="1200" b="1" dirty="0">
                <a:solidFill>
                  <a:schemeClr val="accent1"/>
                </a:solidFill>
              </a:rPr>
              <a:t>+$8</a:t>
            </a:r>
          </a:p>
        </p:txBody>
      </p:sp>
      <p:sp>
        <p:nvSpPr>
          <p:cNvPr id="31" name="TextBox 30">
            <a:extLst>
              <a:ext uri="{FF2B5EF4-FFF2-40B4-BE49-F238E27FC236}">
                <a16:creationId xmlns:a16="http://schemas.microsoft.com/office/drawing/2014/main" id="{6BED5D91-85DE-8E98-DEF1-944142E7B5CA}"/>
              </a:ext>
            </a:extLst>
          </p:cNvPr>
          <p:cNvSpPr txBox="1"/>
          <p:nvPr/>
        </p:nvSpPr>
        <p:spPr>
          <a:xfrm>
            <a:off x="6438515" y="4074610"/>
            <a:ext cx="453454" cy="276999"/>
          </a:xfrm>
          <a:prstGeom prst="rect">
            <a:avLst/>
          </a:prstGeom>
          <a:noFill/>
        </p:spPr>
        <p:txBody>
          <a:bodyPr wrap="square" rtlCol="0">
            <a:spAutoFit/>
          </a:bodyPr>
          <a:lstStyle/>
          <a:p>
            <a:r>
              <a:rPr lang="en-US" sz="1200" b="1" dirty="0">
                <a:solidFill>
                  <a:schemeClr val="accent1"/>
                </a:solidFill>
              </a:rPr>
              <a:t>+$8</a:t>
            </a:r>
          </a:p>
        </p:txBody>
      </p:sp>
      <p:sp>
        <p:nvSpPr>
          <p:cNvPr id="32" name="TextBox 31">
            <a:extLst>
              <a:ext uri="{FF2B5EF4-FFF2-40B4-BE49-F238E27FC236}">
                <a16:creationId xmlns:a16="http://schemas.microsoft.com/office/drawing/2014/main" id="{0F787578-BD04-6CCC-DE37-7E06348AD408}"/>
              </a:ext>
            </a:extLst>
          </p:cNvPr>
          <p:cNvSpPr txBox="1"/>
          <p:nvPr/>
        </p:nvSpPr>
        <p:spPr>
          <a:xfrm>
            <a:off x="7511877" y="4069536"/>
            <a:ext cx="453454" cy="276999"/>
          </a:xfrm>
          <a:prstGeom prst="rect">
            <a:avLst/>
          </a:prstGeom>
          <a:noFill/>
        </p:spPr>
        <p:txBody>
          <a:bodyPr wrap="square" rtlCol="0">
            <a:spAutoFit/>
          </a:bodyPr>
          <a:lstStyle/>
          <a:p>
            <a:r>
              <a:rPr lang="en-US" sz="1200" b="1" dirty="0">
                <a:solidFill>
                  <a:schemeClr val="accent1"/>
                </a:solidFill>
              </a:rPr>
              <a:t>+$8</a:t>
            </a:r>
          </a:p>
        </p:txBody>
      </p:sp>
      <p:sp>
        <p:nvSpPr>
          <p:cNvPr id="33" name="TextBox 32">
            <a:extLst>
              <a:ext uri="{FF2B5EF4-FFF2-40B4-BE49-F238E27FC236}">
                <a16:creationId xmlns:a16="http://schemas.microsoft.com/office/drawing/2014/main" id="{165B8572-D3C3-1431-EE0E-5FB9597428D1}"/>
              </a:ext>
            </a:extLst>
          </p:cNvPr>
          <p:cNvSpPr txBox="1"/>
          <p:nvPr/>
        </p:nvSpPr>
        <p:spPr>
          <a:xfrm>
            <a:off x="8584547" y="4061808"/>
            <a:ext cx="453454" cy="276999"/>
          </a:xfrm>
          <a:prstGeom prst="rect">
            <a:avLst/>
          </a:prstGeom>
          <a:noFill/>
        </p:spPr>
        <p:txBody>
          <a:bodyPr wrap="square" rtlCol="0">
            <a:spAutoFit/>
          </a:bodyPr>
          <a:lstStyle/>
          <a:p>
            <a:r>
              <a:rPr lang="en-US" sz="1200" b="1" dirty="0">
                <a:solidFill>
                  <a:schemeClr val="accent1"/>
                </a:solidFill>
              </a:rPr>
              <a:t>+$8</a:t>
            </a:r>
          </a:p>
        </p:txBody>
      </p:sp>
      <p:sp>
        <p:nvSpPr>
          <p:cNvPr id="34" name="TextBox 33">
            <a:extLst>
              <a:ext uri="{FF2B5EF4-FFF2-40B4-BE49-F238E27FC236}">
                <a16:creationId xmlns:a16="http://schemas.microsoft.com/office/drawing/2014/main" id="{D3CFDA88-B5E0-5815-AE0F-C43D81C032BD}"/>
              </a:ext>
            </a:extLst>
          </p:cNvPr>
          <p:cNvSpPr txBox="1"/>
          <p:nvPr/>
        </p:nvSpPr>
        <p:spPr>
          <a:xfrm>
            <a:off x="4363357" y="5244014"/>
            <a:ext cx="453454" cy="276999"/>
          </a:xfrm>
          <a:prstGeom prst="rect">
            <a:avLst/>
          </a:prstGeom>
          <a:noFill/>
        </p:spPr>
        <p:txBody>
          <a:bodyPr wrap="square" rtlCol="0">
            <a:spAutoFit/>
          </a:bodyPr>
          <a:lstStyle/>
          <a:p>
            <a:r>
              <a:rPr lang="en-US" sz="1200" b="1" dirty="0">
                <a:solidFill>
                  <a:schemeClr val="accent1"/>
                </a:solidFill>
              </a:rPr>
              <a:t>+$8</a:t>
            </a:r>
          </a:p>
        </p:txBody>
      </p:sp>
      <p:sp>
        <p:nvSpPr>
          <p:cNvPr id="35" name="TextBox 34">
            <a:extLst>
              <a:ext uri="{FF2B5EF4-FFF2-40B4-BE49-F238E27FC236}">
                <a16:creationId xmlns:a16="http://schemas.microsoft.com/office/drawing/2014/main" id="{9C28C894-CDFD-1FE2-594F-A1C208AF2948}"/>
              </a:ext>
            </a:extLst>
          </p:cNvPr>
          <p:cNvSpPr txBox="1"/>
          <p:nvPr/>
        </p:nvSpPr>
        <p:spPr>
          <a:xfrm>
            <a:off x="5389220" y="5266104"/>
            <a:ext cx="453454" cy="276999"/>
          </a:xfrm>
          <a:prstGeom prst="rect">
            <a:avLst/>
          </a:prstGeom>
          <a:noFill/>
        </p:spPr>
        <p:txBody>
          <a:bodyPr wrap="square" rtlCol="0">
            <a:spAutoFit/>
          </a:bodyPr>
          <a:lstStyle/>
          <a:p>
            <a:r>
              <a:rPr lang="en-US" sz="1200" b="1" dirty="0">
                <a:solidFill>
                  <a:schemeClr val="accent1"/>
                </a:solidFill>
              </a:rPr>
              <a:t>+$8</a:t>
            </a:r>
          </a:p>
        </p:txBody>
      </p:sp>
      <p:sp>
        <p:nvSpPr>
          <p:cNvPr id="36" name="TextBox 35">
            <a:extLst>
              <a:ext uri="{FF2B5EF4-FFF2-40B4-BE49-F238E27FC236}">
                <a16:creationId xmlns:a16="http://schemas.microsoft.com/office/drawing/2014/main" id="{6B9A359A-B305-868B-A68A-E9F72FEE7511}"/>
              </a:ext>
            </a:extLst>
          </p:cNvPr>
          <p:cNvSpPr txBox="1"/>
          <p:nvPr/>
        </p:nvSpPr>
        <p:spPr>
          <a:xfrm>
            <a:off x="6370214" y="5265908"/>
            <a:ext cx="453454" cy="276999"/>
          </a:xfrm>
          <a:prstGeom prst="rect">
            <a:avLst/>
          </a:prstGeom>
          <a:noFill/>
        </p:spPr>
        <p:txBody>
          <a:bodyPr wrap="square" rtlCol="0">
            <a:spAutoFit/>
          </a:bodyPr>
          <a:lstStyle/>
          <a:p>
            <a:r>
              <a:rPr lang="en-US" sz="1200" b="1" dirty="0">
                <a:solidFill>
                  <a:schemeClr val="accent1"/>
                </a:solidFill>
              </a:rPr>
              <a:t>+$8</a:t>
            </a:r>
          </a:p>
        </p:txBody>
      </p:sp>
      <p:sp>
        <p:nvSpPr>
          <p:cNvPr id="37" name="TextBox 36">
            <a:extLst>
              <a:ext uri="{FF2B5EF4-FFF2-40B4-BE49-F238E27FC236}">
                <a16:creationId xmlns:a16="http://schemas.microsoft.com/office/drawing/2014/main" id="{A7348679-CBA4-EFAE-04F1-970FF16B38D3}"/>
              </a:ext>
            </a:extLst>
          </p:cNvPr>
          <p:cNvSpPr txBox="1"/>
          <p:nvPr/>
        </p:nvSpPr>
        <p:spPr>
          <a:xfrm>
            <a:off x="7552422" y="5244116"/>
            <a:ext cx="453454" cy="276999"/>
          </a:xfrm>
          <a:prstGeom prst="rect">
            <a:avLst/>
          </a:prstGeom>
          <a:noFill/>
        </p:spPr>
        <p:txBody>
          <a:bodyPr wrap="square" rtlCol="0">
            <a:spAutoFit/>
          </a:bodyPr>
          <a:lstStyle/>
          <a:p>
            <a:r>
              <a:rPr lang="en-US" sz="1200" b="1" dirty="0">
                <a:solidFill>
                  <a:schemeClr val="accent1"/>
                </a:solidFill>
              </a:rPr>
              <a:t>+$8</a:t>
            </a:r>
          </a:p>
        </p:txBody>
      </p:sp>
      <p:sp>
        <p:nvSpPr>
          <p:cNvPr id="38" name="TextBox 37">
            <a:extLst>
              <a:ext uri="{FF2B5EF4-FFF2-40B4-BE49-F238E27FC236}">
                <a16:creationId xmlns:a16="http://schemas.microsoft.com/office/drawing/2014/main" id="{5EC4CE51-9B19-64AE-9B01-9AB8FED0601B}"/>
              </a:ext>
            </a:extLst>
          </p:cNvPr>
          <p:cNvSpPr txBox="1"/>
          <p:nvPr/>
        </p:nvSpPr>
        <p:spPr>
          <a:xfrm>
            <a:off x="8748157" y="5244014"/>
            <a:ext cx="453454" cy="276999"/>
          </a:xfrm>
          <a:prstGeom prst="rect">
            <a:avLst/>
          </a:prstGeom>
          <a:noFill/>
        </p:spPr>
        <p:txBody>
          <a:bodyPr wrap="square" rtlCol="0">
            <a:spAutoFit/>
          </a:bodyPr>
          <a:lstStyle/>
          <a:p>
            <a:r>
              <a:rPr lang="en-US" sz="1200" b="1" dirty="0">
                <a:solidFill>
                  <a:schemeClr val="accent1"/>
                </a:solidFill>
              </a:rPr>
              <a:t>+$8</a:t>
            </a:r>
          </a:p>
        </p:txBody>
      </p:sp>
    </p:spTree>
    <p:extLst>
      <p:ext uri="{BB962C8B-B14F-4D97-AF65-F5344CB8AC3E}">
        <p14:creationId xmlns:p14="http://schemas.microsoft.com/office/powerpoint/2010/main" val="129673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15CD4-532F-B21E-112A-C7635B20CC44}"/>
            </a:ext>
          </a:extLst>
        </p:cNvPr>
        <p:cNvGrpSpPr/>
        <p:nvPr/>
      </p:nvGrpSpPr>
      <p:grpSpPr>
        <a:xfrm>
          <a:off x="0" y="0"/>
          <a:ext cx="0" cy="0"/>
          <a:chOff x="0" y="0"/>
          <a:chExt cx="0" cy="0"/>
        </a:xfrm>
      </p:grpSpPr>
      <p:sp>
        <p:nvSpPr>
          <p:cNvPr id="2" name="textbox 116">
            <a:extLst>
              <a:ext uri="{FF2B5EF4-FFF2-40B4-BE49-F238E27FC236}">
                <a16:creationId xmlns:a16="http://schemas.microsoft.com/office/drawing/2014/main" id="{00C39ABF-9545-BCC5-62AB-169B66EDF0F7}"/>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9" name="TextBox 8">
            <a:extLst>
              <a:ext uri="{FF2B5EF4-FFF2-40B4-BE49-F238E27FC236}">
                <a16:creationId xmlns:a16="http://schemas.microsoft.com/office/drawing/2014/main" id="{D131AAD2-381D-6603-EA53-8BA5CF7A2946}"/>
              </a:ext>
            </a:extLst>
          </p:cNvPr>
          <p:cNvSpPr txBox="1"/>
          <p:nvPr/>
        </p:nvSpPr>
        <p:spPr>
          <a:xfrm>
            <a:off x="396245" y="1326637"/>
            <a:ext cx="3158067" cy="2585323"/>
          </a:xfrm>
          <a:prstGeom prst="rect">
            <a:avLst/>
          </a:prstGeom>
          <a:noFill/>
        </p:spPr>
        <p:txBody>
          <a:bodyPr wrap="square" rtlCol="0">
            <a:spAutoFit/>
          </a:bodyPr>
          <a:lstStyle/>
          <a:p>
            <a:r>
              <a:rPr lang="en-US" dirty="0"/>
              <a:t>As you can see, the individuals that started the mine/business would profit considerably more than other members. </a:t>
            </a:r>
          </a:p>
          <a:p>
            <a:endParaRPr lang="en-US" dirty="0"/>
          </a:p>
          <a:p>
            <a:r>
              <a:rPr lang="en-US" dirty="0"/>
              <a:t>Also notice that the 80% split is a different color meaning it is subject to levels of access.</a:t>
            </a:r>
          </a:p>
        </p:txBody>
      </p:sp>
      <p:pic>
        <p:nvPicPr>
          <p:cNvPr id="11" name="Graphic 10" descr="Woman with afro hair">
            <a:extLst>
              <a:ext uri="{FF2B5EF4-FFF2-40B4-BE49-F238E27FC236}">
                <a16:creationId xmlns:a16="http://schemas.microsoft.com/office/drawing/2014/main" id="{EB982C64-040A-166C-CE87-540A46AD56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54127" y="3033184"/>
            <a:ext cx="1085850" cy="971550"/>
          </a:xfrm>
          <a:prstGeom prst="rect">
            <a:avLst/>
          </a:prstGeom>
        </p:spPr>
      </p:pic>
      <p:pic>
        <p:nvPicPr>
          <p:cNvPr id="13" name="Graphic 12" descr="Woman with top knot">
            <a:extLst>
              <a:ext uri="{FF2B5EF4-FFF2-40B4-BE49-F238E27FC236}">
                <a16:creationId xmlns:a16="http://schemas.microsoft.com/office/drawing/2014/main" id="{C2CC04FF-6C98-8819-4B2D-B234360D05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65793" y="3033184"/>
            <a:ext cx="819150" cy="904875"/>
          </a:xfrm>
          <a:prstGeom prst="rect">
            <a:avLst/>
          </a:prstGeom>
        </p:spPr>
      </p:pic>
      <p:pic>
        <p:nvPicPr>
          <p:cNvPr id="15" name="Graphic 14" descr="Woman wearing a ribbon">
            <a:extLst>
              <a:ext uri="{FF2B5EF4-FFF2-40B4-BE49-F238E27FC236}">
                <a16:creationId xmlns:a16="http://schemas.microsoft.com/office/drawing/2014/main" id="{5DFC5664-4B5E-D721-2BE8-D9E467E32AC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44365" y="3060321"/>
            <a:ext cx="723900" cy="914400"/>
          </a:xfrm>
          <a:prstGeom prst="rect">
            <a:avLst/>
          </a:prstGeom>
        </p:spPr>
      </p:pic>
      <p:pic>
        <p:nvPicPr>
          <p:cNvPr id="17" name="Graphic 16" descr="Woman with cornrows">
            <a:extLst>
              <a:ext uri="{FF2B5EF4-FFF2-40B4-BE49-F238E27FC236}">
                <a16:creationId xmlns:a16="http://schemas.microsoft.com/office/drawing/2014/main" id="{D0677B0C-76E0-F029-A97D-8314A99CE4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70490" y="3111860"/>
            <a:ext cx="781050" cy="885825"/>
          </a:xfrm>
          <a:prstGeom prst="rect">
            <a:avLst/>
          </a:prstGeom>
        </p:spPr>
      </p:pic>
      <p:pic>
        <p:nvPicPr>
          <p:cNvPr id="19" name="Graphic 18" descr="Man with dreads">
            <a:extLst>
              <a:ext uri="{FF2B5EF4-FFF2-40B4-BE49-F238E27FC236}">
                <a16:creationId xmlns:a16="http://schemas.microsoft.com/office/drawing/2014/main" id="{9F394CE5-3EF4-329F-E579-83587B5C2BC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10890" y="3111860"/>
            <a:ext cx="866775" cy="800100"/>
          </a:xfrm>
          <a:prstGeom prst="rect">
            <a:avLst/>
          </a:prstGeom>
        </p:spPr>
      </p:pic>
      <p:pic>
        <p:nvPicPr>
          <p:cNvPr id="21" name="Graphic 20" descr="Woman with buns">
            <a:extLst>
              <a:ext uri="{FF2B5EF4-FFF2-40B4-BE49-F238E27FC236}">
                <a16:creationId xmlns:a16="http://schemas.microsoft.com/office/drawing/2014/main" id="{3954A4C4-DEFD-C320-4D2C-C2433E7A364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10890" y="1945398"/>
            <a:ext cx="762000" cy="819150"/>
          </a:xfrm>
          <a:prstGeom prst="rect">
            <a:avLst/>
          </a:prstGeom>
        </p:spPr>
      </p:pic>
      <p:pic>
        <p:nvPicPr>
          <p:cNvPr id="23" name="Graphic 22" descr="Man with braided hair">
            <a:extLst>
              <a:ext uri="{FF2B5EF4-FFF2-40B4-BE49-F238E27FC236}">
                <a16:creationId xmlns:a16="http://schemas.microsoft.com/office/drawing/2014/main" id="{B4AFCD92-C127-CD26-77D0-15CFEFF40A0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70490" y="1993987"/>
            <a:ext cx="638175" cy="762000"/>
          </a:xfrm>
          <a:prstGeom prst="rect">
            <a:avLst/>
          </a:prstGeom>
        </p:spPr>
      </p:pic>
      <p:pic>
        <p:nvPicPr>
          <p:cNvPr id="24" name="Graphic 23" descr="Woman with long curly hair">
            <a:extLst>
              <a:ext uri="{FF2B5EF4-FFF2-40B4-BE49-F238E27FC236}">
                <a16:creationId xmlns:a16="http://schemas.microsoft.com/office/drawing/2014/main" id="{7F28B918-4FE9-2C8E-1415-A0CFEFFA4AD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01527" y="1939312"/>
            <a:ext cx="1000125" cy="885825"/>
          </a:xfrm>
          <a:prstGeom prst="rect">
            <a:avLst/>
          </a:prstGeom>
        </p:spPr>
      </p:pic>
      <p:pic>
        <p:nvPicPr>
          <p:cNvPr id="25" name="Graphic 24" descr="Woman with short afro">
            <a:extLst>
              <a:ext uri="{FF2B5EF4-FFF2-40B4-BE49-F238E27FC236}">
                <a16:creationId xmlns:a16="http://schemas.microsoft.com/office/drawing/2014/main" id="{0B178705-200C-3C4C-11BD-E34765D26CA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882602" y="1958420"/>
            <a:ext cx="781050" cy="809625"/>
          </a:xfrm>
          <a:prstGeom prst="rect">
            <a:avLst/>
          </a:prstGeom>
        </p:spPr>
      </p:pic>
      <p:pic>
        <p:nvPicPr>
          <p:cNvPr id="26" name="Graphic 25" descr="Boy with twisted hair">
            <a:extLst>
              <a:ext uri="{FF2B5EF4-FFF2-40B4-BE49-F238E27FC236}">
                <a16:creationId xmlns:a16="http://schemas.microsoft.com/office/drawing/2014/main" id="{D23FF05C-D54F-3042-690A-129C5F33012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954127" y="1993987"/>
            <a:ext cx="666750" cy="771525"/>
          </a:xfrm>
          <a:prstGeom prst="rect">
            <a:avLst/>
          </a:prstGeom>
        </p:spPr>
      </p:pic>
      <p:sp>
        <p:nvSpPr>
          <p:cNvPr id="27" name="TextBox 26">
            <a:extLst>
              <a:ext uri="{FF2B5EF4-FFF2-40B4-BE49-F238E27FC236}">
                <a16:creationId xmlns:a16="http://schemas.microsoft.com/office/drawing/2014/main" id="{AA854EC9-711B-1F2D-E6DB-A6230DAA8FF0}"/>
              </a:ext>
            </a:extLst>
          </p:cNvPr>
          <p:cNvSpPr txBox="1"/>
          <p:nvPr/>
        </p:nvSpPr>
        <p:spPr>
          <a:xfrm>
            <a:off x="4803859" y="1698854"/>
            <a:ext cx="574923" cy="276999"/>
          </a:xfrm>
          <a:prstGeom prst="rect">
            <a:avLst/>
          </a:prstGeom>
          <a:noFill/>
        </p:spPr>
        <p:txBody>
          <a:bodyPr wrap="square" rtlCol="0">
            <a:spAutoFit/>
          </a:bodyPr>
          <a:lstStyle/>
          <a:p>
            <a:r>
              <a:rPr lang="en-US" sz="1200" b="1" dirty="0">
                <a:solidFill>
                  <a:schemeClr val="accent6"/>
                </a:solidFill>
              </a:rPr>
              <a:t>+$10</a:t>
            </a:r>
          </a:p>
        </p:txBody>
      </p:sp>
      <p:sp>
        <p:nvSpPr>
          <p:cNvPr id="28" name="TextBox 27">
            <a:extLst>
              <a:ext uri="{FF2B5EF4-FFF2-40B4-BE49-F238E27FC236}">
                <a16:creationId xmlns:a16="http://schemas.microsoft.com/office/drawing/2014/main" id="{A586521E-46C4-2DCA-125A-E69CD98F4B91}"/>
              </a:ext>
            </a:extLst>
          </p:cNvPr>
          <p:cNvSpPr txBox="1"/>
          <p:nvPr/>
        </p:nvSpPr>
        <p:spPr>
          <a:xfrm>
            <a:off x="5802115" y="1698853"/>
            <a:ext cx="574923" cy="276999"/>
          </a:xfrm>
          <a:prstGeom prst="rect">
            <a:avLst/>
          </a:prstGeom>
          <a:noFill/>
        </p:spPr>
        <p:txBody>
          <a:bodyPr wrap="square" rtlCol="0">
            <a:spAutoFit/>
          </a:bodyPr>
          <a:lstStyle/>
          <a:p>
            <a:r>
              <a:rPr lang="en-US" sz="1200" b="1" dirty="0">
                <a:solidFill>
                  <a:schemeClr val="accent6"/>
                </a:solidFill>
              </a:rPr>
              <a:t>+$10</a:t>
            </a:r>
          </a:p>
        </p:txBody>
      </p:sp>
      <p:sp>
        <p:nvSpPr>
          <p:cNvPr id="29" name="TextBox 28">
            <a:extLst>
              <a:ext uri="{FF2B5EF4-FFF2-40B4-BE49-F238E27FC236}">
                <a16:creationId xmlns:a16="http://schemas.microsoft.com/office/drawing/2014/main" id="{48681BC9-F2E8-37DE-831C-16F920BBFC94}"/>
              </a:ext>
            </a:extLst>
          </p:cNvPr>
          <p:cNvSpPr txBox="1"/>
          <p:nvPr/>
        </p:nvSpPr>
        <p:spPr>
          <a:xfrm>
            <a:off x="4850914" y="1507176"/>
            <a:ext cx="453454" cy="276999"/>
          </a:xfrm>
          <a:prstGeom prst="rect">
            <a:avLst/>
          </a:prstGeom>
          <a:noFill/>
        </p:spPr>
        <p:txBody>
          <a:bodyPr wrap="square" rtlCol="0">
            <a:spAutoFit/>
          </a:bodyPr>
          <a:lstStyle/>
          <a:p>
            <a:r>
              <a:rPr lang="en-US" sz="1200" b="1" dirty="0">
                <a:solidFill>
                  <a:schemeClr val="accent1"/>
                </a:solidFill>
              </a:rPr>
              <a:t>+$8</a:t>
            </a:r>
          </a:p>
        </p:txBody>
      </p:sp>
      <p:sp>
        <p:nvSpPr>
          <p:cNvPr id="30" name="TextBox 29">
            <a:extLst>
              <a:ext uri="{FF2B5EF4-FFF2-40B4-BE49-F238E27FC236}">
                <a16:creationId xmlns:a16="http://schemas.microsoft.com/office/drawing/2014/main" id="{003D74AE-87AC-C6AC-A561-1A19E0C6CF2E}"/>
              </a:ext>
            </a:extLst>
          </p:cNvPr>
          <p:cNvSpPr txBox="1"/>
          <p:nvPr/>
        </p:nvSpPr>
        <p:spPr>
          <a:xfrm>
            <a:off x="5866071" y="1507176"/>
            <a:ext cx="453454" cy="276999"/>
          </a:xfrm>
          <a:prstGeom prst="rect">
            <a:avLst/>
          </a:prstGeom>
          <a:noFill/>
        </p:spPr>
        <p:txBody>
          <a:bodyPr wrap="square" rtlCol="0">
            <a:spAutoFit/>
          </a:bodyPr>
          <a:lstStyle/>
          <a:p>
            <a:r>
              <a:rPr lang="en-US" sz="1200" b="1" dirty="0">
                <a:solidFill>
                  <a:schemeClr val="accent1"/>
                </a:solidFill>
              </a:rPr>
              <a:t>+$8</a:t>
            </a:r>
          </a:p>
        </p:txBody>
      </p:sp>
      <p:sp>
        <p:nvSpPr>
          <p:cNvPr id="31" name="TextBox 30">
            <a:extLst>
              <a:ext uri="{FF2B5EF4-FFF2-40B4-BE49-F238E27FC236}">
                <a16:creationId xmlns:a16="http://schemas.microsoft.com/office/drawing/2014/main" id="{E1D70D0C-8AC6-C268-99BF-5AC2461E8F45}"/>
              </a:ext>
            </a:extLst>
          </p:cNvPr>
          <p:cNvSpPr txBox="1"/>
          <p:nvPr/>
        </p:nvSpPr>
        <p:spPr>
          <a:xfrm>
            <a:off x="6938049" y="1683222"/>
            <a:ext cx="453454" cy="276999"/>
          </a:xfrm>
          <a:prstGeom prst="rect">
            <a:avLst/>
          </a:prstGeom>
          <a:noFill/>
        </p:spPr>
        <p:txBody>
          <a:bodyPr wrap="square" rtlCol="0">
            <a:spAutoFit/>
          </a:bodyPr>
          <a:lstStyle/>
          <a:p>
            <a:r>
              <a:rPr lang="en-US" sz="1200" b="1" dirty="0">
                <a:solidFill>
                  <a:schemeClr val="accent1"/>
                </a:solidFill>
              </a:rPr>
              <a:t>+$8</a:t>
            </a:r>
          </a:p>
        </p:txBody>
      </p:sp>
      <p:sp>
        <p:nvSpPr>
          <p:cNvPr id="32" name="TextBox 31">
            <a:extLst>
              <a:ext uri="{FF2B5EF4-FFF2-40B4-BE49-F238E27FC236}">
                <a16:creationId xmlns:a16="http://schemas.microsoft.com/office/drawing/2014/main" id="{46F2AE4B-0DCE-0657-5B17-A8856B2029DB}"/>
              </a:ext>
            </a:extLst>
          </p:cNvPr>
          <p:cNvSpPr txBox="1"/>
          <p:nvPr/>
        </p:nvSpPr>
        <p:spPr>
          <a:xfrm>
            <a:off x="8011411" y="1678148"/>
            <a:ext cx="453454" cy="276999"/>
          </a:xfrm>
          <a:prstGeom prst="rect">
            <a:avLst/>
          </a:prstGeom>
          <a:noFill/>
        </p:spPr>
        <p:txBody>
          <a:bodyPr wrap="square" rtlCol="0">
            <a:spAutoFit/>
          </a:bodyPr>
          <a:lstStyle/>
          <a:p>
            <a:r>
              <a:rPr lang="en-US" sz="1200" b="1" dirty="0">
                <a:solidFill>
                  <a:schemeClr val="accent1"/>
                </a:solidFill>
              </a:rPr>
              <a:t>+$8</a:t>
            </a:r>
          </a:p>
        </p:txBody>
      </p:sp>
      <p:sp>
        <p:nvSpPr>
          <p:cNvPr id="33" name="TextBox 32">
            <a:extLst>
              <a:ext uri="{FF2B5EF4-FFF2-40B4-BE49-F238E27FC236}">
                <a16:creationId xmlns:a16="http://schemas.microsoft.com/office/drawing/2014/main" id="{21AEC8D1-DCC8-9DD9-BEB0-7457A063156F}"/>
              </a:ext>
            </a:extLst>
          </p:cNvPr>
          <p:cNvSpPr txBox="1"/>
          <p:nvPr/>
        </p:nvSpPr>
        <p:spPr>
          <a:xfrm>
            <a:off x="9084081" y="1670420"/>
            <a:ext cx="453454" cy="276999"/>
          </a:xfrm>
          <a:prstGeom prst="rect">
            <a:avLst/>
          </a:prstGeom>
          <a:noFill/>
        </p:spPr>
        <p:txBody>
          <a:bodyPr wrap="square" rtlCol="0">
            <a:spAutoFit/>
          </a:bodyPr>
          <a:lstStyle/>
          <a:p>
            <a:r>
              <a:rPr lang="en-US" sz="1200" b="1" dirty="0">
                <a:solidFill>
                  <a:schemeClr val="accent1"/>
                </a:solidFill>
              </a:rPr>
              <a:t>+$8</a:t>
            </a:r>
          </a:p>
        </p:txBody>
      </p:sp>
      <p:sp>
        <p:nvSpPr>
          <p:cNvPr id="34" name="TextBox 33">
            <a:extLst>
              <a:ext uri="{FF2B5EF4-FFF2-40B4-BE49-F238E27FC236}">
                <a16:creationId xmlns:a16="http://schemas.microsoft.com/office/drawing/2014/main" id="{D9A27EEF-DA68-06D7-8E12-F94AFF4EABB5}"/>
              </a:ext>
            </a:extLst>
          </p:cNvPr>
          <p:cNvSpPr txBox="1"/>
          <p:nvPr/>
        </p:nvSpPr>
        <p:spPr>
          <a:xfrm>
            <a:off x="4862891" y="2852626"/>
            <a:ext cx="453454" cy="276999"/>
          </a:xfrm>
          <a:prstGeom prst="rect">
            <a:avLst/>
          </a:prstGeom>
          <a:noFill/>
        </p:spPr>
        <p:txBody>
          <a:bodyPr wrap="square" rtlCol="0">
            <a:spAutoFit/>
          </a:bodyPr>
          <a:lstStyle/>
          <a:p>
            <a:r>
              <a:rPr lang="en-US" sz="1200" b="1" dirty="0">
                <a:solidFill>
                  <a:schemeClr val="accent1"/>
                </a:solidFill>
              </a:rPr>
              <a:t>+$8</a:t>
            </a:r>
          </a:p>
        </p:txBody>
      </p:sp>
      <p:sp>
        <p:nvSpPr>
          <p:cNvPr id="35" name="TextBox 34">
            <a:extLst>
              <a:ext uri="{FF2B5EF4-FFF2-40B4-BE49-F238E27FC236}">
                <a16:creationId xmlns:a16="http://schemas.microsoft.com/office/drawing/2014/main" id="{5DEF32A7-307F-1F00-7C16-4AAB2CDB0D6A}"/>
              </a:ext>
            </a:extLst>
          </p:cNvPr>
          <p:cNvSpPr txBox="1"/>
          <p:nvPr/>
        </p:nvSpPr>
        <p:spPr>
          <a:xfrm>
            <a:off x="5888754" y="2874716"/>
            <a:ext cx="453454" cy="276999"/>
          </a:xfrm>
          <a:prstGeom prst="rect">
            <a:avLst/>
          </a:prstGeom>
          <a:noFill/>
        </p:spPr>
        <p:txBody>
          <a:bodyPr wrap="square" rtlCol="0">
            <a:spAutoFit/>
          </a:bodyPr>
          <a:lstStyle/>
          <a:p>
            <a:r>
              <a:rPr lang="en-US" sz="1200" b="1" dirty="0">
                <a:solidFill>
                  <a:schemeClr val="accent1"/>
                </a:solidFill>
              </a:rPr>
              <a:t>+$8</a:t>
            </a:r>
          </a:p>
        </p:txBody>
      </p:sp>
      <p:sp>
        <p:nvSpPr>
          <p:cNvPr id="36" name="TextBox 35">
            <a:extLst>
              <a:ext uri="{FF2B5EF4-FFF2-40B4-BE49-F238E27FC236}">
                <a16:creationId xmlns:a16="http://schemas.microsoft.com/office/drawing/2014/main" id="{1315D2B7-0E35-878C-DA6F-3EE2ACE49BF3}"/>
              </a:ext>
            </a:extLst>
          </p:cNvPr>
          <p:cNvSpPr txBox="1"/>
          <p:nvPr/>
        </p:nvSpPr>
        <p:spPr>
          <a:xfrm>
            <a:off x="6869748" y="2874520"/>
            <a:ext cx="453454" cy="276999"/>
          </a:xfrm>
          <a:prstGeom prst="rect">
            <a:avLst/>
          </a:prstGeom>
          <a:noFill/>
        </p:spPr>
        <p:txBody>
          <a:bodyPr wrap="square" rtlCol="0">
            <a:spAutoFit/>
          </a:bodyPr>
          <a:lstStyle/>
          <a:p>
            <a:r>
              <a:rPr lang="en-US" sz="1200" b="1" dirty="0">
                <a:solidFill>
                  <a:schemeClr val="accent1"/>
                </a:solidFill>
              </a:rPr>
              <a:t>+$8</a:t>
            </a:r>
          </a:p>
        </p:txBody>
      </p:sp>
      <p:sp>
        <p:nvSpPr>
          <p:cNvPr id="37" name="TextBox 36">
            <a:extLst>
              <a:ext uri="{FF2B5EF4-FFF2-40B4-BE49-F238E27FC236}">
                <a16:creationId xmlns:a16="http://schemas.microsoft.com/office/drawing/2014/main" id="{69342654-1434-07F4-58BF-9B7C39B12CC4}"/>
              </a:ext>
            </a:extLst>
          </p:cNvPr>
          <p:cNvSpPr txBox="1"/>
          <p:nvPr/>
        </p:nvSpPr>
        <p:spPr>
          <a:xfrm>
            <a:off x="8051956" y="2852728"/>
            <a:ext cx="453454" cy="276999"/>
          </a:xfrm>
          <a:prstGeom prst="rect">
            <a:avLst/>
          </a:prstGeom>
          <a:noFill/>
        </p:spPr>
        <p:txBody>
          <a:bodyPr wrap="square" rtlCol="0">
            <a:spAutoFit/>
          </a:bodyPr>
          <a:lstStyle/>
          <a:p>
            <a:r>
              <a:rPr lang="en-US" sz="1200" b="1" dirty="0">
                <a:solidFill>
                  <a:schemeClr val="accent1"/>
                </a:solidFill>
              </a:rPr>
              <a:t>+$8</a:t>
            </a:r>
          </a:p>
        </p:txBody>
      </p:sp>
      <p:sp>
        <p:nvSpPr>
          <p:cNvPr id="38" name="TextBox 37">
            <a:extLst>
              <a:ext uri="{FF2B5EF4-FFF2-40B4-BE49-F238E27FC236}">
                <a16:creationId xmlns:a16="http://schemas.microsoft.com/office/drawing/2014/main" id="{DF0F6C9A-FE74-7E75-32AB-1D359B1E6973}"/>
              </a:ext>
            </a:extLst>
          </p:cNvPr>
          <p:cNvSpPr txBox="1"/>
          <p:nvPr/>
        </p:nvSpPr>
        <p:spPr>
          <a:xfrm>
            <a:off x="9247691" y="2852626"/>
            <a:ext cx="453454" cy="276999"/>
          </a:xfrm>
          <a:prstGeom prst="rect">
            <a:avLst/>
          </a:prstGeom>
          <a:noFill/>
        </p:spPr>
        <p:txBody>
          <a:bodyPr wrap="square" rtlCol="0">
            <a:spAutoFit/>
          </a:bodyPr>
          <a:lstStyle/>
          <a:p>
            <a:r>
              <a:rPr lang="en-US" sz="1200" b="1" dirty="0">
                <a:solidFill>
                  <a:schemeClr val="accent1"/>
                </a:solidFill>
              </a:rPr>
              <a:t>+$8</a:t>
            </a:r>
          </a:p>
        </p:txBody>
      </p:sp>
      <p:sp>
        <p:nvSpPr>
          <p:cNvPr id="39" name="TextBox 38">
            <a:extLst>
              <a:ext uri="{FF2B5EF4-FFF2-40B4-BE49-F238E27FC236}">
                <a16:creationId xmlns:a16="http://schemas.microsoft.com/office/drawing/2014/main" id="{8B21D66A-76AD-EDB6-537F-7E1137ABF132}"/>
              </a:ext>
            </a:extLst>
          </p:cNvPr>
          <p:cNvSpPr txBox="1"/>
          <p:nvPr/>
        </p:nvSpPr>
        <p:spPr>
          <a:xfrm>
            <a:off x="408723" y="4032864"/>
            <a:ext cx="10140744" cy="2585323"/>
          </a:xfrm>
          <a:prstGeom prst="rect">
            <a:avLst/>
          </a:prstGeom>
          <a:noFill/>
        </p:spPr>
        <p:txBody>
          <a:bodyPr wrap="square" rtlCol="0">
            <a:spAutoFit/>
          </a:bodyPr>
          <a:lstStyle/>
          <a:p>
            <a:r>
              <a:rPr lang="en-US" dirty="0"/>
              <a:t>Many have asked why we have decided to use this distribution structure, and some have even asserted that no one would agree to this structure. I do understand why that is the question, and why some would think this way, but the answer is simple, and the assertion is short-sighted. The answer is for freedom, if we all chose to work together, we could create a communal freedom, the problem was always the getting everyone to work together part, with this method of distribution it allows us to work together seamlessly while simultaneously pursuing our personal goals. The assertion is short-sighted because the example given only looked at 1 business that generated a net profit of $100. What if it generated $100,000, and what if there were 1000 businesses doing the same thing? We would have a stable source of resources to grow together stronger.</a:t>
            </a:r>
          </a:p>
        </p:txBody>
      </p:sp>
    </p:spTree>
    <p:extLst>
      <p:ext uri="{BB962C8B-B14F-4D97-AF65-F5344CB8AC3E}">
        <p14:creationId xmlns:p14="http://schemas.microsoft.com/office/powerpoint/2010/main" val="980517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B9DBF81D-673F-846F-E556-339F96F75A29}"/>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EAF45D15-D352-1785-1756-D1A74B21B94F}"/>
              </a:ext>
            </a:extLst>
          </p:cNvPr>
          <p:cNvSpPr txBox="1"/>
          <p:nvPr/>
        </p:nvSpPr>
        <p:spPr>
          <a:xfrm>
            <a:off x="139700" y="1278467"/>
            <a:ext cx="11849100" cy="5170646"/>
          </a:xfrm>
          <a:prstGeom prst="rect">
            <a:avLst/>
          </a:prstGeom>
          <a:noFill/>
        </p:spPr>
        <p:txBody>
          <a:bodyPr wrap="square" rtlCol="0">
            <a:spAutoFit/>
          </a:bodyPr>
          <a:lstStyle/>
          <a:p>
            <a:r>
              <a:rPr lang="en-US" sz="2400" b="1" u="sng" dirty="0"/>
              <a:t>Levels of Access</a:t>
            </a:r>
            <a:endParaRPr lang="en-US" dirty="0"/>
          </a:p>
          <a:p>
            <a:r>
              <a:rPr lang="en-US" dirty="0"/>
              <a:t>It might come at no surprise that some may choose to exploit systems created to help facilitate consistent improvement. Which is why Levels of Access were created in the first place. To prevent our members from being exploited in similar ways, Levels of Access ensure that our resources are being used to support the members that contribute to us as a whole. I say resources because even though initially this will primarily look like it is predominantly financial, but in the long-term vision this will encompass all resources we acquire. </a:t>
            </a:r>
          </a:p>
          <a:p>
            <a:endParaRPr lang="en-US" dirty="0"/>
          </a:p>
          <a:p>
            <a:r>
              <a:rPr lang="en-US" dirty="0"/>
              <a:t>From food, to raw materials, to alpha/beta products, Levels of Access is what communicates what each member has unlocked for their personal usage. It is designed to gradually unlock as the member experiences life. Earlier levels will be easier to achieve than later levels by design, we want to support our members as soon as possible so contribution is meant to be easy to obtain but exponentially decrease in efficacy towards levelling up. </a:t>
            </a:r>
          </a:p>
          <a:p>
            <a:endParaRPr lang="en-US" dirty="0"/>
          </a:p>
          <a:p>
            <a:r>
              <a:rPr lang="en-US" dirty="0"/>
              <a:t>This is meant to encourage our members to continue to strive beyond their limitations, but it is not unlikely that some of our members will become content with where they find themselves before reaching their peak. Though unfortunate, it may be a temporary development, and those members will still retain access to their previously unlocked levels. Sometimes we need a break, and we shouldn’t be punished for taking one either.</a:t>
            </a:r>
          </a:p>
          <a:p>
            <a:endParaRPr lang="en-US" dirty="0"/>
          </a:p>
          <a:p>
            <a:r>
              <a:rPr lang="en-US" dirty="0"/>
              <a:t>Let’s visualize the Levels of Access…</a:t>
            </a:r>
          </a:p>
        </p:txBody>
      </p:sp>
    </p:spTree>
    <p:extLst>
      <p:ext uri="{BB962C8B-B14F-4D97-AF65-F5344CB8AC3E}">
        <p14:creationId xmlns:p14="http://schemas.microsoft.com/office/powerpoint/2010/main" val="2220885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30F6B5DE-07F2-BED1-E18C-F51737BDA930}"/>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31AE5A5B-C52D-BF21-6BA7-4C5790E8DD39}"/>
              </a:ext>
            </a:extLst>
          </p:cNvPr>
          <p:cNvSpPr txBox="1"/>
          <p:nvPr/>
        </p:nvSpPr>
        <p:spPr>
          <a:xfrm>
            <a:off x="59266" y="1346201"/>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1</a:t>
            </a:r>
          </a:p>
          <a:p>
            <a:pPr marL="742950" lvl="1" indent="-285750">
              <a:buFont typeface="Arial" panose="020B0604020202020204" pitchFamily="34" charset="0"/>
              <a:buChar char="•"/>
            </a:pPr>
            <a:r>
              <a:rPr lang="en-US" dirty="0"/>
              <a:t>Rank 36</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35</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34</a:t>
            </a:r>
          </a:p>
          <a:p>
            <a:pPr marL="1200150" lvl="2" indent="-285750">
              <a:buFont typeface="Arial" panose="020B0604020202020204" pitchFamily="34" charset="0"/>
              <a:buChar char="•"/>
            </a:pPr>
            <a:r>
              <a:rPr lang="en-US" dirty="0"/>
              <a:t>Degree 9 – 0 </a:t>
            </a:r>
          </a:p>
          <a:p>
            <a:endParaRPr lang="en-US" dirty="0"/>
          </a:p>
          <a:p>
            <a:r>
              <a:rPr lang="en-US" dirty="0"/>
              <a:t>8% Level of Access</a:t>
            </a:r>
          </a:p>
        </p:txBody>
      </p:sp>
      <p:sp>
        <p:nvSpPr>
          <p:cNvPr id="4" name="TextBox 3">
            <a:extLst>
              <a:ext uri="{FF2B5EF4-FFF2-40B4-BE49-F238E27FC236}">
                <a16:creationId xmlns:a16="http://schemas.microsoft.com/office/drawing/2014/main" id="{DCD6CEB3-96B2-733B-8EB9-5B9D44EFC5E2}"/>
              </a:ext>
            </a:extLst>
          </p:cNvPr>
          <p:cNvSpPr txBox="1"/>
          <p:nvPr/>
        </p:nvSpPr>
        <p:spPr>
          <a:xfrm>
            <a:off x="3166532" y="1346200"/>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2</a:t>
            </a:r>
          </a:p>
          <a:p>
            <a:pPr marL="742950" lvl="1" indent="-285750">
              <a:buFont typeface="Arial" panose="020B0604020202020204" pitchFamily="34" charset="0"/>
              <a:buChar char="•"/>
            </a:pPr>
            <a:r>
              <a:rPr lang="en-US" dirty="0"/>
              <a:t>Rank 33</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32</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31</a:t>
            </a:r>
          </a:p>
          <a:p>
            <a:pPr marL="1200150" lvl="2" indent="-285750">
              <a:buFont typeface="Arial" panose="020B0604020202020204" pitchFamily="34" charset="0"/>
              <a:buChar char="•"/>
            </a:pPr>
            <a:r>
              <a:rPr lang="en-US" dirty="0"/>
              <a:t>Degree 9 – 0 </a:t>
            </a:r>
          </a:p>
          <a:p>
            <a:endParaRPr lang="en-US" dirty="0"/>
          </a:p>
          <a:p>
            <a:r>
              <a:rPr lang="en-US" dirty="0"/>
              <a:t>16% Level of Access</a:t>
            </a:r>
          </a:p>
        </p:txBody>
      </p:sp>
      <p:sp>
        <p:nvSpPr>
          <p:cNvPr id="5" name="TextBox 4">
            <a:extLst>
              <a:ext uri="{FF2B5EF4-FFF2-40B4-BE49-F238E27FC236}">
                <a16:creationId xmlns:a16="http://schemas.microsoft.com/office/drawing/2014/main" id="{777CE4DC-F523-1743-5EC9-E187B80D8F08}"/>
              </a:ext>
            </a:extLst>
          </p:cNvPr>
          <p:cNvSpPr txBox="1"/>
          <p:nvPr/>
        </p:nvSpPr>
        <p:spPr>
          <a:xfrm>
            <a:off x="6273798" y="1346200"/>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3</a:t>
            </a:r>
          </a:p>
          <a:p>
            <a:pPr marL="742950" lvl="1" indent="-285750">
              <a:buFont typeface="Arial" panose="020B0604020202020204" pitchFamily="34" charset="0"/>
              <a:buChar char="•"/>
            </a:pPr>
            <a:r>
              <a:rPr lang="en-US" dirty="0"/>
              <a:t>Rank 30</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29</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28</a:t>
            </a:r>
          </a:p>
          <a:p>
            <a:pPr marL="1200150" lvl="2" indent="-285750">
              <a:buFont typeface="Arial" panose="020B0604020202020204" pitchFamily="34" charset="0"/>
              <a:buChar char="•"/>
            </a:pPr>
            <a:r>
              <a:rPr lang="en-US" dirty="0"/>
              <a:t>Degree 9 – 0 </a:t>
            </a:r>
          </a:p>
          <a:p>
            <a:endParaRPr lang="en-US" dirty="0"/>
          </a:p>
          <a:p>
            <a:r>
              <a:rPr lang="en-US" dirty="0"/>
              <a:t>24% Level of Access</a:t>
            </a:r>
          </a:p>
        </p:txBody>
      </p:sp>
      <p:sp>
        <p:nvSpPr>
          <p:cNvPr id="6" name="TextBox 5">
            <a:extLst>
              <a:ext uri="{FF2B5EF4-FFF2-40B4-BE49-F238E27FC236}">
                <a16:creationId xmlns:a16="http://schemas.microsoft.com/office/drawing/2014/main" id="{59AF823A-BAAE-E996-3997-BAB6A0DBDB2C}"/>
              </a:ext>
            </a:extLst>
          </p:cNvPr>
          <p:cNvSpPr txBox="1"/>
          <p:nvPr/>
        </p:nvSpPr>
        <p:spPr>
          <a:xfrm>
            <a:off x="9381064" y="1346199"/>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4</a:t>
            </a:r>
          </a:p>
          <a:p>
            <a:pPr marL="742950" lvl="1" indent="-285750">
              <a:buFont typeface="Arial" panose="020B0604020202020204" pitchFamily="34" charset="0"/>
              <a:buChar char="•"/>
            </a:pPr>
            <a:r>
              <a:rPr lang="en-US" dirty="0"/>
              <a:t>Rank 27</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26</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25</a:t>
            </a:r>
          </a:p>
          <a:p>
            <a:pPr marL="1200150" lvl="2" indent="-285750">
              <a:buFont typeface="Arial" panose="020B0604020202020204" pitchFamily="34" charset="0"/>
              <a:buChar char="•"/>
            </a:pPr>
            <a:r>
              <a:rPr lang="en-US" dirty="0"/>
              <a:t>Degree 9 – 0 </a:t>
            </a:r>
          </a:p>
          <a:p>
            <a:endParaRPr lang="en-US" dirty="0"/>
          </a:p>
          <a:p>
            <a:r>
              <a:rPr lang="en-US" dirty="0"/>
              <a:t>32% Level of Access</a:t>
            </a:r>
          </a:p>
        </p:txBody>
      </p:sp>
      <p:sp>
        <p:nvSpPr>
          <p:cNvPr id="7" name="TextBox 6">
            <a:extLst>
              <a:ext uri="{FF2B5EF4-FFF2-40B4-BE49-F238E27FC236}">
                <a16:creationId xmlns:a16="http://schemas.microsoft.com/office/drawing/2014/main" id="{A9C79009-310F-C295-B250-8EA8B6C748A6}"/>
              </a:ext>
            </a:extLst>
          </p:cNvPr>
          <p:cNvSpPr txBox="1"/>
          <p:nvPr/>
        </p:nvSpPr>
        <p:spPr>
          <a:xfrm>
            <a:off x="29633" y="4134722"/>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5</a:t>
            </a:r>
          </a:p>
          <a:p>
            <a:pPr marL="742950" lvl="1" indent="-285750">
              <a:buFont typeface="Arial" panose="020B0604020202020204" pitchFamily="34" charset="0"/>
              <a:buChar char="•"/>
            </a:pPr>
            <a:r>
              <a:rPr lang="en-US" dirty="0"/>
              <a:t>Rank 24</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23</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22</a:t>
            </a:r>
          </a:p>
          <a:p>
            <a:pPr marL="1200150" lvl="2" indent="-285750">
              <a:buFont typeface="Arial" panose="020B0604020202020204" pitchFamily="34" charset="0"/>
              <a:buChar char="•"/>
            </a:pPr>
            <a:r>
              <a:rPr lang="en-US" dirty="0"/>
              <a:t>Degree 9 – 0 </a:t>
            </a:r>
          </a:p>
          <a:p>
            <a:endParaRPr lang="en-US" dirty="0"/>
          </a:p>
          <a:p>
            <a:r>
              <a:rPr lang="en-US" dirty="0"/>
              <a:t>40% Level of Access</a:t>
            </a:r>
          </a:p>
        </p:txBody>
      </p:sp>
      <p:sp>
        <p:nvSpPr>
          <p:cNvPr id="8" name="TextBox 7">
            <a:extLst>
              <a:ext uri="{FF2B5EF4-FFF2-40B4-BE49-F238E27FC236}">
                <a16:creationId xmlns:a16="http://schemas.microsoft.com/office/drawing/2014/main" id="{C807DD6E-B8C0-67DD-0B85-C13E9C9DB37D}"/>
              </a:ext>
            </a:extLst>
          </p:cNvPr>
          <p:cNvSpPr txBox="1"/>
          <p:nvPr/>
        </p:nvSpPr>
        <p:spPr>
          <a:xfrm>
            <a:off x="3136899" y="4134721"/>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6</a:t>
            </a:r>
          </a:p>
          <a:p>
            <a:pPr marL="742950" lvl="1" indent="-285750">
              <a:buFont typeface="Arial" panose="020B0604020202020204" pitchFamily="34" charset="0"/>
              <a:buChar char="•"/>
            </a:pPr>
            <a:r>
              <a:rPr lang="en-US" dirty="0"/>
              <a:t>Rank 21</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20</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19</a:t>
            </a:r>
          </a:p>
          <a:p>
            <a:pPr marL="1200150" lvl="2" indent="-285750">
              <a:buFont typeface="Arial" panose="020B0604020202020204" pitchFamily="34" charset="0"/>
              <a:buChar char="•"/>
            </a:pPr>
            <a:r>
              <a:rPr lang="en-US" dirty="0"/>
              <a:t>Degree 9 – 0 </a:t>
            </a:r>
          </a:p>
          <a:p>
            <a:endParaRPr lang="en-US" dirty="0"/>
          </a:p>
          <a:p>
            <a:r>
              <a:rPr lang="en-US" dirty="0"/>
              <a:t>48% Level of Access</a:t>
            </a:r>
          </a:p>
        </p:txBody>
      </p:sp>
      <p:sp>
        <p:nvSpPr>
          <p:cNvPr id="9" name="TextBox 8">
            <a:extLst>
              <a:ext uri="{FF2B5EF4-FFF2-40B4-BE49-F238E27FC236}">
                <a16:creationId xmlns:a16="http://schemas.microsoft.com/office/drawing/2014/main" id="{3B930868-0A63-1292-876B-C64E21E7F0B0}"/>
              </a:ext>
            </a:extLst>
          </p:cNvPr>
          <p:cNvSpPr txBox="1"/>
          <p:nvPr/>
        </p:nvSpPr>
        <p:spPr>
          <a:xfrm>
            <a:off x="6244165" y="4134721"/>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7</a:t>
            </a:r>
          </a:p>
          <a:p>
            <a:pPr marL="742950" lvl="1" indent="-285750">
              <a:buFont typeface="Arial" panose="020B0604020202020204" pitchFamily="34" charset="0"/>
              <a:buChar char="•"/>
            </a:pPr>
            <a:r>
              <a:rPr lang="en-US" dirty="0"/>
              <a:t>Rank 18</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17</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16</a:t>
            </a:r>
          </a:p>
          <a:p>
            <a:pPr marL="1200150" lvl="2" indent="-285750">
              <a:buFont typeface="Arial" panose="020B0604020202020204" pitchFamily="34" charset="0"/>
              <a:buChar char="•"/>
            </a:pPr>
            <a:r>
              <a:rPr lang="en-US" dirty="0"/>
              <a:t>Degree 9 – 0 </a:t>
            </a:r>
          </a:p>
          <a:p>
            <a:endParaRPr lang="en-US" dirty="0"/>
          </a:p>
          <a:p>
            <a:r>
              <a:rPr lang="en-US" dirty="0"/>
              <a:t>56% Level of Access</a:t>
            </a:r>
          </a:p>
        </p:txBody>
      </p:sp>
      <p:sp>
        <p:nvSpPr>
          <p:cNvPr id="10" name="TextBox 9">
            <a:extLst>
              <a:ext uri="{FF2B5EF4-FFF2-40B4-BE49-F238E27FC236}">
                <a16:creationId xmlns:a16="http://schemas.microsoft.com/office/drawing/2014/main" id="{525E1847-9FE3-DE3F-ABA3-CA506B7520D2}"/>
              </a:ext>
            </a:extLst>
          </p:cNvPr>
          <p:cNvSpPr txBox="1"/>
          <p:nvPr/>
        </p:nvSpPr>
        <p:spPr>
          <a:xfrm>
            <a:off x="9351431" y="4134720"/>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8</a:t>
            </a:r>
          </a:p>
          <a:p>
            <a:pPr marL="742950" lvl="1" indent="-285750">
              <a:buFont typeface="Arial" panose="020B0604020202020204" pitchFamily="34" charset="0"/>
              <a:buChar char="•"/>
            </a:pPr>
            <a:r>
              <a:rPr lang="en-US" dirty="0"/>
              <a:t>Rank 15</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14</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13</a:t>
            </a:r>
          </a:p>
          <a:p>
            <a:pPr marL="1200150" lvl="2" indent="-285750">
              <a:buFont typeface="Arial" panose="020B0604020202020204" pitchFamily="34" charset="0"/>
              <a:buChar char="•"/>
            </a:pPr>
            <a:r>
              <a:rPr lang="en-US" dirty="0"/>
              <a:t>Degree 9 – 0 </a:t>
            </a:r>
          </a:p>
          <a:p>
            <a:endParaRPr lang="en-US" dirty="0"/>
          </a:p>
          <a:p>
            <a:r>
              <a:rPr lang="en-US" dirty="0"/>
              <a:t>64% Level of Access</a:t>
            </a:r>
          </a:p>
        </p:txBody>
      </p:sp>
    </p:spTree>
    <p:extLst>
      <p:ext uri="{BB962C8B-B14F-4D97-AF65-F5344CB8AC3E}">
        <p14:creationId xmlns:p14="http://schemas.microsoft.com/office/powerpoint/2010/main" val="1430826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7EC69-011D-8155-967B-1F5C375EC62B}"/>
            </a:ext>
          </a:extLst>
        </p:cNvPr>
        <p:cNvGrpSpPr/>
        <p:nvPr/>
      </p:nvGrpSpPr>
      <p:grpSpPr>
        <a:xfrm>
          <a:off x="0" y="0"/>
          <a:ext cx="0" cy="0"/>
          <a:chOff x="0" y="0"/>
          <a:chExt cx="0" cy="0"/>
        </a:xfrm>
      </p:grpSpPr>
      <p:sp>
        <p:nvSpPr>
          <p:cNvPr id="2" name="textbox 116">
            <a:extLst>
              <a:ext uri="{FF2B5EF4-FFF2-40B4-BE49-F238E27FC236}">
                <a16:creationId xmlns:a16="http://schemas.microsoft.com/office/drawing/2014/main" id="{9E63E93A-650B-BD18-3D01-7D679EC2C4B5}"/>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F689F66A-DDA9-8DAA-43D7-2363E08808DD}"/>
              </a:ext>
            </a:extLst>
          </p:cNvPr>
          <p:cNvSpPr txBox="1"/>
          <p:nvPr/>
        </p:nvSpPr>
        <p:spPr>
          <a:xfrm>
            <a:off x="59266" y="1346201"/>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9</a:t>
            </a:r>
          </a:p>
          <a:p>
            <a:pPr marL="742950" lvl="1" indent="-285750">
              <a:buFont typeface="Arial" panose="020B0604020202020204" pitchFamily="34" charset="0"/>
              <a:buChar char="•"/>
            </a:pPr>
            <a:r>
              <a:rPr lang="en-US" dirty="0"/>
              <a:t>Rank 12</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11</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10</a:t>
            </a:r>
          </a:p>
          <a:p>
            <a:pPr marL="1200150" lvl="2" indent="-285750">
              <a:buFont typeface="Arial" panose="020B0604020202020204" pitchFamily="34" charset="0"/>
              <a:buChar char="•"/>
            </a:pPr>
            <a:r>
              <a:rPr lang="en-US" dirty="0"/>
              <a:t>Degree 9 – 0 </a:t>
            </a:r>
          </a:p>
          <a:p>
            <a:endParaRPr lang="en-US" dirty="0"/>
          </a:p>
          <a:p>
            <a:r>
              <a:rPr lang="en-US" dirty="0"/>
              <a:t>72% Level of Access</a:t>
            </a:r>
          </a:p>
        </p:txBody>
      </p:sp>
      <p:sp>
        <p:nvSpPr>
          <p:cNvPr id="4" name="TextBox 3">
            <a:extLst>
              <a:ext uri="{FF2B5EF4-FFF2-40B4-BE49-F238E27FC236}">
                <a16:creationId xmlns:a16="http://schemas.microsoft.com/office/drawing/2014/main" id="{F64F6319-BDC2-16D7-5AE2-A2BD7ED1E0E3}"/>
              </a:ext>
            </a:extLst>
          </p:cNvPr>
          <p:cNvSpPr txBox="1"/>
          <p:nvPr/>
        </p:nvSpPr>
        <p:spPr>
          <a:xfrm>
            <a:off x="3166532" y="1346200"/>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10</a:t>
            </a:r>
          </a:p>
          <a:p>
            <a:pPr marL="742950" lvl="1" indent="-285750">
              <a:buFont typeface="Arial" panose="020B0604020202020204" pitchFamily="34" charset="0"/>
              <a:buChar char="•"/>
            </a:pPr>
            <a:r>
              <a:rPr lang="en-US" dirty="0"/>
              <a:t>Rank 9</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8</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7</a:t>
            </a:r>
          </a:p>
          <a:p>
            <a:pPr marL="1200150" lvl="2" indent="-285750">
              <a:buFont typeface="Arial" panose="020B0604020202020204" pitchFamily="34" charset="0"/>
              <a:buChar char="•"/>
            </a:pPr>
            <a:r>
              <a:rPr lang="en-US" dirty="0"/>
              <a:t>Degree 9 – 0 </a:t>
            </a:r>
          </a:p>
          <a:p>
            <a:endParaRPr lang="en-US" dirty="0"/>
          </a:p>
          <a:p>
            <a:r>
              <a:rPr lang="en-US" dirty="0"/>
              <a:t>80% Level of Access</a:t>
            </a:r>
          </a:p>
        </p:txBody>
      </p:sp>
      <p:sp>
        <p:nvSpPr>
          <p:cNvPr id="5" name="TextBox 4">
            <a:extLst>
              <a:ext uri="{FF2B5EF4-FFF2-40B4-BE49-F238E27FC236}">
                <a16:creationId xmlns:a16="http://schemas.microsoft.com/office/drawing/2014/main" id="{2F564DDF-8692-72B9-106B-E84A6A2AC4D7}"/>
              </a:ext>
            </a:extLst>
          </p:cNvPr>
          <p:cNvSpPr txBox="1"/>
          <p:nvPr/>
        </p:nvSpPr>
        <p:spPr>
          <a:xfrm>
            <a:off x="6273798" y="1346200"/>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11</a:t>
            </a:r>
          </a:p>
          <a:p>
            <a:pPr marL="742950" lvl="1" indent="-285750">
              <a:buFont typeface="Arial" panose="020B0604020202020204" pitchFamily="34" charset="0"/>
              <a:buChar char="•"/>
            </a:pPr>
            <a:r>
              <a:rPr lang="en-US" dirty="0"/>
              <a:t>Rank 6</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5</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4</a:t>
            </a:r>
          </a:p>
          <a:p>
            <a:pPr marL="1200150" lvl="2" indent="-285750">
              <a:buFont typeface="Arial" panose="020B0604020202020204" pitchFamily="34" charset="0"/>
              <a:buChar char="•"/>
            </a:pPr>
            <a:r>
              <a:rPr lang="en-US" dirty="0"/>
              <a:t>Degree 9 – 0 </a:t>
            </a:r>
          </a:p>
          <a:p>
            <a:endParaRPr lang="en-US" dirty="0"/>
          </a:p>
          <a:p>
            <a:r>
              <a:rPr lang="en-US" dirty="0"/>
              <a:t>88% Level of Access</a:t>
            </a:r>
          </a:p>
        </p:txBody>
      </p:sp>
      <p:sp>
        <p:nvSpPr>
          <p:cNvPr id="6" name="TextBox 5">
            <a:extLst>
              <a:ext uri="{FF2B5EF4-FFF2-40B4-BE49-F238E27FC236}">
                <a16:creationId xmlns:a16="http://schemas.microsoft.com/office/drawing/2014/main" id="{DCFD3F76-17AC-5162-5845-2BA8EE0A72A7}"/>
              </a:ext>
            </a:extLst>
          </p:cNvPr>
          <p:cNvSpPr txBox="1"/>
          <p:nvPr/>
        </p:nvSpPr>
        <p:spPr>
          <a:xfrm>
            <a:off x="9381064" y="1346199"/>
            <a:ext cx="276436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Level 12</a:t>
            </a:r>
          </a:p>
          <a:p>
            <a:pPr marL="742950" lvl="1" indent="-285750">
              <a:buFont typeface="Arial" panose="020B0604020202020204" pitchFamily="34" charset="0"/>
              <a:buChar char="•"/>
            </a:pPr>
            <a:r>
              <a:rPr lang="en-US" dirty="0"/>
              <a:t>Rank 3</a:t>
            </a:r>
          </a:p>
          <a:p>
            <a:pPr marL="1200150" lvl="2" indent="-285750">
              <a:buFont typeface="Arial" panose="020B0604020202020204" pitchFamily="34" charset="0"/>
              <a:buChar char="•"/>
            </a:pPr>
            <a:r>
              <a:rPr lang="en-US" dirty="0"/>
              <a:t>Degree 9 – 0</a:t>
            </a:r>
          </a:p>
          <a:p>
            <a:pPr marL="742950" lvl="1" indent="-285750">
              <a:buFont typeface="Arial" panose="020B0604020202020204" pitchFamily="34" charset="0"/>
              <a:buChar char="•"/>
            </a:pPr>
            <a:r>
              <a:rPr lang="en-US" dirty="0"/>
              <a:t>Rank 2</a:t>
            </a:r>
          </a:p>
          <a:p>
            <a:pPr marL="1200150" lvl="2" indent="-285750">
              <a:buFont typeface="Arial" panose="020B0604020202020204" pitchFamily="34" charset="0"/>
              <a:buChar char="•"/>
            </a:pPr>
            <a:r>
              <a:rPr lang="en-US" dirty="0"/>
              <a:t>Degree 9 – 0 </a:t>
            </a:r>
          </a:p>
          <a:p>
            <a:pPr marL="742950" lvl="1" indent="-285750">
              <a:buFont typeface="Arial" panose="020B0604020202020204" pitchFamily="34" charset="0"/>
              <a:buChar char="•"/>
            </a:pPr>
            <a:r>
              <a:rPr lang="en-US" dirty="0"/>
              <a:t>Rank 1</a:t>
            </a:r>
          </a:p>
          <a:p>
            <a:pPr marL="1200150" lvl="2" indent="-285750">
              <a:buFont typeface="Arial" panose="020B0604020202020204" pitchFamily="34" charset="0"/>
              <a:buChar char="•"/>
            </a:pPr>
            <a:r>
              <a:rPr lang="en-US" dirty="0"/>
              <a:t>Degree 9 – 0 </a:t>
            </a:r>
          </a:p>
          <a:p>
            <a:endParaRPr lang="en-US" dirty="0"/>
          </a:p>
          <a:p>
            <a:r>
              <a:rPr lang="en-US" dirty="0"/>
              <a:t>96% Level of Access</a:t>
            </a:r>
          </a:p>
        </p:txBody>
      </p:sp>
      <p:sp>
        <p:nvSpPr>
          <p:cNvPr id="7" name="TextBox 6">
            <a:extLst>
              <a:ext uri="{FF2B5EF4-FFF2-40B4-BE49-F238E27FC236}">
                <a16:creationId xmlns:a16="http://schemas.microsoft.com/office/drawing/2014/main" id="{74B55D91-79B8-67C7-63AF-E38AF787E179}"/>
              </a:ext>
            </a:extLst>
          </p:cNvPr>
          <p:cNvSpPr txBox="1"/>
          <p:nvPr/>
        </p:nvSpPr>
        <p:spPr>
          <a:xfrm>
            <a:off x="133350" y="5256555"/>
            <a:ext cx="11925300" cy="1200329"/>
          </a:xfrm>
          <a:prstGeom prst="rect">
            <a:avLst/>
          </a:prstGeom>
          <a:noFill/>
        </p:spPr>
        <p:txBody>
          <a:bodyPr wrap="square" rtlCol="0">
            <a:spAutoFit/>
          </a:bodyPr>
          <a:lstStyle/>
          <a:p>
            <a:r>
              <a:rPr lang="en-US" dirty="0"/>
              <a:t>Typically, members will be identified by their Rank and/or Degree internally amongst other Vonguulians. Their level of access will be something only used when their account is being accessed. I am just explaining how things will look after full implementation. You might also be confused about how the 80/20 split interacts with the Levels of Access. Let’s explain another layer of simplicity that will expose more people with bad intentions.</a:t>
            </a:r>
          </a:p>
        </p:txBody>
      </p:sp>
      <p:sp>
        <p:nvSpPr>
          <p:cNvPr id="14" name="TextBox 13">
            <a:extLst>
              <a:ext uri="{FF2B5EF4-FFF2-40B4-BE49-F238E27FC236}">
                <a16:creationId xmlns:a16="http://schemas.microsoft.com/office/drawing/2014/main" id="{24A16C61-3B63-C7E1-040D-D4015FBE1A7A}"/>
              </a:ext>
            </a:extLst>
          </p:cNvPr>
          <p:cNvSpPr txBox="1"/>
          <p:nvPr/>
        </p:nvSpPr>
        <p:spPr>
          <a:xfrm>
            <a:off x="133350" y="4056224"/>
            <a:ext cx="11925300" cy="1200329"/>
          </a:xfrm>
          <a:prstGeom prst="rect">
            <a:avLst/>
          </a:prstGeom>
          <a:noFill/>
        </p:spPr>
        <p:txBody>
          <a:bodyPr wrap="square" rtlCol="0">
            <a:spAutoFit/>
          </a:bodyPr>
          <a:lstStyle/>
          <a:p>
            <a:r>
              <a:rPr lang="en-US" dirty="0"/>
              <a:t>No one ever makes it to 100% Level of Access, as 4% is automatically reinvested into Vonguul as a whole. I have had many people ask me why, and the answer is simple, symbolic correspondence. At the point where these guidelines are implemented, it would have been made possible due to someone’s “sacrifice”, we are recreating that action symbolically, and we wouldn’t be able to add another 8% evenly and stay within the confines of 100%.</a:t>
            </a:r>
          </a:p>
        </p:txBody>
      </p:sp>
    </p:spTree>
    <p:extLst>
      <p:ext uri="{BB962C8B-B14F-4D97-AF65-F5344CB8AC3E}">
        <p14:creationId xmlns:p14="http://schemas.microsoft.com/office/powerpoint/2010/main" val="2753496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44D24368-E9EB-51D1-A97F-B0908B78C90C}"/>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pic>
        <p:nvPicPr>
          <p:cNvPr id="3" name="Graphic 2" descr="Woman with buns">
            <a:extLst>
              <a:ext uri="{FF2B5EF4-FFF2-40B4-BE49-F238E27FC236}">
                <a16:creationId xmlns:a16="http://schemas.microsoft.com/office/drawing/2014/main" id="{C69E5FFB-C47C-76FB-83E5-4134768081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0692" y="3057526"/>
            <a:ext cx="762000" cy="819150"/>
          </a:xfrm>
          <a:prstGeom prst="rect">
            <a:avLst/>
          </a:prstGeom>
        </p:spPr>
      </p:pic>
      <p:pic>
        <p:nvPicPr>
          <p:cNvPr id="4" name="Graphic 3" descr="Man with braided hair">
            <a:extLst>
              <a:ext uri="{FF2B5EF4-FFF2-40B4-BE49-F238E27FC236}">
                <a16:creationId xmlns:a16="http://schemas.microsoft.com/office/drawing/2014/main" id="{FB07D3B6-5669-B575-1419-0E1E6C4B69D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00292" y="3106115"/>
            <a:ext cx="638175" cy="762000"/>
          </a:xfrm>
          <a:prstGeom prst="rect">
            <a:avLst/>
          </a:prstGeom>
        </p:spPr>
      </p:pic>
      <p:pic>
        <p:nvPicPr>
          <p:cNvPr id="5" name="Graphic 4" descr="Woman with long curly hair">
            <a:extLst>
              <a:ext uri="{FF2B5EF4-FFF2-40B4-BE49-F238E27FC236}">
                <a16:creationId xmlns:a16="http://schemas.microsoft.com/office/drawing/2014/main" id="{E5ABAAB8-854A-8575-DC5A-77F19BA6FEB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31329" y="3051440"/>
            <a:ext cx="1000125" cy="885825"/>
          </a:xfrm>
          <a:prstGeom prst="rect">
            <a:avLst/>
          </a:prstGeom>
        </p:spPr>
      </p:pic>
      <p:pic>
        <p:nvPicPr>
          <p:cNvPr id="6" name="Graphic 5" descr="Woman with short afro">
            <a:extLst>
              <a:ext uri="{FF2B5EF4-FFF2-40B4-BE49-F238E27FC236}">
                <a16:creationId xmlns:a16="http://schemas.microsoft.com/office/drawing/2014/main" id="{66404F17-5EEA-C95D-6DB4-AE074E9C2DE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12404" y="3070548"/>
            <a:ext cx="781050" cy="809625"/>
          </a:xfrm>
          <a:prstGeom prst="rect">
            <a:avLst/>
          </a:prstGeom>
        </p:spPr>
      </p:pic>
      <p:pic>
        <p:nvPicPr>
          <p:cNvPr id="7" name="Graphic 6" descr="Boy with twisted hair">
            <a:extLst>
              <a:ext uri="{FF2B5EF4-FFF2-40B4-BE49-F238E27FC236}">
                <a16:creationId xmlns:a16="http://schemas.microsoft.com/office/drawing/2014/main" id="{C736BF76-634D-D7C2-34BA-A40A3A65FCA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83929" y="3106115"/>
            <a:ext cx="666750" cy="771525"/>
          </a:xfrm>
          <a:prstGeom prst="rect">
            <a:avLst/>
          </a:prstGeom>
        </p:spPr>
      </p:pic>
      <p:sp>
        <p:nvSpPr>
          <p:cNvPr id="8" name="TextBox 7">
            <a:extLst>
              <a:ext uri="{FF2B5EF4-FFF2-40B4-BE49-F238E27FC236}">
                <a16:creationId xmlns:a16="http://schemas.microsoft.com/office/drawing/2014/main" id="{6C8EC7A4-19AA-F045-E80A-1E7F51AB918F}"/>
              </a:ext>
            </a:extLst>
          </p:cNvPr>
          <p:cNvSpPr txBox="1"/>
          <p:nvPr/>
        </p:nvSpPr>
        <p:spPr>
          <a:xfrm>
            <a:off x="1933661" y="2810982"/>
            <a:ext cx="574923" cy="276999"/>
          </a:xfrm>
          <a:prstGeom prst="rect">
            <a:avLst/>
          </a:prstGeom>
          <a:noFill/>
        </p:spPr>
        <p:txBody>
          <a:bodyPr wrap="square" rtlCol="0">
            <a:spAutoFit/>
          </a:bodyPr>
          <a:lstStyle/>
          <a:p>
            <a:r>
              <a:rPr lang="en-US" sz="1200" b="1" dirty="0">
                <a:solidFill>
                  <a:schemeClr val="accent6"/>
                </a:solidFill>
              </a:rPr>
              <a:t>+$10</a:t>
            </a:r>
          </a:p>
        </p:txBody>
      </p:sp>
      <p:sp>
        <p:nvSpPr>
          <p:cNvPr id="9" name="TextBox 8">
            <a:extLst>
              <a:ext uri="{FF2B5EF4-FFF2-40B4-BE49-F238E27FC236}">
                <a16:creationId xmlns:a16="http://schemas.microsoft.com/office/drawing/2014/main" id="{CB8AAAC5-61F8-14B2-7173-C724E1CFEB40}"/>
              </a:ext>
            </a:extLst>
          </p:cNvPr>
          <p:cNvSpPr txBox="1"/>
          <p:nvPr/>
        </p:nvSpPr>
        <p:spPr>
          <a:xfrm>
            <a:off x="2931917" y="2810981"/>
            <a:ext cx="574923" cy="276999"/>
          </a:xfrm>
          <a:prstGeom prst="rect">
            <a:avLst/>
          </a:prstGeom>
          <a:noFill/>
        </p:spPr>
        <p:txBody>
          <a:bodyPr wrap="square" rtlCol="0">
            <a:spAutoFit/>
          </a:bodyPr>
          <a:lstStyle/>
          <a:p>
            <a:r>
              <a:rPr lang="en-US" sz="1200" b="1" dirty="0">
                <a:solidFill>
                  <a:schemeClr val="accent6"/>
                </a:solidFill>
              </a:rPr>
              <a:t>+$10</a:t>
            </a:r>
          </a:p>
        </p:txBody>
      </p:sp>
      <p:sp>
        <p:nvSpPr>
          <p:cNvPr id="10" name="TextBox 9">
            <a:extLst>
              <a:ext uri="{FF2B5EF4-FFF2-40B4-BE49-F238E27FC236}">
                <a16:creationId xmlns:a16="http://schemas.microsoft.com/office/drawing/2014/main" id="{FE4D698B-BD21-AFF3-5AC1-5D41EEC3AA68}"/>
              </a:ext>
            </a:extLst>
          </p:cNvPr>
          <p:cNvSpPr txBox="1"/>
          <p:nvPr/>
        </p:nvSpPr>
        <p:spPr>
          <a:xfrm>
            <a:off x="1980716" y="2619304"/>
            <a:ext cx="453454" cy="276999"/>
          </a:xfrm>
          <a:prstGeom prst="rect">
            <a:avLst/>
          </a:prstGeom>
          <a:noFill/>
        </p:spPr>
        <p:txBody>
          <a:bodyPr wrap="square" rtlCol="0">
            <a:spAutoFit/>
          </a:bodyPr>
          <a:lstStyle/>
          <a:p>
            <a:r>
              <a:rPr lang="en-US" sz="1200" b="1" dirty="0">
                <a:solidFill>
                  <a:schemeClr val="accent1"/>
                </a:solidFill>
              </a:rPr>
              <a:t>+$8</a:t>
            </a:r>
          </a:p>
        </p:txBody>
      </p:sp>
      <p:sp>
        <p:nvSpPr>
          <p:cNvPr id="11" name="TextBox 10">
            <a:extLst>
              <a:ext uri="{FF2B5EF4-FFF2-40B4-BE49-F238E27FC236}">
                <a16:creationId xmlns:a16="http://schemas.microsoft.com/office/drawing/2014/main" id="{A626DBB3-0347-5F12-3BA7-F308C5473183}"/>
              </a:ext>
            </a:extLst>
          </p:cNvPr>
          <p:cNvSpPr txBox="1"/>
          <p:nvPr/>
        </p:nvSpPr>
        <p:spPr>
          <a:xfrm>
            <a:off x="2995873" y="2619304"/>
            <a:ext cx="453454" cy="276999"/>
          </a:xfrm>
          <a:prstGeom prst="rect">
            <a:avLst/>
          </a:prstGeom>
          <a:noFill/>
        </p:spPr>
        <p:txBody>
          <a:bodyPr wrap="square" rtlCol="0">
            <a:spAutoFit/>
          </a:bodyPr>
          <a:lstStyle/>
          <a:p>
            <a:r>
              <a:rPr lang="en-US" sz="1200" b="1" dirty="0">
                <a:solidFill>
                  <a:schemeClr val="accent1"/>
                </a:solidFill>
              </a:rPr>
              <a:t>+$8</a:t>
            </a:r>
          </a:p>
        </p:txBody>
      </p:sp>
      <p:sp>
        <p:nvSpPr>
          <p:cNvPr id="12" name="TextBox 11">
            <a:extLst>
              <a:ext uri="{FF2B5EF4-FFF2-40B4-BE49-F238E27FC236}">
                <a16:creationId xmlns:a16="http://schemas.microsoft.com/office/drawing/2014/main" id="{6570554F-664F-EC7C-A3DC-95C0A924EBCC}"/>
              </a:ext>
            </a:extLst>
          </p:cNvPr>
          <p:cNvSpPr txBox="1"/>
          <p:nvPr/>
        </p:nvSpPr>
        <p:spPr>
          <a:xfrm>
            <a:off x="4067851" y="2795350"/>
            <a:ext cx="453454" cy="276999"/>
          </a:xfrm>
          <a:prstGeom prst="rect">
            <a:avLst/>
          </a:prstGeom>
          <a:noFill/>
        </p:spPr>
        <p:txBody>
          <a:bodyPr wrap="square" rtlCol="0">
            <a:spAutoFit/>
          </a:bodyPr>
          <a:lstStyle/>
          <a:p>
            <a:r>
              <a:rPr lang="en-US" sz="1200" b="1" dirty="0">
                <a:solidFill>
                  <a:schemeClr val="accent1"/>
                </a:solidFill>
              </a:rPr>
              <a:t>+$8</a:t>
            </a:r>
          </a:p>
        </p:txBody>
      </p:sp>
      <p:sp>
        <p:nvSpPr>
          <p:cNvPr id="13" name="TextBox 12">
            <a:extLst>
              <a:ext uri="{FF2B5EF4-FFF2-40B4-BE49-F238E27FC236}">
                <a16:creationId xmlns:a16="http://schemas.microsoft.com/office/drawing/2014/main" id="{8D2B803E-24B6-F24E-089A-D22887CBCD01}"/>
              </a:ext>
            </a:extLst>
          </p:cNvPr>
          <p:cNvSpPr txBox="1"/>
          <p:nvPr/>
        </p:nvSpPr>
        <p:spPr>
          <a:xfrm>
            <a:off x="5141213" y="2790276"/>
            <a:ext cx="453454" cy="276999"/>
          </a:xfrm>
          <a:prstGeom prst="rect">
            <a:avLst/>
          </a:prstGeom>
          <a:noFill/>
        </p:spPr>
        <p:txBody>
          <a:bodyPr wrap="square" rtlCol="0">
            <a:spAutoFit/>
          </a:bodyPr>
          <a:lstStyle/>
          <a:p>
            <a:r>
              <a:rPr lang="en-US" sz="1200" b="1" dirty="0">
                <a:solidFill>
                  <a:schemeClr val="accent1"/>
                </a:solidFill>
              </a:rPr>
              <a:t>+$8</a:t>
            </a:r>
          </a:p>
        </p:txBody>
      </p:sp>
      <p:sp>
        <p:nvSpPr>
          <p:cNvPr id="14" name="TextBox 13">
            <a:extLst>
              <a:ext uri="{FF2B5EF4-FFF2-40B4-BE49-F238E27FC236}">
                <a16:creationId xmlns:a16="http://schemas.microsoft.com/office/drawing/2014/main" id="{7E212139-0669-49A9-13D8-53EF160C3EBE}"/>
              </a:ext>
            </a:extLst>
          </p:cNvPr>
          <p:cNvSpPr txBox="1"/>
          <p:nvPr/>
        </p:nvSpPr>
        <p:spPr>
          <a:xfrm>
            <a:off x="6213883" y="2782548"/>
            <a:ext cx="453454" cy="276999"/>
          </a:xfrm>
          <a:prstGeom prst="rect">
            <a:avLst/>
          </a:prstGeom>
          <a:noFill/>
        </p:spPr>
        <p:txBody>
          <a:bodyPr wrap="square" rtlCol="0">
            <a:spAutoFit/>
          </a:bodyPr>
          <a:lstStyle/>
          <a:p>
            <a:r>
              <a:rPr lang="en-US" sz="1200" b="1" dirty="0">
                <a:solidFill>
                  <a:schemeClr val="accent1"/>
                </a:solidFill>
              </a:rPr>
              <a:t>+$8</a:t>
            </a:r>
          </a:p>
        </p:txBody>
      </p:sp>
      <p:sp>
        <p:nvSpPr>
          <p:cNvPr id="15" name="TextBox 14">
            <a:extLst>
              <a:ext uri="{FF2B5EF4-FFF2-40B4-BE49-F238E27FC236}">
                <a16:creationId xmlns:a16="http://schemas.microsoft.com/office/drawing/2014/main" id="{3FB51AF2-CDB1-9DEA-1269-C87D24F3D18F}"/>
              </a:ext>
            </a:extLst>
          </p:cNvPr>
          <p:cNvSpPr txBox="1"/>
          <p:nvPr/>
        </p:nvSpPr>
        <p:spPr>
          <a:xfrm>
            <a:off x="211667" y="1303867"/>
            <a:ext cx="11705166" cy="1477328"/>
          </a:xfrm>
          <a:prstGeom prst="rect">
            <a:avLst/>
          </a:prstGeom>
          <a:noFill/>
        </p:spPr>
        <p:txBody>
          <a:bodyPr wrap="square" rtlCol="0">
            <a:spAutoFit/>
          </a:bodyPr>
          <a:lstStyle/>
          <a:p>
            <a:r>
              <a:rPr lang="en-US" dirty="0"/>
              <a:t>Based on the information we already have, we can understand that each member of Vonguul will have an account. Within that account there will be at least 2 sections, 1 for our 20 portions, and 1 for our 80 portions. Our 20 portion will be unlimited access, whereas our 80 portion will be subject to our Level of Access. Let’s visualize this. Remember our 10 Vonguulians from the previous example, let’s take half of them to demonstrate the Levels of Access. </a:t>
            </a:r>
          </a:p>
        </p:txBody>
      </p:sp>
      <p:sp>
        <p:nvSpPr>
          <p:cNvPr id="16" name="TextBox 15">
            <a:extLst>
              <a:ext uri="{FF2B5EF4-FFF2-40B4-BE49-F238E27FC236}">
                <a16:creationId xmlns:a16="http://schemas.microsoft.com/office/drawing/2014/main" id="{16F2FA39-5589-E4AD-9B22-8539F596A3DC}"/>
              </a:ext>
            </a:extLst>
          </p:cNvPr>
          <p:cNvSpPr txBox="1"/>
          <p:nvPr/>
        </p:nvSpPr>
        <p:spPr>
          <a:xfrm>
            <a:off x="2146301" y="3386667"/>
            <a:ext cx="287869" cy="369332"/>
          </a:xfrm>
          <a:prstGeom prst="rect">
            <a:avLst/>
          </a:prstGeom>
          <a:noFill/>
        </p:spPr>
        <p:txBody>
          <a:bodyPr wrap="square" rtlCol="0">
            <a:spAutoFit/>
          </a:bodyPr>
          <a:lstStyle/>
          <a:p>
            <a:r>
              <a:rPr lang="en-US" dirty="0"/>
              <a:t>1</a:t>
            </a:r>
          </a:p>
        </p:txBody>
      </p:sp>
      <p:sp>
        <p:nvSpPr>
          <p:cNvPr id="17" name="TextBox 16">
            <a:extLst>
              <a:ext uri="{FF2B5EF4-FFF2-40B4-BE49-F238E27FC236}">
                <a16:creationId xmlns:a16="http://schemas.microsoft.com/office/drawing/2014/main" id="{CB78B4E0-2EF6-152F-8607-AD9F34EBC349}"/>
              </a:ext>
            </a:extLst>
          </p:cNvPr>
          <p:cNvSpPr txBox="1"/>
          <p:nvPr/>
        </p:nvSpPr>
        <p:spPr>
          <a:xfrm>
            <a:off x="3151202" y="3354401"/>
            <a:ext cx="287869" cy="369332"/>
          </a:xfrm>
          <a:prstGeom prst="rect">
            <a:avLst/>
          </a:prstGeom>
          <a:noFill/>
        </p:spPr>
        <p:txBody>
          <a:bodyPr wrap="square" rtlCol="0">
            <a:spAutoFit/>
          </a:bodyPr>
          <a:lstStyle/>
          <a:p>
            <a:r>
              <a:rPr lang="en-US" dirty="0"/>
              <a:t>2</a:t>
            </a:r>
          </a:p>
        </p:txBody>
      </p:sp>
      <p:sp>
        <p:nvSpPr>
          <p:cNvPr id="18" name="TextBox 17">
            <a:extLst>
              <a:ext uri="{FF2B5EF4-FFF2-40B4-BE49-F238E27FC236}">
                <a16:creationId xmlns:a16="http://schemas.microsoft.com/office/drawing/2014/main" id="{AC1E21EE-3D4A-4AFA-A5A3-8543F29F6E5B}"/>
              </a:ext>
            </a:extLst>
          </p:cNvPr>
          <p:cNvSpPr txBox="1"/>
          <p:nvPr/>
        </p:nvSpPr>
        <p:spPr>
          <a:xfrm>
            <a:off x="4208441" y="3354401"/>
            <a:ext cx="287869" cy="369332"/>
          </a:xfrm>
          <a:prstGeom prst="rect">
            <a:avLst/>
          </a:prstGeom>
          <a:noFill/>
        </p:spPr>
        <p:txBody>
          <a:bodyPr wrap="square" rtlCol="0">
            <a:spAutoFit/>
          </a:bodyPr>
          <a:lstStyle/>
          <a:p>
            <a:r>
              <a:rPr lang="en-US" dirty="0"/>
              <a:t>3</a:t>
            </a:r>
          </a:p>
        </p:txBody>
      </p:sp>
      <p:sp>
        <p:nvSpPr>
          <p:cNvPr id="20" name="TextBox 19">
            <a:extLst>
              <a:ext uri="{FF2B5EF4-FFF2-40B4-BE49-F238E27FC236}">
                <a16:creationId xmlns:a16="http://schemas.microsoft.com/office/drawing/2014/main" id="{A3B91D70-1D15-3C03-F320-5CBF2F2BEEE8}"/>
              </a:ext>
            </a:extLst>
          </p:cNvPr>
          <p:cNvSpPr txBox="1"/>
          <p:nvPr/>
        </p:nvSpPr>
        <p:spPr>
          <a:xfrm>
            <a:off x="5306798" y="3354401"/>
            <a:ext cx="287869" cy="369332"/>
          </a:xfrm>
          <a:prstGeom prst="rect">
            <a:avLst/>
          </a:prstGeom>
          <a:noFill/>
        </p:spPr>
        <p:txBody>
          <a:bodyPr wrap="square" rtlCol="0">
            <a:spAutoFit/>
          </a:bodyPr>
          <a:lstStyle/>
          <a:p>
            <a:r>
              <a:rPr lang="en-US" dirty="0"/>
              <a:t>4</a:t>
            </a:r>
          </a:p>
        </p:txBody>
      </p:sp>
      <p:sp>
        <p:nvSpPr>
          <p:cNvPr id="21" name="TextBox 20">
            <a:extLst>
              <a:ext uri="{FF2B5EF4-FFF2-40B4-BE49-F238E27FC236}">
                <a16:creationId xmlns:a16="http://schemas.microsoft.com/office/drawing/2014/main" id="{033FC4CF-2133-6DC7-D24F-8546C56AC05B}"/>
              </a:ext>
            </a:extLst>
          </p:cNvPr>
          <p:cNvSpPr txBox="1"/>
          <p:nvPr/>
        </p:nvSpPr>
        <p:spPr>
          <a:xfrm>
            <a:off x="6327031" y="3354401"/>
            <a:ext cx="287869" cy="369332"/>
          </a:xfrm>
          <a:prstGeom prst="rect">
            <a:avLst/>
          </a:prstGeom>
          <a:noFill/>
        </p:spPr>
        <p:txBody>
          <a:bodyPr wrap="square" rtlCol="0">
            <a:spAutoFit/>
          </a:bodyPr>
          <a:lstStyle/>
          <a:p>
            <a:r>
              <a:rPr lang="en-US" dirty="0"/>
              <a:t>5</a:t>
            </a:r>
          </a:p>
        </p:txBody>
      </p:sp>
      <p:sp>
        <p:nvSpPr>
          <p:cNvPr id="22" name="TextBox 21">
            <a:extLst>
              <a:ext uri="{FF2B5EF4-FFF2-40B4-BE49-F238E27FC236}">
                <a16:creationId xmlns:a16="http://schemas.microsoft.com/office/drawing/2014/main" id="{85D589D4-7EE6-1F35-B537-1E79DBFA20D5}"/>
              </a:ext>
            </a:extLst>
          </p:cNvPr>
          <p:cNvSpPr txBox="1"/>
          <p:nvPr/>
        </p:nvSpPr>
        <p:spPr>
          <a:xfrm>
            <a:off x="211667" y="3937265"/>
            <a:ext cx="11184466" cy="646331"/>
          </a:xfrm>
          <a:prstGeom prst="rect">
            <a:avLst/>
          </a:prstGeom>
          <a:noFill/>
        </p:spPr>
        <p:txBody>
          <a:bodyPr wrap="square" rtlCol="0">
            <a:spAutoFit/>
          </a:bodyPr>
          <a:lstStyle/>
          <a:p>
            <a:r>
              <a:rPr lang="en-US" dirty="0"/>
              <a:t>Let’s also say that 3 &amp; 4 replicated what 1 &amp; 2 did and 5 doubled their amount alone, and there are still a total of 10 Vonguulians. It would look like the following:</a:t>
            </a:r>
          </a:p>
        </p:txBody>
      </p:sp>
      <p:pic>
        <p:nvPicPr>
          <p:cNvPr id="23" name="Graphic 22" descr="Woman with buns">
            <a:extLst>
              <a:ext uri="{FF2B5EF4-FFF2-40B4-BE49-F238E27FC236}">
                <a16:creationId xmlns:a16="http://schemas.microsoft.com/office/drawing/2014/main" id="{9370BDC6-B9B7-910E-F65B-FF5CB1B6D8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2811" y="5242204"/>
            <a:ext cx="762000" cy="819150"/>
          </a:xfrm>
          <a:prstGeom prst="rect">
            <a:avLst/>
          </a:prstGeom>
        </p:spPr>
      </p:pic>
      <p:pic>
        <p:nvPicPr>
          <p:cNvPr id="24" name="Graphic 23" descr="Man with braided hair">
            <a:extLst>
              <a:ext uri="{FF2B5EF4-FFF2-40B4-BE49-F238E27FC236}">
                <a16:creationId xmlns:a16="http://schemas.microsoft.com/office/drawing/2014/main" id="{74AF41F7-A12D-2688-A2BC-B9F9BF667B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02411" y="5290793"/>
            <a:ext cx="638175" cy="762000"/>
          </a:xfrm>
          <a:prstGeom prst="rect">
            <a:avLst/>
          </a:prstGeom>
        </p:spPr>
      </p:pic>
      <p:pic>
        <p:nvPicPr>
          <p:cNvPr id="25" name="Graphic 24" descr="Woman with long curly hair">
            <a:extLst>
              <a:ext uri="{FF2B5EF4-FFF2-40B4-BE49-F238E27FC236}">
                <a16:creationId xmlns:a16="http://schemas.microsoft.com/office/drawing/2014/main" id="{BE2377E2-2554-AB2E-D64C-C7ADBB067D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33448" y="5236118"/>
            <a:ext cx="1000125" cy="885825"/>
          </a:xfrm>
          <a:prstGeom prst="rect">
            <a:avLst/>
          </a:prstGeom>
        </p:spPr>
      </p:pic>
      <p:pic>
        <p:nvPicPr>
          <p:cNvPr id="26" name="Graphic 25" descr="Woman with short afro">
            <a:extLst>
              <a:ext uri="{FF2B5EF4-FFF2-40B4-BE49-F238E27FC236}">
                <a16:creationId xmlns:a16="http://schemas.microsoft.com/office/drawing/2014/main" id="{CD48F25E-44EC-D6B1-0736-954E98AC01F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14523" y="5255226"/>
            <a:ext cx="781050" cy="809625"/>
          </a:xfrm>
          <a:prstGeom prst="rect">
            <a:avLst/>
          </a:prstGeom>
        </p:spPr>
      </p:pic>
      <p:pic>
        <p:nvPicPr>
          <p:cNvPr id="27" name="Graphic 26" descr="Boy with twisted hair">
            <a:extLst>
              <a:ext uri="{FF2B5EF4-FFF2-40B4-BE49-F238E27FC236}">
                <a16:creationId xmlns:a16="http://schemas.microsoft.com/office/drawing/2014/main" id="{97A55A75-D634-3B17-B7BE-5AC9B08FFBD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86048" y="5290793"/>
            <a:ext cx="666750" cy="771525"/>
          </a:xfrm>
          <a:prstGeom prst="rect">
            <a:avLst/>
          </a:prstGeom>
        </p:spPr>
      </p:pic>
      <p:sp>
        <p:nvSpPr>
          <p:cNvPr id="28" name="TextBox 27">
            <a:extLst>
              <a:ext uri="{FF2B5EF4-FFF2-40B4-BE49-F238E27FC236}">
                <a16:creationId xmlns:a16="http://schemas.microsoft.com/office/drawing/2014/main" id="{96F288B7-04B8-106A-C5F7-591CD9DFE17B}"/>
              </a:ext>
            </a:extLst>
          </p:cNvPr>
          <p:cNvSpPr txBox="1"/>
          <p:nvPr/>
        </p:nvSpPr>
        <p:spPr>
          <a:xfrm>
            <a:off x="1935780" y="4995660"/>
            <a:ext cx="574923" cy="276999"/>
          </a:xfrm>
          <a:prstGeom prst="rect">
            <a:avLst/>
          </a:prstGeom>
          <a:noFill/>
        </p:spPr>
        <p:txBody>
          <a:bodyPr wrap="square" rtlCol="0">
            <a:spAutoFit/>
          </a:bodyPr>
          <a:lstStyle/>
          <a:p>
            <a:r>
              <a:rPr lang="en-US" sz="1200" b="1" dirty="0">
                <a:solidFill>
                  <a:schemeClr val="accent6"/>
                </a:solidFill>
              </a:rPr>
              <a:t>+$10</a:t>
            </a:r>
          </a:p>
        </p:txBody>
      </p:sp>
      <p:sp>
        <p:nvSpPr>
          <p:cNvPr id="29" name="TextBox 28">
            <a:extLst>
              <a:ext uri="{FF2B5EF4-FFF2-40B4-BE49-F238E27FC236}">
                <a16:creationId xmlns:a16="http://schemas.microsoft.com/office/drawing/2014/main" id="{357A1789-13EC-F07C-A706-ED398AAB8393}"/>
              </a:ext>
            </a:extLst>
          </p:cNvPr>
          <p:cNvSpPr txBox="1"/>
          <p:nvPr/>
        </p:nvSpPr>
        <p:spPr>
          <a:xfrm>
            <a:off x="2934036" y="4995659"/>
            <a:ext cx="574923" cy="276999"/>
          </a:xfrm>
          <a:prstGeom prst="rect">
            <a:avLst/>
          </a:prstGeom>
          <a:noFill/>
        </p:spPr>
        <p:txBody>
          <a:bodyPr wrap="square" rtlCol="0">
            <a:spAutoFit/>
          </a:bodyPr>
          <a:lstStyle/>
          <a:p>
            <a:r>
              <a:rPr lang="en-US" sz="1200" b="1" dirty="0">
                <a:solidFill>
                  <a:schemeClr val="accent6"/>
                </a:solidFill>
              </a:rPr>
              <a:t>+$10</a:t>
            </a:r>
          </a:p>
        </p:txBody>
      </p:sp>
      <p:sp>
        <p:nvSpPr>
          <p:cNvPr id="30" name="TextBox 29">
            <a:extLst>
              <a:ext uri="{FF2B5EF4-FFF2-40B4-BE49-F238E27FC236}">
                <a16:creationId xmlns:a16="http://schemas.microsoft.com/office/drawing/2014/main" id="{E9A2094B-A96E-9DC7-73EC-7B9B32BBF1D7}"/>
              </a:ext>
            </a:extLst>
          </p:cNvPr>
          <p:cNvSpPr txBox="1"/>
          <p:nvPr/>
        </p:nvSpPr>
        <p:spPr>
          <a:xfrm>
            <a:off x="1982835" y="4803982"/>
            <a:ext cx="453454" cy="276999"/>
          </a:xfrm>
          <a:prstGeom prst="rect">
            <a:avLst/>
          </a:prstGeom>
          <a:noFill/>
        </p:spPr>
        <p:txBody>
          <a:bodyPr wrap="square" rtlCol="0">
            <a:spAutoFit/>
          </a:bodyPr>
          <a:lstStyle/>
          <a:p>
            <a:r>
              <a:rPr lang="en-US" sz="1200" b="1" dirty="0">
                <a:solidFill>
                  <a:schemeClr val="accent1"/>
                </a:solidFill>
              </a:rPr>
              <a:t>+$8</a:t>
            </a:r>
          </a:p>
        </p:txBody>
      </p:sp>
      <p:sp>
        <p:nvSpPr>
          <p:cNvPr id="31" name="TextBox 30">
            <a:extLst>
              <a:ext uri="{FF2B5EF4-FFF2-40B4-BE49-F238E27FC236}">
                <a16:creationId xmlns:a16="http://schemas.microsoft.com/office/drawing/2014/main" id="{1B7E8CFA-0507-16EF-9E5D-F2D26991E2A9}"/>
              </a:ext>
            </a:extLst>
          </p:cNvPr>
          <p:cNvSpPr txBox="1"/>
          <p:nvPr/>
        </p:nvSpPr>
        <p:spPr>
          <a:xfrm>
            <a:off x="2997992" y="4803982"/>
            <a:ext cx="453454" cy="276999"/>
          </a:xfrm>
          <a:prstGeom prst="rect">
            <a:avLst/>
          </a:prstGeom>
          <a:noFill/>
        </p:spPr>
        <p:txBody>
          <a:bodyPr wrap="square" rtlCol="0">
            <a:spAutoFit/>
          </a:bodyPr>
          <a:lstStyle/>
          <a:p>
            <a:r>
              <a:rPr lang="en-US" sz="1200" b="1" dirty="0">
                <a:solidFill>
                  <a:schemeClr val="accent1"/>
                </a:solidFill>
              </a:rPr>
              <a:t>+$8</a:t>
            </a:r>
          </a:p>
        </p:txBody>
      </p:sp>
      <p:sp>
        <p:nvSpPr>
          <p:cNvPr id="32" name="TextBox 31">
            <a:extLst>
              <a:ext uri="{FF2B5EF4-FFF2-40B4-BE49-F238E27FC236}">
                <a16:creationId xmlns:a16="http://schemas.microsoft.com/office/drawing/2014/main" id="{3B236B88-E5DC-5DE8-6C7E-A3F87A31D9BF}"/>
              </a:ext>
            </a:extLst>
          </p:cNvPr>
          <p:cNvSpPr txBox="1"/>
          <p:nvPr/>
        </p:nvSpPr>
        <p:spPr>
          <a:xfrm>
            <a:off x="4069970" y="4980028"/>
            <a:ext cx="453454" cy="276999"/>
          </a:xfrm>
          <a:prstGeom prst="rect">
            <a:avLst/>
          </a:prstGeom>
          <a:noFill/>
        </p:spPr>
        <p:txBody>
          <a:bodyPr wrap="square" rtlCol="0">
            <a:spAutoFit/>
          </a:bodyPr>
          <a:lstStyle/>
          <a:p>
            <a:r>
              <a:rPr lang="en-US" sz="1200" b="1" dirty="0">
                <a:solidFill>
                  <a:schemeClr val="accent1"/>
                </a:solidFill>
              </a:rPr>
              <a:t>+$8</a:t>
            </a:r>
          </a:p>
        </p:txBody>
      </p:sp>
      <p:sp>
        <p:nvSpPr>
          <p:cNvPr id="33" name="TextBox 32">
            <a:extLst>
              <a:ext uri="{FF2B5EF4-FFF2-40B4-BE49-F238E27FC236}">
                <a16:creationId xmlns:a16="http://schemas.microsoft.com/office/drawing/2014/main" id="{28F1A94B-36C5-0C85-8545-EFEFA3417313}"/>
              </a:ext>
            </a:extLst>
          </p:cNvPr>
          <p:cNvSpPr txBox="1"/>
          <p:nvPr/>
        </p:nvSpPr>
        <p:spPr>
          <a:xfrm>
            <a:off x="5143332" y="4974954"/>
            <a:ext cx="453454" cy="276999"/>
          </a:xfrm>
          <a:prstGeom prst="rect">
            <a:avLst/>
          </a:prstGeom>
          <a:noFill/>
        </p:spPr>
        <p:txBody>
          <a:bodyPr wrap="square" rtlCol="0">
            <a:spAutoFit/>
          </a:bodyPr>
          <a:lstStyle/>
          <a:p>
            <a:r>
              <a:rPr lang="en-US" sz="1200" b="1" dirty="0">
                <a:solidFill>
                  <a:schemeClr val="accent1"/>
                </a:solidFill>
              </a:rPr>
              <a:t>+$8</a:t>
            </a:r>
          </a:p>
        </p:txBody>
      </p:sp>
      <p:sp>
        <p:nvSpPr>
          <p:cNvPr id="34" name="TextBox 33">
            <a:extLst>
              <a:ext uri="{FF2B5EF4-FFF2-40B4-BE49-F238E27FC236}">
                <a16:creationId xmlns:a16="http://schemas.microsoft.com/office/drawing/2014/main" id="{0B08FA97-7C98-9674-59AF-1B0690AD6D40}"/>
              </a:ext>
            </a:extLst>
          </p:cNvPr>
          <p:cNvSpPr txBox="1"/>
          <p:nvPr/>
        </p:nvSpPr>
        <p:spPr>
          <a:xfrm>
            <a:off x="6216002" y="4967226"/>
            <a:ext cx="453454" cy="276999"/>
          </a:xfrm>
          <a:prstGeom prst="rect">
            <a:avLst/>
          </a:prstGeom>
          <a:noFill/>
        </p:spPr>
        <p:txBody>
          <a:bodyPr wrap="square" rtlCol="0">
            <a:spAutoFit/>
          </a:bodyPr>
          <a:lstStyle/>
          <a:p>
            <a:r>
              <a:rPr lang="en-US" sz="1200" b="1" dirty="0">
                <a:solidFill>
                  <a:schemeClr val="accent1"/>
                </a:solidFill>
              </a:rPr>
              <a:t>+$8</a:t>
            </a:r>
          </a:p>
        </p:txBody>
      </p:sp>
      <p:sp>
        <p:nvSpPr>
          <p:cNvPr id="35" name="TextBox 34">
            <a:extLst>
              <a:ext uri="{FF2B5EF4-FFF2-40B4-BE49-F238E27FC236}">
                <a16:creationId xmlns:a16="http://schemas.microsoft.com/office/drawing/2014/main" id="{5D188504-47CF-EE41-6BE3-B9AE135CEED4}"/>
              </a:ext>
            </a:extLst>
          </p:cNvPr>
          <p:cNvSpPr txBox="1"/>
          <p:nvPr/>
        </p:nvSpPr>
        <p:spPr>
          <a:xfrm>
            <a:off x="2148420" y="5571345"/>
            <a:ext cx="287869" cy="369332"/>
          </a:xfrm>
          <a:prstGeom prst="rect">
            <a:avLst/>
          </a:prstGeom>
          <a:noFill/>
        </p:spPr>
        <p:txBody>
          <a:bodyPr wrap="square" rtlCol="0">
            <a:spAutoFit/>
          </a:bodyPr>
          <a:lstStyle/>
          <a:p>
            <a:r>
              <a:rPr lang="en-US" dirty="0"/>
              <a:t>1</a:t>
            </a:r>
          </a:p>
        </p:txBody>
      </p:sp>
      <p:sp>
        <p:nvSpPr>
          <p:cNvPr id="36" name="TextBox 35">
            <a:extLst>
              <a:ext uri="{FF2B5EF4-FFF2-40B4-BE49-F238E27FC236}">
                <a16:creationId xmlns:a16="http://schemas.microsoft.com/office/drawing/2014/main" id="{CFF43623-F225-F842-B90D-BA5488CF314B}"/>
              </a:ext>
            </a:extLst>
          </p:cNvPr>
          <p:cNvSpPr txBox="1"/>
          <p:nvPr/>
        </p:nvSpPr>
        <p:spPr>
          <a:xfrm>
            <a:off x="3153321" y="5539079"/>
            <a:ext cx="287869" cy="369332"/>
          </a:xfrm>
          <a:prstGeom prst="rect">
            <a:avLst/>
          </a:prstGeom>
          <a:noFill/>
        </p:spPr>
        <p:txBody>
          <a:bodyPr wrap="square" rtlCol="0">
            <a:spAutoFit/>
          </a:bodyPr>
          <a:lstStyle/>
          <a:p>
            <a:r>
              <a:rPr lang="en-US" dirty="0"/>
              <a:t>2</a:t>
            </a:r>
          </a:p>
        </p:txBody>
      </p:sp>
      <p:sp>
        <p:nvSpPr>
          <p:cNvPr id="37" name="TextBox 36">
            <a:extLst>
              <a:ext uri="{FF2B5EF4-FFF2-40B4-BE49-F238E27FC236}">
                <a16:creationId xmlns:a16="http://schemas.microsoft.com/office/drawing/2014/main" id="{676B0B0E-6CC8-E68A-455F-E80509833AA1}"/>
              </a:ext>
            </a:extLst>
          </p:cNvPr>
          <p:cNvSpPr txBox="1"/>
          <p:nvPr/>
        </p:nvSpPr>
        <p:spPr>
          <a:xfrm>
            <a:off x="4210560" y="5539079"/>
            <a:ext cx="287869" cy="369332"/>
          </a:xfrm>
          <a:prstGeom prst="rect">
            <a:avLst/>
          </a:prstGeom>
          <a:noFill/>
        </p:spPr>
        <p:txBody>
          <a:bodyPr wrap="square" rtlCol="0">
            <a:spAutoFit/>
          </a:bodyPr>
          <a:lstStyle/>
          <a:p>
            <a:r>
              <a:rPr lang="en-US" dirty="0"/>
              <a:t>3</a:t>
            </a:r>
          </a:p>
        </p:txBody>
      </p:sp>
      <p:sp>
        <p:nvSpPr>
          <p:cNvPr id="38" name="TextBox 37">
            <a:extLst>
              <a:ext uri="{FF2B5EF4-FFF2-40B4-BE49-F238E27FC236}">
                <a16:creationId xmlns:a16="http://schemas.microsoft.com/office/drawing/2014/main" id="{300C7A77-AF31-662E-EAAE-FA8233C79C02}"/>
              </a:ext>
            </a:extLst>
          </p:cNvPr>
          <p:cNvSpPr txBox="1"/>
          <p:nvPr/>
        </p:nvSpPr>
        <p:spPr>
          <a:xfrm>
            <a:off x="5308917" y="5539079"/>
            <a:ext cx="287869" cy="369332"/>
          </a:xfrm>
          <a:prstGeom prst="rect">
            <a:avLst/>
          </a:prstGeom>
          <a:noFill/>
        </p:spPr>
        <p:txBody>
          <a:bodyPr wrap="square" rtlCol="0">
            <a:spAutoFit/>
          </a:bodyPr>
          <a:lstStyle/>
          <a:p>
            <a:r>
              <a:rPr lang="en-US" dirty="0"/>
              <a:t>4</a:t>
            </a:r>
          </a:p>
        </p:txBody>
      </p:sp>
      <p:sp>
        <p:nvSpPr>
          <p:cNvPr id="39" name="TextBox 38">
            <a:extLst>
              <a:ext uri="{FF2B5EF4-FFF2-40B4-BE49-F238E27FC236}">
                <a16:creationId xmlns:a16="http://schemas.microsoft.com/office/drawing/2014/main" id="{D86C75C8-9CF9-05E5-6DC3-222B81A33B45}"/>
              </a:ext>
            </a:extLst>
          </p:cNvPr>
          <p:cNvSpPr txBox="1"/>
          <p:nvPr/>
        </p:nvSpPr>
        <p:spPr>
          <a:xfrm>
            <a:off x="6329150" y="5539079"/>
            <a:ext cx="287869" cy="369332"/>
          </a:xfrm>
          <a:prstGeom prst="rect">
            <a:avLst/>
          </a:prstGeom>
          <a:noFill/>
        </p:spPr>
        <p:txBody>
          <a:bodyPr wrap="square" rtlCol="0">
            <a:spAutoFit/>
          </a:bodyPr>
          <a:lstStyle/>
          <a:p>
            <a:r>
              <a:rPr lang="en-US" dirty="0"/>
              <a:t>5</a:t>
            </a:r>
          </a:p>
        </p:txBody>
      </p:sp>
      <p:sp>
        <p:nvSpPr>
          <p:cNvPr id="40" name="TextBox 39">
            <a:extLst>
              <a:ext uri="{FF2B5EF4-FFF2-40B4-BE49-F238E27FC236}">
                <a16:creationId xmlns:a16="http://schemas.microsoft.com/office/drawing/2014/main" id="{B63386F2-6212-35BD-7822-8DFCD56D3C86}"/>
              </a:ext>
            </a:extLst>
          </p:cNvPr>
          <p:cNvSpPr txBox="1"/>
          <p:nvPr/>
        </p:nvSpPr>
        <p:spPr>
          <a:xfrm>
            <a:off x="4067851" y="4797129"/>
            <a:ext cx="574923" cy="276999"/>
          </a:xfrm>
          <a:prstGeom prst="rect">
            <a:avLst/>
          </a:prstGeom>
          <a:noFill/>
        </p:spPr>
        <p:txBody>
          <a:bodyPr wrap="square" rtlCol="0">
            <a:spAutoFit/>
          </a:bodyPr>
          <a:lstStyle/>
          <a:p>
            <a:r>
              <a:rPr lang="en-US" sz="1200" b="1" dirty="0">
                <a:solidFill>
                  <a:schemeClr val="accent6"/>
                </a:solidFill>
              </a:rPr>
              <a:t>+$10</a:t>
            </a:r>
          </a:p>
        </p:txBody>
      </p:sp>
      <p:sp>
        <p:nvSpPr>
          <p:cNvPr id="41" name="TextBox 40">
            <a:extLst>
              <a:ext uri="{FF2B5EF4-FFF2-40B4-BE49-F238E27FC236}">
                <a16:creationId xmlns:a16="http://schemas.microsoft.com/office/drawing/2014/main" id="{3357E6AC-E5A3-780C-2AA8-2F33594DA3F3}"/>
              </a:ext>
            </a:extLst>
          </p:cNvPr>
          <p:cNvSpPr txBox="1"/>
          <p:nvPr/>
        </p:nvSpPr>
        <p:spPr>
          <a:xfrm>
            <a:off x="5066107" y="4797128"/>
            <a:ext cx="574923" cy="276999"/>
          </a:xfrm>
          <a:prstGeom prst="rect">
            <a:avLst/>
          </a:prstGeom>
          <a:noFill/>
        </p:spPr>
        <p:txBody>
          <a:bodyPr wrap="square" rtlCol="0">
            <a:spAutoFit/>
          </a:bodyPr>
          <a:lstStyle/>
          <a:p>
            <a:r>
              <a:rPr lang="en-US" sz="1200" b="1" dirty="0">
                <a:solidFill>
                  <a:schemeClr val="accent6"/>
                </a:solidFill>
              </a:rPr>
              <a:t>+$10</a:t>
            </a:r>
          </a:p>
        </p:txBody>
      </p:sp>
      <p:sp>
        <p:nvSpPr>
          <p:cNvPr id="42" name="TextBox 41">
            <a:extLst>
              <a:ext uri="{FF2B5EF4-FFF2-40B4-BE49-F238E27FC236}">
                <a16:creationId xmlns:a16="http://schemas.microsoft.com/office/drawing/2014/main" id="{AF8072CD-1C2A-98B9-AEF6-0095FE69C4AF}"/>
              </a:ext>
            </a:extLst>
          </p:cNvPr>
          <p:cNvSpPr txBox="1"/>
          <p:nvPr/>
        </p:nvSpPr>
        <p:spPr>
          <a:xfrm>
            <a:off x="6153148" y="4813319"/>
            <a:ext cx="574923" cy="276999"/>
          </a:xfrm>
          <a:prstGeom prst="rect">
            <a:avLst/>
          </a:prstGeom>
          <a:noFill/>
        </p:spPr>
        <p:txBody>
          <a:bodyPr wrap="square" rtlCol="0">
            <a:spAutoFit/>
          </a:bodyPr>
          <a:lstStyle/>
          <a:p>
            <a:r>
              <a:rPr lang="en-US" sz="1200" b="1" dirty="0">
                <a:solidFill>
                  <a:schemeClr val="accent6"/>
                </a:solidFill>
              </a:rPr>
              <a:t>+$40</a:t>
            </a:r>
          </a:p>
        </p:txBody>
      </p:sp>
      <p:sp>
        <p:nvSpPr>
          <p:cNvPr id="43" name="TextBox 42">
            <a:extLst>
              <a:ext uri="{FF2B5EF4-FFF2-40B4-BE49-F238E27FC236}">
                <a16:creationId xmlns:a16="http://schemas.microsoft.com/office/drawing/2014/main" id="{6590FD7B-A8C3-2826-0DE2-EC2542D411D9}"/>
              </a:ext>
            </a:extLst>
          </p:cNvPr>
          <p:cNvSpPr txBox="1"/>
          <p:nvPr/>
        </p:nvSpPr>
        <p:spPr>
          <a:xfrm>
            <a:off x="1982560" y="4665991"/>
            <a:ext cx="453454" cy="276999"/>
          </a:xfrm>
          <a:prstGeom prst="rect">
            <a:avLst/>
          </a:prstGeom>
          <a:noFill/>
        </p:spPr>
        <p:txBody>
          <a:bodyPr wrap="square" rtlCol="0">
            <a:spAutoFit/>
          </a:bodyPr>
          <a:lstStyle/>
          <a:p>
            <a:r>
              <a:rPr lang="en-US" sz="1200" b="1" dirty="0">
                <a:solidFill>
                  <a:schemeClr val="accent1"/>
                </a:solidFill>
              </a:rPr>
              <a:t>+$8</a:t>
            </a:r>
          </a:p>
        </p:txBody>
      </p:sp>
      <p:sp>
        <p:nvSpPr>
          <p:cNvPr id="44" name="TextBox 43">
            <a:extLst>
              <a:ext uri="{FF2B5EF4-FFF2-40B4-BE49-F238E27FC236}">
                <a16:creationId xmlns:a16="http://schemas.microsoft.com/office/drawing/2014/main" id="{A0387253-C892-A678-E130-B294D7C8A182}"/>
              </a:ext>
            </a:extLst>
          </p:cNvPr>
          <p:cNvSpPr txBox="1"/>
          <p:nvPr/>
        </p:nvSpPr>
        <p:spPr>
          <a:xfrm>
            <a:off x="2997717" y="4665991"/>
            <a:ext cx="453454" cy="276999"/>
          </a:xfrm>
          <a:prstGeom prst="rect">
            <a:avLst/>
          </a:prstGeom>
          <a:noFill/>
        </p:spPr>
        <p:txBody>
          <a:bodyPr wrap="square" rtlCol="0">
            <a:spAutoFit/>
          </a:bodyPr>
          <a:lstStyle/>
          <a:p>
            <a:r>
              <a:rPr lang="en-US" sz="1200" b="1" dirty="0">
                <a:solidFill>
                  <a:schemeClr val="accent1"/>
                </a:solidFill>
              </a:rPr>
              <a:t>+$8</a:t>
            </a:r>
          </a:p>
        </p:txBody>
      </p:sp>
      <p:sp>
        <p:nvSpPr>
          <p:cNvPr id="45" name="TextBox 44">
            <a:extLst>
              <a:ext uri="{FF2B5EF4-FFF2-40B4-BE49-F238E27FC236}">
                <a16:creationId xmlns:a16="http://schemas.microsoft.com/office/drawing/2014/main" id="{F049E667-B768-EA5A-67DC-89DD15979655}"/>
              </a:ext>
            </a:extLst>
          </p:cNvPr>
          <p:cNvSpPr txBox="1"/>
          <p:nvPr/>
        </p:nvSpPr>
        <p:spPr>
          <a:xfrm>
            <a:off x="4125505" y="4665991"/>
            <a:ext cx="453454" cy="276999"/>
          </a:xfrm>
          <a:prstGeom prst="rect">
            <a:avLst/>
          </a:prstGeom>
          <a:noFill/>
        </p:spPr>
        <p:txBody>
          <a:bodyPr wrap="square" rtlCol="0">
            <a:spAutoFit/>
          </a:bodyPr>
          <a:lstStyle/>
          <a:p>
            <a:r>
              <a:rPr lang="en-US" sz="1200" b="1" dirty="0">
                <a:solidFill>
                  <a:schemeClr val="accent1"/>
                </a:solidFill>
              </a:rPr>
              <a:t>+$8</a:t>
            </a:r>
          </a:p>
        </p:txBody>
      </p:sp>
      <p:sp>
        <p:nvSpPr>
          <p:cNvPr id="46" name="TextBox 45">
            <a:extLst>
              <a:ext uri="{FF2B5EF4-FFF2-40B4-BE49-F238E27FC236}">
                <a16:creationId xmlns:a16="http://schemas.microsoft.com/office/drawing/2014/main" id="{EE8BD49A-2706-5A4E-6C71-6A2F4CEE22E9}"/>
              </a:ext>
            </a:extLst>
          </p:cNvPr>
          <p:cNvSpPr txBox="1"/>
          <p:nvPr/>
        </p:nvSpPr>
        <p:spPr>
          <a:xfrm>
            <a:off x="5140662" y="4665991"/>
            <a:ext cx="453454" cy="276999"/>
          </a:xfrm>
          <a:prstGeom prst="rect">
            <a:avLst/>
          </a:prstGeom>
          <a:noFill/>
        </p:spPr>
        <p:txBody>
          <a:bodyPr wrap="square" rtlCol="0">
            <a:spAutoFit/>
          </a:bodyPr>
          <a:lstStyle/>
          <a:p>
            <a:r>
              <a:rPr lang="en-US" sz="1200" b="1" dirty="0">
                <a:solidFill>
                  <a:schemeClr val="accent1"/>
                </a:solidFill>
              </a:rPr>
              <a:t>+$8</a:t>
            </a:r>
          </a:p>
        </p:txBody>
      </p:sp>
      <p:sp>
        <p:nvSpPr>
          <p:cNvPr id="47" name="TextBox 46">
            <a:extLst>
              <a:ext uri="{FF2B5EF4-FFF2-40B4-BE49-F238E27FC236}">
                <a16:creationId xmlns:a16="http://schemas.microsoft.com/office/drawing/2014/main" id="{4BEC68D1-9438-0CC1-EEF9-A192E450A766}"/>
              </a:ext>
            </a:extLst>
          </p:cNvPr>
          <p:cNvSpPr txBox="1"/>
          <p:nvPr/>
        </p:nvSpPr>
        <p:spPr>
          <a:xfrm>
            <a:off x="6197392" y="4674819"/>
            <a:ext cx="453454" cy="276999"/>
          </a:xfrm>
          <a:prstGeom prst="rect">
            <a:avLst/>
          </a:prstGeom>
          <a:noFill/>
        </p:spPr>
        <p:txBody>
          <a:bodyPr wrap="square" rtlCol="0">
            <a:spAutoFit/>
          </a:bodyPr>
          <a:lstStyle/>
          <a:p>
            <a:r>
              <a:rPr lang="en-US" sz="1200" b="1" dirty="0">
                <a:solidFill>
                  <a:schemeClr val="accent1"/>
                </a:solidFill>
              </a:rPr>
              <a:t>+$8</a:t>
            </a:r>
          </a:p>
        </p:txBody>
      </p:sp>
      <p:sp>
        <p:nvSpPr>
          <p:cNvPr id="48" name="TextBox 47">
            <a:extLst>
              <a:ext uri="{FF2B5EF4-FFF2-40B4-BE49-F238E27FC236}">
                <a16:creationId xmlns:a16="http://schemas.microsoft.com/office/drawing/2014/main" id="{71A9349E-99FA-5FE5-4E97-0335A957E71D}"/>
              </a:ext>
            </a:extLst>
          </p:cNvPr>
          <p:cNvSpPr txBox="1"/>
          <p:nvPr/>
        </p:nvSpPr>
        <p:spPr>
          <a:xfrm>
            <a:off x="1988580" y="4518452"/>
            <a:ext cx="528009" cy="276999"/>
          </a:xfrm>
          <a:prstGeom prst="rect">
            <a:avLst/>
          </a:prstGeom>
          <a:noFill/>
        </p:spPr>
        <p:txBody>
          <a:bodyPr wrap="square" rtlCol="0">
            <a:spAutoFit/>
          </a:bodyPr>
          <a:lstStyle/>
          <a:p>
            <a:r>
              <a:rPr lang="en-US" sz="1200" b="1" dirty="0">
                <a:solidFill>
                  <a:schemeClr val="accent1"/>
                </a:solidFill>
              </a:rPr>
              <a:t>+$16</a:t>
            </a:r>
          </a:p>
        </p:txBody>
      </p:sp>
      <p:sp>
        <p:nvSpPr>
          <p:cNvPr id="49" name="TextBox 48">
            <a:extLst>
              <a:ext uri="{FF2B5EF4-FFF2-40B4-BE49-F238E27FC236}">
                <a16:creationId xmlns:a16="http://schemas.microsoft.com/office/drawing/2014/main" id="{0923CA7E-3AA0-920B-FE69-D98E175EA091}"/>
              </a:ext>
            </a:extLst>
          </p:cNvPr>
          <p:cNvSpPr txBox="1"/>
          <p:nvPr/>
        </p:nvSpPr>
        <p:spPr>
          <a:xfrm>
            <a:off x="3003737" y="4518452"/>
            <a:ext cx="524933" cy="276999"/>
          </a:xfrm>
          <a:prstGeom prst="rect">
            <a:avLst/>
          </a:prstGeom>
          <a:noFill/>
        </p:spPr>
        <p:txBody>
          <a:bodyPr wrap="square" rtlCol="0">
            <a:spAutoFit/>
          </a:bodyPr>
          <a:lstStyle/>
          <a:p>
            <a:r>
              <a:rPr lang="en-US" sz="1200" b="1" dirty="0">
                <a:solidFill>
                  <a:schemeClr val="accent1"/>
                </a:solidFill>
              </a:rPr>
              <a:t>+$16</a:t>
            </a:r>
          </a:p>
        </p:txBody>
      </p:sp>
      <p:sp>
        <p:nvSpPr>
          <p:cNvPr id="50" name="TextBox 49">
            <a:extLst>
              <a:ext uri="{FF2B5EF4-FFF2-40B4-BE49-F238E27FC236}">
                <a16:creationId xmlns:a16="http://schemas.microsoft.com/office/drawing/2014/main" id="{AA75FDAE-10AD-EBB8-23C8-9B1817F15802}"/>
              </a:ext>
            </a:extLst>
          </p:cNvPr>
          <p:cNvSpPr txBox="1"/>
          <p:nvPr/>
        </p:nvSpPr>
        <p:spPr>
          <a:xfrm>
            <a:off x="4131526" y="4518452"/>
            <a:ext cx="555492" cy="276999"/>
          </a:xfrm>
          <a:prstGeom prst="rect">
            <a:avLst/>
          </a:prstGeom>
          <a:noFill/>
        </p:spPr>
        <p:txBody>
          <a:bodyPr wrap="square" rtlCol="0">
            <a:spAutoFit/>
          </a:bodyPr>
          <a:lstStyle/>
          <a:p>
            <a:r>
              <a:rPr lang="en-US" sz="1200" b="1" dirty="0">
                <a:solidFill>
                  <a:schemeClr val="accent1"/>
                </a:solidFill>
              </a:rPr>
              <a:t>+$16</a:t>
            </a:r>
          </a:p>
        </p:txBody>
      </p:sp>
      <p:sp>
        <p:nvSpPr>
          <p:cNvPr id="51" name="TextBox 50">
            <a:extLst>
              <a:ext uri="{FF2B5EF4-FFF2-40B4-BE49-F238E27FC236}">
                <a16:creationId xmlns:a16="http://schemas.microsoft.com/office/drawing/2014/main" id="{17ACF874-F2BD-E2DD-9A46-59E8068DCDD7}"/>
              </a:ext>
            </a:extLst>
          </p:cNvPr>
          <p:cNvSpPr txBox="1"/>
          <p:nvPr/>
        </p:nvSpPr>
        <p:spPr>
          <a:xfrm>
            <a:off x="5146682" y="4518452"/>
            <a:ext cx="555491" cy="276999"/>
          </a:xfrm>
          <a:prstGeom prst="rect">
            <a:avLst/>
          </a:prstGeom>
          <a:noFill/>
        </p:spPr>
        <p:txBody>
          <a:bodyPr wrap="square" rtlCol="0">
            <a:spAutoFit/>
          </a:bodyPr>
          <a:lstStyle/>
          <a:p>
            <a:r>
              <a:rPr lang="en-US" sz="1200" b="1" dirty="0">
                <a:solidFill>
                  <a:schemeClr val="accent1"/>
                </a:solidFill>
              </a:rPr>
              <a:t>+$16</a:t>
            </a:r>
          </a:p>
        </p:txBody>
      </p:sp>
      <p:sp>
        <p:nvSpPr>
          <p:cNvPr id="52" name="TextBox 51">
            <a:extLst>
              <a:ext uri="{FF2B5EF4-FFF2-40B4-BE49-F238E27FC236}">
                <a16:creationId xmlns:a16="http://schemas.microsoft.com/office/drawing/2014/main" id="{9519E27E-E5F6-5914-BB83-1CBA24D03A20}"/>
              </a:ext>
            </a:extLst>
          </p:cNvPr>
          <p:cNvSpPr txBox="1"/>
          <p:nvPr/>
        </p:nvSpPr>
        <p:spPr>
          <a:xfrm>
            <a:off x="6203413" y="4527280"/>
            <a:ext cx="547266" cy="276999"/>
          </a:xfrm>
          <a:prstGeom prst="rect">
            <a:avLst/>
          </a:prstGeom>
          <a:noFill/>
        </p:spPr>
        <p:txBody>
          <a:bodyPr wrap="square" rtlCol="0">
            <a:spAutoFit/>
          </a:bodyPr>
          <a:lstStyle/>
          <a:p>
            <a:r>
              <a:rPr lang="en-US" sz="1200" b="1" dirty="0">
                <a:solidFill>
                  <a:schemeClr val="accent1"/>
                </a:solidFill>
              </a:rPr>
              <a:t>+$16</a:t>
            </a:r>
          </a:p>
        </p:txBody>
      </p:sp>
      <p:graphicFrame>
        <p:nvGraphicFramePr>
          <p:cNvPr id="54" name="Table 53">
            <a:extLst>
              <a:ext uri="{FF2B5EF4-FFF2-40B4-BE49-F238E27FC236}">
                <a16:creationId xmlns:a16="http://schemas.microsoft.com/office/drawing/2014/main" id="{4DB8C686-FEE4-001B-8793-40817AC3679F}"/>
              </a:ext>
            </a:extLst>
          </p:cNvPr>
          <p:cNvGraphicFramePr>
            <a:graphicFrameLocks noGrp="1"/>
          </p:cNvGraphicFramePr>
          <p:nvPr>
            <p:extLst>
              <p:ext uri="{D42A27DB-BD31-4B8C-83A1-F6EECF244321}">
                <p14:modId xmlns:p14="http://schemas.microsoft.com/office/powerpoint/2010/main" val="399153589"/>
              </p:ext>
            </p:extLst>
          </p:nvPr>
        </p:nvGraphicFramePr>
        <p:xfrm>
          <a:off x="6931633" y="4426559"/>
          <a:ext cx="5067776" cy="2225040"/>
        </p:xfrm>
        <a:graphic>
          <a:graphicData uri="http://schemas.openxmlformats.org/drawingml/2006/table">
            <a:tbl>
              <a:tblPr firstRow="1" bandRow="1">
                <a:tableStyleId>{5C22544A-7EE6-4342-B048-85BDC9FD1C3A}</a:tableStyleId>
              </a:tblPr>
              <a:tblGrid>
                <a:gridCol w="1266944">
                  <a:extLst>
                    <a:ext uri="{9D8B030D-6E8A-4147-A177-3AD203B41FA5}">
                      <a16:colId xmlns:a16="http://schemas.microsoft.com/office/drawing/2014/main" val="2895661494"/>
                    </a:ext>
                  </a:extLst>
                </a:gridCol>
                <a:gridCol w="1266944">
                  <a:extLst>
                    <a:ext uri="{9D8B030D-6E8A-4147-A177-3AD203B41FA5}">
                      <a16:colId xmlns:a16="http://schemas.microsoft.com/office/drawing/2014/main" val="3071002665"/>
                    </a:ext>
                  </a:extLst>
                </a:gridCol>
                <a:gridCol w="1266944">
                  <a:extLst>
                    <a:ext uri="{9D8B030D-6E8A-4147-A177-3AD203B41FA5}">
                      <a16:colId xmlns:a16="http://schemas.microsoft.com/office/drawing/2014/main" val="1794881450"/>
                    </a:ext>
                  </a:extLst>
                </a:gridCol>
                <a:gridCol w="1266944">
                  <a:extLst>
                    <a:ext uri="{9D8B030D-6E8A-4147-A177-3AD203B41FA5}">
                      <a16:colId xmlns:a16="http://schemas.microsoft.com/office/drawing/2014/main" val="2778813766"/>
                    </a:ext>
                  </a:extLst>
                </a:gridCol>
              </a:tblGrid>
              <a:tr h="370840">
                <a:tc>
                  <a:txBody>
                    <a:bodyPr/>
                    <a:lstStyle/>
                    <a:p>
                      <a:r>
                        <a:rPr lang="en-US" dirty="0"/>
                        <a:t>Accounts</a:t>
                      </a:r>
                    </a:p>
                  </a:txBody>
                  <a:tcPr/>
                </a:tc>
                <a:tc>
                  <a:txBody>
                    <a:bodyPr/>
                    <a:lstStyle/>
                    <a:p>
                      <a:pPr algn="ctr"/>
                      <a:r>
                        <a:rPr lang="en-US" dirty="0"/>
                        <a:t>20</a:t>
                      </a:r>
                    </a:p>
                  </a:txBody>
                  <a:tcPr/>
                </a:tc>
                <a:tc>
                  <a:txBody>
                    <a:bodyPr/>
                    <a:lstStyle/>
                    <a:p>
                      <a:pPr algn="ctr"/>
                      <a:r>
                        <a:rPr lang="en-US" dirty="0"/>
                        <a:t>80</a:t>
                      </a:r>
                    </a:p>
                  </a:txBody>
                  <a:tcPr/>
                </a:tc>
                <a:tc>
                  <a:txBody>
                    <a:bodyPr/>
                    <a:lstStyle/>
                    <a:p>
                      <a:pPr algn="ctr"/>
                      <a:r>
                        <a:rPr lang="en-US" dirty="0"/>
                        <a:t>Total</a:t>
                      </a:r>
                    </a:p>
                  </a:txBody>
                  <a:tcPr/>
                </a:tc>
                <a:extLst>
                  <a:ext uri="{0D108BD9-81ED-4DB2-BD59-A6C34878D82A}">
                    <a16:rowId xmlns:a16="http://schemas.microsoft.com/office/drawing/2014/main" val="1344087545"/>
                  </a:ext>
                </a:extLst>
              </a:tr>
              <a:tr h="370840">
                <a:tc>
                  <a:txBody>
                    <a:bodyPr/>
                    <a:lstStyle/>
                    <a:p>
                      <a:pPr algn="ctr"/>
                      <a:r>
                        <a:rPr lang="en-US" dirty="0"/>
                        <a:t>1</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4227241205"/>
                  </a:ext>
                </a:extLst>
              </a:tr>
              <a:tr h="370840">
                <a:tc>
                  <a:txBody>
                    <a:bodyPr/>
                    <a:lstStyle/>
                    <a:p>
                      <a:pPr algn="ctr"/>
                      <a:r>
                        <a:rPr lang="en-US" dirty="0"/>
                        <a:t>2</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3707684889"/>
                  </a:ext>
                </a:extLst>
              </a:tr>
              <a:tr h="370840">
                <a:tc>
                  <a:txBody>
                    <a:bodyPr/>
                    <a:lstStyle/>
                    <a:p>
                      <a:pPr algn="ctr"/>
                      <a:r>
                        <a:rPr lang="en-US" dirty="0"/>
                        <a:t>3</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2549620593"/>
                  </a:ext>
                </a:extLst>
              </a:tr>
              <a:tr h="370840">
                <a:tc>
                  <a:txBody>
                    <a:bodyPr/>
                    <a:lstStyle/>
                    <a:p>
                      <a:pPr algn="ctr"/>
                      <a:r>
                        <a:rPr lang="en-US" dirty="0"/>
                        <a:t>4</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1281721652"/>
                  </a:ext>
                </a:extLst>
              </a:tr>
              <a:tr h="370840">
                <a:tc>
                  <a:txBody>
                    <a:bodyPr/>
                    <a:lstStyle/>
                    <a:p>
                      <a:pPr algn="ctr"/>
                      <a:r>
                        <a:rPr lang="en-US" dirty="0"/>
                        <a:t>5</a:t>
                      </a:r>
                    </a:p>
                  </a:txBody>
                  <a:tcPr/>
                </a:tc>
                <a:tc>
                  <a:txBody>
                    <a:bodyPr/>
                    <a:lstStyle/>
                    <a:p>
                      <a:pPr algn="ctr"/>
                      <a:r>
                        <a:rPr lang="en-US" dirty="0"/>
                        <a:t>40</a:t>
                      </a:r>
                    </a:p>
                  </a:txBody>
                  <a:tcPr/>
                </a:tc>
                <a:tc>
                  <a:txBody>
                    <a:bodyPr/>
                    <a:lstStyle/>
                    <a:p>
                      <a:pPr algn="ctr"/>
                      <a:r>
                        <a:rPr lang="en-US" dirty="0"/>
                        <a:t>32</a:t>
                      </a:r>
                    </a:p>
                  </a:txBody>
                  <a:tcPr/>
                </a:tc>
                <a:tc>
                  <a:txBody>
                    <a:bodyPr/>
                    <a:lstStyle/>
                    <a:p>
                      <a:pPr algn="ctr"/>
                      <a:r>
                        <a:rPr lang="en-US" dirty="0"/>
                        <a:t>72</a:t>
                      </a:r>
                    </a:p>
                  </a:txBody>
                  <a:tcPr/>
                </a:tc>
                <a:extLst>
                  <a:ext uri="{0D108BD9-81ED-4DB2-BD59-A6C34878D82A}">
                    <a16:rowId xmlns:a16="http://schemas.microsoft.com/office/drawing/2014/main" val="3761413013"/>
                  </a:ext>
                </a:extLst>
              </a:tr>
            </a:tbl>
          </a:graphicData>
        </a:graphic>
      </p:graphicFrame>
    </p:spTree>
    <p:extLst>
      <p:ext uri="{BB962C8B-B14F-4D97-AF65-F5344CB8AC3E}">
        <p14:creationId xmlns:p14="http://schemas.microsoft.com/office/powerpoint/2010/main" val="122228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B097837F-040C-5C2B-55E9-F0FEC4A0230D}"/>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graphicFrame>
        <p:nvGraphicFramePr>
          <p:cNvPr id="3" name="Table 2">
            <a:extLst>
              <a:ext uri="{FF2B5EF4-FFF2-40B4-BE49-F238E27FC236}">
                <a16:creationId xmlns:a16="http://schemas.microsoft.com/office/drawing/2014/main" id="{32CF1E2C-B14C-8476-B904-BEFEB3E62813}"/>
              </a:ext>
            </a:extLst>
          </p:cNvPr>
          <p:cNvGraphicFramePr>
            <a:graphicFrameLocks noGrp="1"/>
          </p:cNvGraphicFramePr>
          <p:nvPr>
            <p:extLst>
              <p:ext uri="{D42A27DB-BD31-4B8C-83A1-F6EECF244321}">
                <p14:modId xmlns:p14="http://schemas.microsoft.com/office/powerpoint/2010/main" val="1691317133"/>
              </p:ext>
            </p:extLst>
          </p:nvPr>
        </p:nvGraphicFramePr>
        <p:xfrm>
          <a:off x="604891" y="2568126"/>
          <a:ext cx="5067776" cy="2225040"/>
        </p:xfrm>
        <a:graphic>
          <a:graphicData uri="http://schemas.openxmlformats.org/drawingml/2006/table">
            <a:tbl>
              <a:tblPr firstRow="1" bandRow="1">
                <a:tableStyleId>{5C22544A-7EE6-4342-B048-85BDC9FD1C3A}</a:tableStyleId>
              </a:tblPr>
              <a:tblGrid>
                <a:gridCol w="1266944">
                  <a:extLst>
                    <a:ext uri="{9D8B030D-6E8A-4147-A177-3AD203B41FA5}">
                      <a16:colId xmlns:a16="http://schemas.microsoft.com/office/drawing/2014/main" val="2895661494"/>
                    </a:ext>
                  </a:extLst>
                </a:gridCol>
                <a:gridCol w="1266944">
                  <a:extLst>
                    <a:ext uri="{9D8B030D-6E8A-4147-A177-3AD203B41FA5}">
                      <a16:colId xmlns:a16="http://schemas.microsoft.com/office/drawing/2014/main" val="3071002665"/>
                    </a:ext>
                  </a:extLst>
                </a:gridCol>
                <a:gridCol w="1266944">
                  <a:extLst>
                    <a:ext uri="{9D8B030D-6E8A-4147-A177-3AD203B41FA5}">
                      <a16:colId xmlns:a16="http://schemas.microsoft.com/office/drawing/2014/main" val="1794881450"/>
                    </a:ext>
                  </a:extLst>
                </a:gridCol>
                <a:gridCol w="1266944">
                  <a:extLst>
                    <a:ext uri="{9D8B030D-6E8A-4147-A177-3AD203B41FA5}">
                      <a16:colId xmlns:a16="http://schemas.microsoft.com/office/drawing/2014/main" val="2778813766"/>
                    </a:ext>
                  </a:extLst>
                </a:gridCol>
              </a:tblGrid>
              <a:tr h="370840">
                <a:tc>
                  <a:txBody>
                    <a:bodyPr/>
                    <a:lstStyle/>
                    <a:p>
                      <a:r>
                        <a:rPr lang="en-US" dirty="0"/>
                        <a:t>Accounts</a:t>
                      </a:r>
                    </a:p>
                  </a:txBody>
                  <a:tcPr/>
                </a:tc>
                <a:tc>
                  <a:txBody>
                    <a:bodyPr/>
                    <a:lstStyle/>
                    <a:p>
                      <a:pPr algn="ctr"/>
                      <a:r>
                        <a:rPr lang="en-US" dirty="0"/>
                        <a:t>20</a:t>
                      </a:r>
                    </a:p>
                  </a:txBody>
                  <a:tcPr/>
                </a:tc>
                <a:tc>
                  <a:txBody>
                    <a:bodyPr/>
                    <a:lstStyle/>
                    <a:p>
                      <a:pPr algn="ctr"/>
                      <a:r>
                        <a:rPr lang="en-US" dirty="0"/>
                        <a:t>80</a:t>
                      </a:r>
                    </a:p>
                  </a:txBody>
                  <a:tcPr/>
                </a:tc>
                <a:tc>
                  <a:txBody>
                    <a:bodyPr/>
                    <a:lstStyle/>
                    <a:p>
                      <a:pPr algn="ctr"/>
                      <a:r>
                        <a:rPr lang="en-US" dirty="0"/>
                        <a:t>Total</a:t>
                      </a:r>
                    </a:p>
                  </a:txBody>
                  <a:tcPr/>
                </a:tc>
                <a:extLst>
                  <a:ext uri="{0D108BD9-81ED-4DB2-BD59-A6C34878D82A}">
                    <a16:rowId xmlns:a16="http://schemas.microsoft.com/office/drawing/2014/main" val="1344087545"/>
                  </a:ext>
                </a:extLst>
              </a:tr>
              <a:tr h="370840">
                <a:tc>
                  <a:txBody>
                    <a:bodyPr/>
                    <a:lstStyle/>
                    <a:p>
                      <a:pPr algn="ctr"/>
                      <a:r>
                        <a:rPr lang="en-US" dirty="0"/>
                        <a:t>1</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4227241205"/>
                  </a:ext>
                </a:extLst>
              </a:tr>
              <a:tr h="370840">
                <a:tc>
                  <a:txBody>
                    <a:bodyPr/>
                    <a:lstStyle/>
                    <a:p>
                      <a:pPr algn="ctr"/>
                      <a:r>
                        <a:rPr lang="en-US" dirty="0"/>
                        <a:t>2</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3707684889"/>
                  </a:ext>
                </a:extLst>
              </a:tr>
              <a:tr h="370840">
                <a:tc>
                  <a:txBody>
                    <a:bodyPr/>
                    <a:lstStyle/>
                    <a:p>
                      <a:pPr algn="ctr"/>
                      <a:r>
                        <a:rPr lang="en-US" dirty="0"/>
                        <a:t>3</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2549620593"/>
                  </a:ext>
                </a:extLst>
              </a:tr>
              <a:tr h="370840">
                <a:tc>
                  <a:txBody>
                    <a:bodyPr/>
                    <a:lstStyle/>
                    <a:p>
                      <a:pPr algn="ctr"/>
                      <a:r>
                        <a:rPr lang="en-US" dirty="0"/>
                        <a:t>4</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1281721652"/>
                  </a:ext>
                </a:extLst>
              </a:tr>
              <a:tr h="370840">
                <a:tc>
                  <a:txBody>
                    <a:bodyPr/>
                    <a:lstStyle/>
                    <a:p>
                      <a:pPr algn="ctr"/>
                      <a:r>
                        <a:rPr lang="en-US" dirty="0"/>
                        <a:t>5</a:t>
                      </a:r>
                    </a:p>
                  </a:txBody>
                  <a:tcPr/>
                </a:tc>
                <a:tc>
                  <a:txBody>
                    <a:bodyPr/>
                    <a:lstStyle/>
                    <a:p>
                      <a:pPr algn="ctr"/>
                      <a:r>
                        <a:rPr lang="en-US" dirty="0"/>
                        <a:t>40</a:t>
                      </a:r>
                    </a:p>
                  </a:txBody>
                  <a:tcPr/>
                </a:tc>
                <a:tc>
                  <a:txBody>
                    <a:bodyPr/>
                    <a:lstStyle/>
                    <a:p>
                      <a:pPr algn="ctr"/>
                      <a:r>
                        <a:rPr lang="en-US" dirty="0"/>
                        <a:t>32</a:t>
                      </a:r>
                    </a:p>
                  </a:txBody>
                  <a:tcPr/>
                </a:tc>
                <a:tc>
                  <a:txBody>
                    <a:bodyPr/>
                    <a:lstStyle/>
                    <a:p>
                      <a:pPr algn="ctr"/>
                      <a:r>
                        <a:rPr lang="en-US" dirty="0"/>
                        <a:t>72</a:t>
                      </a:r>
                    </a:p>
                  </a:txBody>
                  <a:tcPr/>
                </a:tc>
                <a:extLst>
                  <a:ext uri="{0D108BD9-81ED-4DB2-BD59-A6C34878D82A}">
                    <a16:rowId xmlns:a16="http://schemas.microsoft.com/office/drawing/2014/main" val="3761413013"/>
                  </a:ext>
                </a:extLst>
              </a:tr>
            </a:tbl>
          </a:graphicData>
        </a:graphic>
      </p:graphicFrame>
      <p:graphicFrame>
        <p:nvGraphicFramePr>
          <p:cNvPr id="5" name="Table 4">
            <a:extLst>
              <a:ext uri="{FF2B5EF4-FFF2-40B4-BE49-F238E27FC236}">
                <a16:creationId xmlns:a16="http://schemas.microsoft.com/office/drawing/2014/main" id="{2DD5622C-11EC-FE2C-0995-E6B753223B55}"/>
              </a:ext>
            </a:extLst>
          </p:cNvPr>
          <p:cNvGraphicFramePr>
            <a:graphicFrameLocks noGrp="1"/>
          </p:cNvGraphicFramePr>
          <p:nvPr>
            <p:extLst>
              <p:ext uri="{D42A27DB-BD31-4B8C-83A1-F6EECF244321}">
                <p14:modId xmlns:p14="http://schemas.microsoft.com/office/powerpoint/2010/main" val="640474368"/>
              </p:ext>
            </p:extLst>
          </p:nvPr>
        </p:nvGraphicFramePr>
        <p:xfrm>
          <a:off x="6319891" y="2573392"/>
          <a:ext cx="5067776" cy="2225040"/>
        </p:xfrm>
        <a:graphic>
          <a:graphicData uri="http://schemas.openxmlformats.org/drawingml/2006/table">
            <a:tbl>
              <a:tblPr firstRow="1" bandRow="1">
                <a:tableStyleId>{5C22544A-7EE6-4342-B048-85BDC9FD1C3A}</a:tableStyleId>
              </a:tblPr>
              <a:tblGrid>
                <a:gridCol w="1266944">
                  <a:extLst>
                    <a:ext uri="{9D8B030D-6E8A-4147-A177-3AD203B41FA5}">
                      <a16:colId xmlns:a16="http://schemas.microsoft.com/office/drawing/2014/main" val="2895661494"/>
                    </a:ext>
                  </a:extLst>
                </a:gridCol>
                <a:gridCol w="1266944">
                  <a:extLst>
                    <a:ext uri="{9D8B030D-6E8A-4147-A177-3AD203B41FA5}">
                      <a16:colId xmlns:a16="http://schemas.microsoft.com/office/drawing/2014/main" val="3071002665"/>
                    </a:ext>
                  </a:extLst>
                </a:gridCol>
                <a:gridCol w="1266944">
                  <a:extLst>
                    <a:ext uri="{9D8B030D-6E8A-4147-A177-3AD203B41FA5}">
                      <a16:colId xmlns:a16="http://schemas.microsoft.com/office/drawing/2014/main" val="1794881450"/>
                    </a:ext>
                  </a:extLst>
                </a:gridCol>
                <a:gridCol w="1266944">
                  <a:extLst>
                    <a:ext uri="{9D8B030D-6E8A-4147-A177-3AD203B41FA5}">
                      <a16:colId xmlns:a16="http://schemas.microsoft.com/office/drawing/2014/main" val="2778813766"/>
                    </a:ext>
                  </a:extLst>
                </a:gridCol>
              </a:tblGrid>
              <a:tr h="370840">
                <a:tc>
                  <a:txBody>
                    <a:bodyPr/>
                    <a:lstStyle/>
                    <a:p>
                      <a:r>
                        <a:rPr lang="en-US" dirty="0"/>
                        <a:t>Accounts</a:t>
                      </a:r>
                    </a:p>
                  </a:txBody>
                  <a:tcPr/>
                </a:tc>
                <a:tc>
                  <a:txBody>
                    <a:bodyPr/>
                    <a:lstStyle/>
                    <a:p>
                      <a:pPr algn="ctr"/>
                      <a:r>
                        <a:rPr lang="en-US" dirty="0"/>
                        <a:t>20</a:t>
                      </a:r>
                    </a:p>
                  </a:txBody>
                  <a:tcPr/>
                </a:tc>
                <a:tc>
                  <a:txBody>
                    <a:bodyPr/>
                    <a:lstStyle/>
                    <a:p>
                      <a:pPr algn="ctr"/>
                      <a:r>
                        <a:rPr lang="en-US" dirty="0"/>
                        <a:t>80</a:t>
                      </a:r>
                    </a:p>
                  </a:txBody>
                  <a:tcPr/>
                </a:tc>
                <a:tc>
                  <a:txBody>
                    <a:bodyPr/>
                    <a:lstStyle/>
                    <a:p>
                      <a:pPr algn="ctr"/>
                      <a:r>
                        <a:rPr lang="en-US" dirty="0"/>
                        <a:t>Total</a:t>
                      </a:r>
                    </a:p>
                  </a:txBody>
                  <a:tcPr/>
                </a:tc>
                <a:extLst>
                  <a:ext uri="{0D108BD9-81ED-4DB2-BD59-A6C34878D82A}">
                    <a16:rowId xmlns:a16="http://schemas.microsoft.com/office/drawing/2014/main" val="1344087545"/>
                  </a:ext>
                </a:extLst>
              </a:tr>
              <a:tr h="370840">
                <a:tc>
                  <a:txBody>
                    <a:bodyPr/>
                    <a:lstStyle/>
                    <a:p>
                      <a:pPr algn="ctr"/>
                      <a:r>
                        <a:rPr lang="en-US" dirty="0"/>
                        <a:t>6</a:t>
                      </a:r>
                    </a:p>
                  </a:txBody>
                  <a:tcPr/>
                </a:tc>
                <a:tc>
                  <a:txBody>
                    <a:bodyPr/>
                    <a:lstStyle/>
                    <a:p>
                      <a:pPr algn="ctr"/>
                      <a:r>
                        <a:rPr lang="en-US" dirty="0"/>
                        <a:t>0</a:t>
                      </a:r>
                    </a:p>
                  </a:txBody>
                  <a:tcPr/>
                </a:tc>
                <a:tc>
                  <a:txBody>
                    <a:bodyPr/>
                    <a:lstStyle/>
                    <a:p>
                      <a:pPr algn="ctr"/>
                      <a:r>
                        <a:rPr lang="en-US" dirty="0"/>
                        <a:t>32</a:t>
                      </a:r>
                    </a:p>
                  </a:txBody>
                  <a:tcPr/>
                </a:tc>
                <a:tc>
                  <a:txBody>
                    <a:bodyPr/>
                    <a:lstStyle/>
                    <a:p>
                      <a:pPr algn="ctr"/>
                      <a:r>
                        <a:rPr lang="en-US" dirty="0"/>
                        <a:t>32</a:t>
                      </a:r>
                    </a:p>
                  </a:txBody>
                  <a:tcPr/>
                </a:tc>
                <a:extLst>
                  <a:ext uri="{0D108BD9-81ED-4DB2-BD59-A6C34878D82A}">
                    <a16:rowId xmlns:a16="http://schemas.microsoft.com/office/drawing/2014/main" val="4227241205"/>
                  </a:ext>
                </a:extLst>
              </a:tr>
              <a:tr h="370840">
                <a:tc>
                  <a:txBody>
                    <a:bodyPr/>
                    <a:lstStyle/>
                    <a:p>
                      <a:pPr algn="ctr"/>
                      <a:r>
                        <a:rPr lang="en-US" dirty="0"/>
                        <a:t>7</a:t>
                      </a:r>
                    </a:p>
                  </a:txBody>
                  <a:tcPr/>
                </a:tc>
                <a:tc>
                  <a:txBody>
                    <a:bodyPr/>
                    <a:lstStyle/>
                    <a:p>
                      <a:pPr algn="ctr"/>
                      <a:r>
                        <a:rPr lang="en-US" dirty="0"/>
                        <a:t>0</a:t>
                      </a:r>
                    </a:p>
                  </a:txBody>
                  <a:tcPr/>
                </a:tc>
                <a:tc>
                  <a:txBody>
                    <a:bodyPr/>
                    <a:lstStyle/>
                    <a:p>
                      <a:pPr algn="ctr"/>
                      <a:r>
                        <a:rPr lang="en-US" dirty="0"/>
                        <a:t>32</a:t>
                      </a:r>
                    </a:p>
                  </a:txBody>
                  <a:tcPr/>
                </a:tc>
                <a:tc>
                  <a:txBody>
                    <a:bodyPr/>
                    <a:lstStyle/>
                    <a:p>
                      <a:pPr algn="ctr"/>
                      <a:r>
                        <a:rPr lang="en-US" dirty="0"/>
                        <a:t>32</a:t>
                      </a:r>
                    </a:p>
                  </a:txBody>
                  <a:tcPr/>
                </a:tc>
                <a:extLst>
                  <a:ext uri="{0D108BD9-81ED-4DB2-BD59-A6C34878D82A}">
                    <a16:rowId xmlns:a16="http://schemas.microsoft.com/office/drawing/2014/main" val="3707684889"/>
                  </a:ext>
                </a:extLst>
              </a:tr>
              <a:tr h="370840">
                <a:tc>
                  <a:txBody>
                    <a:bodyPr/>
                    <a:lstStyle/>
                    <a:p>
                      <a:pPr algn="ctr"/>
                      <a:r>
                        <a:rPr lang="en-US" dirty="0"/>
                        <a:t>8</a:t>
                      </a:r>
                    </a:p>
                  </a:txBody>
                  <a:tcPr/>
                </a:tc>
                <a:tc>
                  <a:txBody>
                    <a:bodyPr/>
                    <a:lstStyle/>
                    <a:p>
                      <a:pPr algn="ctr"/>
                      <a:r>
                        <a:rPr lang="en-US" dirty="0"/>
                        <a:t>0</a:t>
                      </a:r>
                    </a:p>
                  </a:txBody>
                  <a:tcPr/>
                </a:tc>
                <a:tc>
                  <a:txBody>
                    <a:bodyPr/>
                    <a:lstStyle/>
                    <a:p>
                      <a:pPr algn="ctr"/>
                      <a:r>
                        <a:rPr lang="en-US" dirty="0"/>
                        <a:t>32</a:t>
                      </a:r>
                    </a:p>
                  </a:txBody>
                  <a:tcPr/>
                </a:tc>
                <a:tc>
                  <a:txBody>
                    <a:bodyPr/>
                    <a:lstStyle/>
                    <a:p>
                      <a:pPr algn="ctr"/>
                      <a:r>
                        <a:rPr lang="en-US" dirty="0"/>
                        <a:t>32</a:t>
                      </a:r>
                    </a:p>
                  </a:txBody>
                  <a:tcPr/>
                </a:tc>
                <a:extLst>
                  <a:ext uri="{0D108BD9-81ED-4DB2-BD59-A6C34878D82A}">
                    <a16:rowId xmlns:a16="http://schemas.microsoft.com/office/drawing/2014/main" val="2549620593"/>
                  </a:ext>
                </a:extLst>
              </a:tr>
              <a:tr h="370840">
                <a:tc>
                  <a:txBody>
                    <a:bodyPr/>
                    <a:lstStyle/>
                    <a:p>
                      <a:pPr algn="ctr"/>
                      <a:r>
                        <a:rPr lang="en-US" dirty="0"/>
                        <a:t>9</a:t>
                      </a:r>
                    </a:p>
                  </a:txBody>
                  <a:tcPr/>
                </a:tc>
                <a:tc>
                  <a:txBody>
                    <a:bodyPr/>
                    <a:lstStyle/>
                    <a:p>
                      <a:pPr algn="ctr"/>
                      <a:r>
                        <a:rPr lang="en-US" dirty="0"/>
                        <a:t>0</a:t>
                      </a:r>
                    </a:p>
                  </a:txBody>
                  <a:tcPr/>
                </a:tc>
                <a:tc>
                  <a:txBody>
                    <a:bodyPr/>
                    <a:lstStyle/>
                    <a:p>
                      <a:pPr algn="ctr"/>
                      <a:r>
                        <a:rPr lang="en-US" dirty="0"/>
                        <a:t>32</a:t>
                      </a:r>
                    </a:p>
                  </a:txBody>
                  <a:tcPr/>
                </a:tc>
                <a:tc>
                  <a:txBody>
                    <a:bodyPr/>
                    <a:lstStyle/>
                    <a:p>
                      <a:pPr algn="ctr"/>
                      <a:r>
                        <a:rPr lang="en-US" dirty="0"/>
                        <a:t>32</a:t>
                      </a:r>
                    </a:p>
                  </a:txBody>
                  <a:tcPr/>
                </a:tc>
                <a:extLst>
                  <a:ext uri="{0D108BD9-81ED-4DB2-BD59-A6C34878D82A}">
                    <a16:rowId xmlns:a16="http://schemas.microsoft.com/office/drawing/2014/main" val="1281721652"/>
                  </a:ext>
                </a:extLst>
              </a:tr>
              <a:tr h="370840">
                <a:tc>
                  <a:txBody>
                    <a:bodyPr/>
                    <a:lstStyle/>
                    <a:p>
                      <a:pPr algn="ctr"/>
                      <a:r>
                        <a:rPr lang="en-US" dirty="0"/>
                        <a:t>10</a:t>
                      </a:r>
                    </a:p>
                  </a:txBody>
                  <a:tcPr/>
                </a:tc>
                <a:tc>
                  <a:txBody>
                    <a:bodyPr/>
                    <a:lstStyle/>
                    <a:p>
                      <a:pPr algn="ctr"/>
                      <a:r>
                        <a:rPr lang="en-US" dirty="0"/>
                        <a:t>0</a:t>
                      </a:r>
                    </a:p>
                  </a:txBody>
                  <a:tcPr/>
                </a:tc>
                <a:tc>
                  <a:txBody>
                    <a:bodyPr/>
                    <a:lstStyle/>
                    <a:p>
                      <a:pPr algn="ctr"/>
                      <a:r>
                        <a:rPr lang="en-US" dirty="0"/>
                        <a:t>32</a:t>
                      </a:r>
                    </a:p>
                  </a:txBody>
                  <a:tcPr/>
                </a:tc>
                <a:tc>
                  <a:txBody>
                    <a:bodyPr/>
                    <a:lstStyle/>
                    <a:p>
                      <a:pPr algn="ctr"/>
                      <a:r>
                        <a:rPr lang="en-US" dirty="0"/>
                        <a:t>32</a:t>
                      </a:r>
                    </a:p>
                  </a:txBody>
                  <a:tcPr/>
                </a:tc>
                <a:extLst>
                  <a:ext uri="{0D108BD9-81ED-4DB2-BD59-A6C34878D82A}">
                    <a16:rowId xmlns:a16="http://schemas.microsoft.com/office/drawing/2014/main" val="3761413013"/>
                  </a:ext>
                </a:extLst>
              </a:tr>
            </a:tbl>
          </a:graphicData>
        </a:graphic>
      </p:graphicFrame>
      <p:sp>
        <p:nvSpPr>
          <p:cNvPr id="6" name="TextBox 5">
            <a:extLst>
              <a:ext uri="{FF2B5EF4-FFF2-40B4-BE49-F238E27FC236}">
                <a16:creationId xmlns:a16="http://schemas.microsoft.com/office/drawing/2014/main" id="{42BA4FD7-9C0F-48CB-CBC5-5E4F4EAC1952}"/>
              </a:ext>
            </a:extLst>
          </p:cNvPr>
          <p:cNvSpPr txBox="1"/>
          <p:nvPr/>
        </p:nvSpPr>
        <p:spPr>
          <a:xfrm>
            <a:off x="296333" y="1308100"/>
            <a:ext cx="11595100" cy="923330"/>
          </a:xfrm>
          <a:prstGeom prst="rect">
            <a:avLst/>
          </a:prstGeom>
          <a:noFill/>
        </p:spPr>
        <p:txBody>
          <a:bodyPr wrap="square" rtlCol="0">
            <a:spAutoFit/>
          </a:bodyPr>
          <a:lstStyle/>
          <a:p>
            <a:r>
              <a:rPr lang="en-US" dirty="0"/>
              <a:t>Let’s take a look at our hypothetical 10 Vonguulians. We can see that 1 – 5 have amounts in their 20 column and 6 – 10 don’t. We can also observe that everyone has 32 in their 80 column. To keep things simple, whatever is in the 20 column is full access. Whatever is in the 80 column is subject to Levels of Access.</a:t>
            </a:r>
          </a:p>
        </p:txBody>
      </p:sp>
      <p:sp>
        <p:nvSpPr>
          <p:cNvPr id="7" name="TextBox 6">
            <a:extLst>
              <a:ext uri="{FF2B5EF4-FFF2-40B4-BE49-F238E27FC236}">
                <a16:creationId xmlns:a16="http://schemas.microsoft.com/office/drawing/2014/main" id="{DE28ABBE-00E3-FDA4-28E3-EE5ACC019F6F}"/>
              </a:ext>
            </a:extLst>
          </p:cNvPr>
          <p:cNvSpPr txBox="1"/>
          <p:nvPr/>
        </p:nvSpPr>
        <p:spPr>
          <a:xfrm>
            <a:off x="374649" y="5290066"/>
            <a:ext cx="11438467" cy="369332"/>
          </a:xfrm>
          <a:prstGeom prst="rect">
            <a:avLst/>
          </a:prstGeom>
          <a:noFill/>
        </p:spPr>
        <p:txBody>
          <a:bodyPr wrap="square" rtlCol="0">
            <a:spAutoFit/>
          </a:bodyPr>
          <a:lstStyle/>
          <a:p>
            <a:r>
              <a:rPr lang="en-US" dirty="0"/>
              <a:t>Let’s imagine that each Account has a Level of Access and visualize the effects.</a:t>
            </a:r>
          </a:p>
        </p:txBody>
      </p:sp>
    </p:spTree>
    <p:extLst>
      <p:ext uri="{BB962C8B-B14F-4D97-AF65-F5344CB8AC3E}">
        <p14:creationId xmlns:p14="http://schemas.microsoft.com/office/powerpoint/2010/main" val="1148698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DCEBB8DD-2432-DED2-F835-116C570B7BC6}"/>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graphicFrame>
        <p:nvGraphicFramePr>
          <p:cNvPr id="3" name="Table 2">
            <a:extLst>
              <a:ext uri="{FF2B5EF4-FFF2-40B4-BE49-F238E27FC236}">
                <a16:creationId xmlns:a16="http://schemas.microsoft.com/office/drawing/2014/main" id="{4C7C4E0C-F2AA-DBF5-C93D-2833D4F80B1F}"/>
              </a:ext>
            </a:extLst>
          </p:cNvPr>
          <p:cNvGraphicFramePr>
            <a:graphicFrameLocks noGrp="1"/>
          </p:cNvGraphicFramePr>
          <p:nvPr>
            <p:extLst>
              <p:ext uri="{D42A27DB-BD31-4B8C-83A1-F6EECF244321}">
                <p14:modId xmlns:p14="http://schemas.microsoft.com/office/powerpoint/2010/main" val="4060822981"/>
              </p:ext>
            </p:extLst>
          </p:nvPr>
        </p:nvGraphicFramePr>
        <p:xfrm>
          <a:off x="338666" y="1203960"/>
          <a:ext cx="7209365" cy="2225040"/>
        </p:xfrm>
        <a:graphic>
          <a:graphicData uri="http://schemas.openxmlformats.org/drawingml/2006/table">
            <a:tbl>
              <a:tblPr firstRow="1" bandRow="1">
                <a:tableStyleId>{5C22544A-7EE6-4342-B048-85BDC9FD1C3A}</a:tableStyleId>
              </a:tblPr>
              <a:tblGrid>
                <a:gridCol w="1441873">
                  <a:extLst>
                    <a:ext uri="{9D8B030D-6E8A-4147-A177-3AD203B41FA5}">
                      <a16:colId xmlns:a16="http://schemas.microsoft.com/office/drawing/2014/main" val="901758730"/>
                    </a:ext>
                  </a:extLst>
                </a:gridCol>
                <a:gridCol w="1441873">
                  <a:extLst>
                    <a:ext uri="{9D8B030D-6E8A-4147-A177-3AD203B41FA5}">
                      <a16:colId xmlns:a16="http://schemas.microsoft.com/office/drawing/2014/main" val="197622260"/>
                    </a:ext>
                  </a:extLst>
                </a:gridCol>
                <a:gridCol w="1441873">
                  <a:extLst>
                    <a:ext uri="{9D8B030D-6E8A-4147-A177-3AD203B41FA5}">
                      <a16:colId xmlns:a16="http://schemas.microsoft.com/office/drawing/2014/main" val="2813461748"/>
                    </a:ext>
                  </a:extLst>
                </a:gridCol>
                <a:gridCol w="1441873">
                  <a:extLst>
                    <a:ext uri="{9D8B030D-6E8A-4147-A177-3AD203B41FA5}">
                      <a16:colId xmlns:a16="http://schemas.microsoft.com/office/drawing/2014/main" val="3888940054"/>
                    </a:ext>
                  </a:extLst>
                </a:gridCol>
                <a:gridCol w="1441873">
                  <a:extLst>
                    <a:ext uri="{9D8B030D-6E8A-4147-A177-3AD203B41FA5}">
                      <a16:colId xmlns:a16="http://schemas.microsoft.com/office/drawing/2014/main" val="525929620"/>
                    </a:ext>
                  </a:extLst>
                </a:gridCol>
              </a:tblGrid>
              <a:tr h="370840">
                <a:tc>
                  <a:txBody>
                    <a:bodyPr/>
                    <a:lstStyle/>
                    <a:p>
                      <a:r>
                        <a:rPr lang="en-US" dirty="0"/>
                        <a:t>Access </a:t>
                      </a:r>
                      <a:r>
                        <a:rPr lang="en-US" dirty="0" err="1"/>
                        <a:t>Lv</a:t>
                      </a:r>
                      <a:endParaRPr lang="en-US" dirty="0"/>
                    </a:p>
                  </a:txBody>
                  <a:tcPr/>
                </a:tc>
                <a:tc>
                  <a:txBody>
                    <a:bodyPr/>
                    <a:lstStyle/>
                    <a:p>
                      <a:r>
                        <a:rPr lang="en-US" dirty="0"/>
                        <a:t>Accounts</a:t>
                      </a:r>
                    </a:p>
                  </a:txBody>
                  <a:tcPr/>
                </a:tc>
                <a:tc>
                  <a:txBody>
                    <a:bodyPr/>
                    <a:lstStyle/>
                    <a:p>
                      <a:pPr algn="ctr"/>
                      <a:r>
                        <a:rPr lang="en-US" dirty="0"/>
                        <a:t>20</a:t>
                      </a:r>
                    </a:p>
                  </a:txBody>
                  <a:tcPr/>
                </a:tc>
                <a:tc>
                  <a:txBody>
                    <a:bodyPr/>
                    <a:lstStyle/>
                    <a:p>
                      <a:pPr algn="ctr"/>
                      <a:r>
                        <a:rPr lang="en-US" dirty="0"/>
                        <a:t>80</a:t>
                      </a:r>
                    </a:p>
                  </a:txBody>
                  <a:tcPr/>
                </a:tc>
                <a:tc>
                  <a:txBody>
                    <a:bodyPr/>
                    <a:lstStyle/>
                    <a:p>
                      <a:pPr algn="ctr"/>
                      <a:r>
                        <a:rPr lang="en-US" dirty="0"/>
                        <a:t>Total</a:t>
                      </a:r>
                    </a:p>
                  </a:txBody>
                  <a:tcPr/>
                </a:tc>
                <a:extLst>
                  <a:ext uri="{0D108BD9-81ED-4DB2-BD59-A6C34878D82A}">
                    <a16:rowId xmlns:a16="http://schemas.microsoft.com/office/drawing/2014/main" val="1350569582"/>
                  </a:ext>
                </a:extLst>
              </a:tr>
              <a:tr h="370840">
                <a:tc>
                  <a:txBody>
                    <a:bodyPr/>
                    <a:lstStyle/>
                    <a:p>
                      <a:pPr algn="ctr"/>
                      <a:r>
                        <a:rPr lang="en-US" dirty="0"/>
                        <a:t>2</a:t>
                      </a:r>
                    </a:p>
                  </a:txBody>
                  <a:tcPr/>
                </a:tc>
                <a:tc>
                  <a:txBody>
                    <a:bodyPr/>
                    <a:lstStyle/>
                    <a:p>
                      <a:pPr algn="ctr"/>
                      <a:r>
                        <a:rPr lang="en-US" dirty="0"/>
                        <a:t>1</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2571901779"/>
                  </a:ext>
                </a:extLst>
              </a:tr>
              <a:tr h="370840">
                <a:tc>
                  <a:txBody>
                    <a:bodyPr/>
                    <a:lstStyle/>
                    <a:p>
                      <a:pPr algn="ctr"/>
                      <a:r>
                        <a:rPr lang="en-US" dirty="0"/>
                        <a:t>3</a:t>
                      </a:r>
                    </a:p>
                  </a:txBody>
                  <a:tcPr/>
                </a:tc>
                <a:tc>
                  <a:txBody>
                    <a:bodyPr/>
                    <a:lstStyle/>
                    <a:p>
                      <a:pPr algn="ctr"/>
                      <a:r>
                        <a:rPr lang="en-US" dirty="0"/>
                        <a:t>2</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2657893359"/>
                  </a:ext>
                </a:extLst>
              </a:tr>
              <a:tr h="370840">
                <a:tc>
                  <a:txBody>
                    <a:bodyPr/>
                    <a:lstStyle/>
                    <a:p>
                      <a:pPr algn="ctr"/>
                      <a:r>
                        <a:rPr lang="en-US" dirty="0"/>
                        <a:t>5</a:t>
                      </a:r>
                    </a:p>
                  </a:txBody>
                  <a:tcPr/>
                </a:tc>
                <a:tc>
                  <a:txBody>
                    <a:bodyPr/>
                    <a:lstStyle/>
                    <a:p>
                      <a:pPr algn="ctr"/>
                      <a:r>
                        <a:rPr lang="en-US" dirty="0"/>
                        <a:t>3</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2133382884"/>
                  </a:ext>
                </a:extLst>
              </a:tr>
              <a:tr h="370840">
                <a:tc>
                  <a:txBody>
                    <a:bodyPr/>
                    <a:lstStyle/>
                    <a:p>
                      <a:pPr algn="ctr"/>
                      <a:r>
                        <a:rPr lang="en-US" dirty="0"/>
                        <a:t>1</a:t>
                      </a:r>
                    </a:p>
                  </a:txBody>
                  <a:tcPr/>
                </a:tc>
                <a:tc>
                  <a:txBody>
                    <a:bodyPr/>
                    <a:lstStyle/>
                    <a:p>
                      <a:pPr algn="ctr"/>
                      <a:r>
                        <a:rPr lang="en-US" dirty="0"/>
                        <a:t>4</a:t>
                      </a:r>
                    </a:p>
                  </a:txBody>
                  <a:tcPr/>
                </a:tc>
                <a:tc>
                  <a:txBody>
                    <a:bodyPr/>
                    <a:lstStyle/>
                    <a:p>
                      <a:pPr algn="ctr"/>
                      <a:r>
                        <a:rPr lang="en-US" dirty="0"/>
                        <a:t>10</a:t>
                      </a:r>
                    </a:p>
                  </a:txBody>
                  <a:tcPr/>
                </a:tc>
                <a:tc>
                  <a:txBody>
                    <a:bodyPr/>
                    <a:lstStyle/>
                    <a:p>
                      <a:pPr algn="ctr"/>
                      <a:r>
                        <a:rPr lang="en-US" dirty="0"/>
                        <a:t>32</a:t>
                      </a:r>
                    </a:p>
                  </a:txBody>
                  <a:tcPr/>
                </a:tc>
                <a:tc>
                  <a:txBody>
                    <a:bodyPr/>
                    <a:lstStyle/>
                    <a:p>
                      <a:pPr algn="ctr"/>
                      <a:r>
                        <a:rPr lang="en-US" dirty="0"/>
                        <a:t>42</a:t>
                      </a:r>
                    </a:p>
                  </a:txBody>
                  <a:tcPr/>
                </a:tc>
                <a:extLst>
                  <a:ext uri="{0D108BD9-81ED-4DB2-BD59-A6C34878D82A}">
                    <a16:rowId xmlns:a16="http://schemas.microsoft.com/office/drawing/2014/main" val="1408401194"/>
                  </a:ext>
                </a:extLst>
              </a:tr>
              <a:tr h="370840">
                <a:tc>
                  <a:txBody>
                    <a:bodyPr/>
                    <a:lstStyle/>
                    <a:p>
                      <a:pPr algn="ctr"/>
                      <a:r>
                        <a:rPr lang="en-US" dirty="0"/>
                        <a:t>6</a:t>
                      </a:r>
                    </a:p>
                  </a:txBody>
                  <a:tcPr/>
                </a:tc>
                <a:tc>
                  <a:txBody>
                    <a:bodyPr/>
                    <a:lstStyle/>
                    <a:p>
                      <a:pPr algn="ctr"/>
                      <a:r>
                        <a:rPr lang="en-US" dirty="0"/>
                        <a:t>5</a:t>
                      </a:r>
                    </a:p>
                  </a:txBody>
                  <a:tcPr/>
                </a:tc>
                <a:tc>
                  <a:txBody>
                    <a:bodyPr/>
                    <a:lstStyle/>
                    <a:p>
                      <a:pPr algn="ctr"/>
                      <a:r>
                        <a:rPr lang="en-US" dirty="0"/>
                        <a:t>40</a:t>
                      </a:r>
                    </a:p>
                  </a:txBody>
                  <a:tcPr/>
                </a:tc>
                <a:tc>
                  <a:txBody>
                    <a:bodyPr/>
                    <a:lstStyle/>
                    <a:p>
                      <a:pPr algn="ctr"/>
                      <a:r>
                        <a:rPr lang="en-US" dirty="0"/>
                        <a:t>32</a:t>
                      </a:r>
                    </a:p>
                  </a:txBody>
                  <a:tcPr/>
                </a:tc>
                <a:tc>
                  <a:txBody>
                    <a:bodyPr/>
                    <a:lstStyle/>
                    <a:p>
                      <a:pPr algn="ctr"/>
                      <a:r>
                        <a:rPr lang="en-US" dirty="0"/>
                        <a:t>72</a:t>
                      </a:r>
                    </a:p>
                  </a:txBody>
                  <a:tcPr/>
                </a:tc>
                <a:extLst>
                  <a:ext uri="{0D108BD9-81ED-4DB2-BD59-A6C34878D82A}">
                    <a16:rowId xmlns:a16="http://schemas.microsoft.com/office/drawing/2014/main" val="3517977670"/>
                  </a:ext>
                </a:extLst>
              </a:tr>
            </a:tbl>
          </a:graphicData>
        </a:graphic>
      </p:graphicFrame>
      <p:sp>
        <p:nvSpPr>
          <p:cNvPr id="4" name="TextBox 3">
            <a:extLst>
              <a:ext uri="{FF2B5EF4-FFF2-40B4-BE49-F238E27FC236}">
                <a16:creationId xmlns:a16="http://schemas.microsoft.com/office/drawing/2014/main" id="{9457B5E5-1A88-D5DF-3EDC-5F518FFAC71F}"/>
              </a:ext>
            </a:extLst>
          </p:cNvPr>
          <p:cNvSpPr txBox="1"/>
          <p:nvPr/>
        </p:nvSpPr>
        <p:spPr>
          <a:xfrm>
            <a:off x="135466" y="3489960"/>
            <a:ext cx="7412564" cy="646331"/>
          </a:xfrm>
          <a:prstGeom prst="rect">
            <a:avLst/>
          </a:prstGeom>
          <a:noFill/>
        </p:spPr>
        <p:txBody>
          <a:bodyPr wrap="square" rtlCol="0">
            <a:spAutoFit/>
          </a:bodyPr>
          <a:lstStyle/>
          <a:p>
            <a:r>
              <a:rPr lang="en-US" dirty="0"/>
              <a:t>Now we just utilize our diagram from slides 16 &amp; 17 and put the amount each member has access to based on their access level in parenthesis.</a:t>
            </a:r>
          </a:p>
        </p:txBody>
      </p:sp>
      <p:graphicFrame>
        <p:nvGraphicFramePr>
          <p:cNvPr id="5" name="Table 4">
            <a:extLst>
              <a:ext uri="{FF2B5EF4-FFF2-40B4-BE49-F238E27FC236}">
                <a16:creationId xmlns:a16="http://schemas.microsoft.com/office/drawing/2014/main" id="{BFFA58BE-A5A5-BD17-D35D-769B665B9571}"/>
              </a:ext>
            </a:extLst>
          </p:cNvPr>
          <p:cNvGraphicFramePr>
            <a:graphicFrameLocks noGrp="1"/>
          </p:cNvGraphicFramePr>
          <p:nvPr>
            <p:extLst>
              <p:ext uri="{D42A27DB-BD31-4B8C-83A1-F6EECF244321}">
                <p14:modId xmlns:p14="http://schemas.microsoft.com/office/powerpoint/2010/main" val="807309419"/>
              </p:ext>
            </p:extLst>
          </p:nvPr>
        </p:nvGraphicFramePr>
        <p:xfrm>
          <a:off x="338665" y="4258211"/>
          <a:ext cx="7209365" cy="2225040"/>
        </p:xfrm>
        <a:graphic>
          <a:graphicData uri="http://schemas.openxmlformats.org/drawingml/2006/table">
            <a:tbl>
              <a:tblPr firstRow="1" bandRow="1">
                <a:tableStyleId>{5C22544A-7EE6-4342-B048-85BDC9FD1C3A}</a:tableStyleId>
              </a:tblPr>
              <a:tblGrid>
                <a:gridCol w="1441873">
                  <a:extLst>
                    <a:ext uri="{9D8B030D-6E8A-4147-A177-3AD203B41FA5}">
                      <a16:colId xmlns:a16="http://schemas.microsoft.com/office/drawing/2014/main" val="901758730"/>
                    </a:ext>
                  </a:extLst>
                </a:gridCol>
                <a:gridCol w="1441873">
                  <a:extLst>
                    <a:ext uri="{9D8B030D-6E8A-4147-A177-3AD203B41FA5}">
                      <a16:colId xmlns:a16="http://schemas.microsoft.com/office/drawing/2014/main" val="197622260"/>
                    </a:ext>
                  </a:extLst>
                </a:gridCol>
                <a:gridCol w="1441873">
                  <a:extLst>
                    <a:ext uri="{9D8B030D-6E8A-4147-A177-3AD203B41FA5}">
                      <a16:colId xmlns:a16="http://schemas.microsoft.com/office/drawing/2014/main" val="2813461748"/>
                    </a:ext>
                  </a:extLst>
                </a:gridCol>
                <a:gridCol w="1441873">
                  <a:extLst>
                    <a:ext uri="{9D8B030D-6E8A-4147-A177-3AD203B41FA5}">
                      <a16:colId xmlns:a16="http://schemas.microsoft.com/office/drawing/2014/main" val="3888940054"/>
                    </a:ext>
                  </a:extLst>
                </a:gridCol>
                <a:gridCol w="1441873">
                  <a:extLst>
                    <a:ext uri="{9D8B030D-6E8A-4147-A177-3AD203B41FA5}">
                      <a16:colId xmlns:a16="http://schemas.microsoft.com/office/drawing/2014/main" val="525929620"/>
                    </a:ext>
                  </a:extLst>
                </a:gridCol>
              </a:tblGrid>
              <a:tr h="370840">
                <a:tc>
                  <a:txBody>
                    <a:bodyPr/>
                    <a:lstStyle/>
                    <a:p>
                      <a:r>
                        <a:rPr lang="en-US" dirty="0"/>
                        <a:t>Access </a:t>
                      </a:r>
                      <a:r>
                        <a:rPr lang="en-US" dirty="0" err="1"/>
                        <a:t>Lv</a:t>
                      </a:r>
                      <a:endParaRPr lang="en-US" dirty="0"/>
                    </a:p>
                  </a:txBody>
                  <a:tcPr/>
                </a:tc>
                <a:tc>
                  <a:txBody>
                    <a:bodyPr/>
                    <a:lstStyle/>
                    <a:p>
                      <a:r>
                        <a:rPr lang="en-US" dirty="0"/>
                        <a:t>Accounts</a:t>
                      </a:r>
                    </a:p>
                  </a:txBody>
                  <a:tcPr/>
                </a:tc>
                <a:tc>
                  <a:txBody>
                    <a:bodyPr/>
                    <a:lstStyle/>
                    <a:p>
                      <a:pPr algn="ctr"/>
                      <a:r>
                        <a:rPr lang="en-US" dirty="0"/>
                        <a:t>20</a:t>
                      </a:r>
                    </a:p>
                  </a:txBody>
                  <a:tcPr/>
                </a:tc>
                <a:tc>
                  <a:txBody>
                    <a:bodyPr/>
                    <a:lstStyle/>
                    <a:p>
                      <a:pPr algn="ctr"/>
                      <a:r>
                        <a:rPr lang="en-US" dirty="0"/>
                        <a:t>80</a:t>
                      </a:r>
                    </a:p>
                  </a:txBody>
                  <a:tcPr/>
                </a:tc>
                <a:tc>
                  <a:txBody>
                    <a:bodyPr/>
                    <a:lstStyle/>
                    <a:p>
                      <a:pPr algn="ctr"/>
                      <a:r>
                        <a:rPr lang="en-US" dirty="0"/>
                        <a:t>Total</a:t>
                      </a:r>
                    </a:p>
                  </a:txBody>
                  <a:tcPr/>
                </a:tc>
                <a:extLst>
                  <a:ext uri="{0D108BD9-81ED-4DB2-BD59-A6C34878D82A}">
                    <a16:rowId xmlns:a16="http://schemas.microsoft.com/office/drawing/2014/main" val="1350569582"/>
                  </a:ext>
                </a:extLst>
              </a:tr>
              <a:tr h="370840">
                <a:tc>
                  <a:txBody>
                    <a:bodyPr/>
                    <a:lstStyle/>
                    <a:p>
                      <a:pPr algn="ctr"/>
                      <a:r>
                        <a:rPr lang="en-US" dirty="0"/>
                        <a:t>2(16%)</a:t>
                      </a:r>
                    </a:p>
                  </a:txBody>
                  <a:tcPr/>
                </a:tc>
                <a:tc>
                  <a:txBody>
                    <a:bodyPr/>
                    <a:lstStyle/>
                    <a:p>
                      <a:pPr algn="ctr"/>
                      <a:r>
                        <a:rPr lang="en-US" dirty="0"/>
                        <a:t>1</a:t>
                      </a:r>
                    </a:p>
                  </a:txBody>
                  <a:tcPr/>
                </a:tc>
                <a:tc>
                  <a:txBody>
                    <a:bodyPr/>
                    <a:lstStyle/>
                    <a:p>
                      <a:pPr algn="ctr"/>
                      <a:r>
                        <a:rPr lang="en-US" dirty="0"/>
                        <a:t>10</a:t>
                      </a:r>
                    </a:p>
                  </a:txBody>
                  <a:tcPr/>
                </a:tc>
                <a:tc>
                  <a:txBody>
                    <a:bodyPr/>
                    <a:lstStyle/>
                    <a:p>
                      <a:pPr algn="ctr"/>
                      <a:r>
                        <a:rPr lang="en-US" dirty="0"/>
                        <a:t>32(5.12)</a:t>
                      </a:r>
                    </a:p>
                  </a:txBody>
                  <a:tcPr/>
                </a:tc>
                <a:tc>
                  <a:txBody>
                    <a:bodyPr/>
                    <a:lstStyle/>
                    <a:p>
                      <a:pPr algn="ctr"/>
                      <a:r>
                        <a:rPr lang="en-US" dirty="0"/>
                        <a:t>42(15.12)</a:t>
                      </a:r>
                    </a:p>
                  </a:txBody>
                  <a:tcPr/>
                </a:tc>
                <a:extLst>
                  <a:ext uri="{0D108BD9-81ED-4DB2-BD59-A6C34878D82A}">
                    <a16:rowId xmlns:a16="http://schemas.microsoft.com/office/drawing/2014/main" val="2571901779"/>
                  </a:ext>
                </a:extLst>
              </a:tr>
              <a:tr h="370840">
                <a:tc>
                  <a:txBody>
                    <a:bodyPr/>
                    <a:lstStyle/>
                    <a:p>
                      <a:pPr algn="ctr"/>
                      <a:r>
                        <a:rPr lang="en-US" dirty="0"/>
                        <a:t>3(24%)</a:t>
                      </a:r>
                    </a:p>
                  </a:txBody>
                  <a:tcPr/>
                </a:tc>
                <a:tc>
                  <a:txBody>
                    <a:bodyPr/>
                    <a:lstStyle/>
                    <a:p>
                      <a:pPr algn="ctr"/>
                      <a:r>
                        <a:rPr lang="en-US" dirty="0"/>
                        <a:t>2</a:t>
                      </a:r>
                    </a:p>
                  </a:txBody>
                  <a:tcPr/>
                </a:tc>
                <a:tc>
                  <a:txBody>
                    <a:bodyPr/>
                    <a:lstStyle/>
                    <a:p>
                      <a:pPr algn="ctr"/>
                      <a:r>
                        <a:rPr lang="en-US" dirty="0"/>
                        <a:t>10</a:t>
                      </a:r>
                    </a:p>
                  </a:txBody>
                  <a:tcPr/>
                </a:tc>
                <a:tc>
                  <a:txBody>
                    <a:bodyPr/>
                    <a:lstStyle/>
                    <a:p>
                      <a:pPr algn="ctr"/>
                      <a:r>
                        <a:rPr lang="en-US" dirty="0"/>
                        <a:t>32(7.68)</a:t>
                      </a:r>
                    </a:p>
                  </a:txBody>
                  <a:tcPr/>
                </a:tc>
                <a:tc>
                  <a:txBody>
                    <a:bodyPr/>
                    <a:lstStyle/>
                    <a:p>
                      <a:pPr algn="ctr"/>
                      <a:r>
                        <a:rPr lang="en-US" dirty="0"/>
                        <a:t>42(17.68)</a:t>
                      </a:r>
                    </a:p>
                  </a:txBody>
                  <a:tcPr/>
                </a:tc>
                <a:extLst>
                  <a:ext uri="{0D108BD9-81ED-4DB2-BD59-A6C34878D82A}">
                    <a16:rowId xmlns:a16="http://schemas.microsoft.com/office/drawing/2014/main" val="2657893359"/>
                  </a:ext>
                </a:extLst>
              </a:tr>
              <a:tr h="370840">
                <a:tc>
                  <a:txBody>
                    <a:bodyPr/>
                    <a:lstStyle/>
                    <a:p>
                      <a:pPr algn="ctr"/>
                      <a:r>
                        <a:rPr lang="en-US" dirty="0"/>
                        <a:t>5(40%)</a:t>
                      </a:r>
                    </a:p>
                  </a:txBody>
                  <a:tcPr/>
                </a:tc>
                <a:tc>
                  <a:txBody>
                    <a:bodyPr/>
                    <a:lstStyle/>
                    <a:p>
                      <a:pPr algn="ctr"/>
                      <a:r>
                        <a:rPr lang="en-US" dirty="0"/>
                        <a:t>3</a:t>
                      </a:r>
                    </a:p>
                  </a:txBody>
                  <a:tcPr/>
                </a:tc>
                <a:tc>
                  <a:txBody>
                    <a:bodyPr/>
                    <a:lstStyle/>
                    <a:p>
                      <a:pPr algn="ctr"/>
                      <a:r>
                        <a:rPr lang="en-US" dirty="0"/>
                        <a:t>10</a:t>
                      </a:r>
                    </a:p>
                  </a:txBody>
                  <a:tcPr/>
                </a:tc>
                <a:tc>
                  <a:txBody>
                    <a:bodyPr/>
                    <a:lstStyle/>
                    <a:p>
                      <a:pPr algn="ctr"/>
                      <a:r>
                        <a:rPr lang="en-US" dirty="0"/>
                        <a:t>32(12.80)</a:t>
                      </a:r>
                    </a:p>
                  </a:txBody>
                  <a:tcPr/>
                </a:tc>
                <a:tc>
                  <a:txBody>
                    <a:bodyPr/>
                    <a:lstStyle/>
                    <a:p>
                      <a:pPr algn="ctr"/>
                      <a:r>
                        <a:rPr lang="en-US" dirty="0"/>
                        <a:t>42(22.80)</a:t>
                      </a:r>
                    </a:p>
                  </a:txBody>
                  <a:tcPr/>
                </a:tc>
                <a:extLst>
                  <a:ext uri="{0D108BD9-81ED-4DB2-BD59-A6C34878D82A}">
                    <a16:rowId xmlns:a16="http://schemas.microsoft.com/office/drawing/2014/main" val="2133382884"/>
                  </a:ext>
                </a:extLst>
              </a:tr>
              <a:tr h="370840">
                <a:tc>
                  <a:txBody>
                    <a:bodyPr/>
                    <a:lstStyle/>
                    <a:p>
                      <a:pPr algn="ctr"/>
                      <a:r>
                        <a:rPr lang="en-US" dirty="0"/>
                        <a:t>1(8%)</a:t>
                      </a:r>
                    </a:p>
                  </a:txBody>
                  <a:tcPr/>
                </a:tc>
                <a:tc>
                  <a:txBody>
                    <a:bodyPr/>
                    <a:lstStyle/>
                    <a:p>
                      <a:pPr algn="ctr"/>
                      <a:r>
                        <a:rPr lang="en-US" dirty="0"/>
                        <a:t>4</a:t>
                      </a:r>
                    </a:p>
                  </a:txBody>
                  <a:tcPr/>
                </a:tc>
                <a:tc>
                  <a:txBody>
                    <a:bodyPr/>
                    <a:lstStyle/>
                    <a:p>
                      <a:pPr algn="ctr"/>
                      <a:r>
                        <a:rPr lang="en-US" dirty="0"/>
                        <a:t>10</a:t>
                      </a:r>
                    </a:p>
                  </a:txBody>
                  <a:tcPr/>
                </a:tc>
                <a:tc>
                  <a:txBody>
                    <a:bodyPr/>
                    <a:lstStyle/>
                    <a:p>
                      <a:pPr algn="ctr"/>
                      <a:r>
                        <a:rPr lang="en-US" dirty="0"/>
                        <a:t>32(2.56)</a:t>
                      </a:r>
                    </a:p>
                  </a:txBody>
                  <a:tcPr/>
                </a:tc>
                <a:tc>
                  <a:txBody>
                    <a:bodyPr/>
                    <a:lstStyle/>
                    <a:p>
                      <a:pPr algn="ctr"/>
                      <a:r>
                        <a:rPr lang="en-US" dirty="0"/>
                        <a:t>42(12.56)</a:t>
                      </a:r>
                    </a:p>
                  </a:txBody>
                  <a:tcPr/>
                </a:tc>
                <a:extLst>
                  <a:ext uri="{0D108BD9-81ED-4DB2-BD59-A6C34878D82A}">
                    <a16:rowId xmlns:a16="http://schemas.microsoft.com/office/drawing/2014/main" val="1408401194"/>
                  </a:ext>
                </a:extLst>
              </a:tr>
              <a:tr h="370840">
                <a:tc>
                  <a:txBody>
                    <a:bodyPr/>
                    <a:lstStyle/>
                    <a:p>
                      <a:pPr algn="ctr"/>
                      <a:r>
                        <a:rPr lang="en-US" dirty="0"/>
                        <a:t>6(48%)</a:t>
                      </a:r>
                    </a:p>
                  </a:txBody>
                  <a:tcPr/>
                </a:tc>
                <a:tc>
                  <a:txBody>
                    <a:bodyPr/>
                    <a:lstStyle/>
                    <a:p>
                      <a:pPr algn="ctr"/>
                      <a:r>
                        <a:rPr lang="en-US" dirty="0"/>
                        <a:t>5</a:t>
                      </a:r>
                    </a:p>
                  </a:txBody>
                  <a:tcPr/>
                </a:tc>
                <a:tc>
                  <a:txBody>
                    <a:bodyPr/>
                    <a:lstStyle/>
                    <a:p>
                      <a:pPr algn="ctr"/>
                      <a:r>
                        <a:rPr lang="en-US" dirty="0"/>
                        <a:t>40</a:t>
                      </a:r>
                    </a:p>
                  </a:txBody>
                  <a:tcPr/>
                </a:tc>
                <a:tc>
                  <a:txBody>
                    <a:bodyPr/>
                    <a:lstStyle/>
                    <a:p>
                      <a:pPr algn="ctr"/>
                      <a:r>
                        <a:rPr lang="en-US" dirty="0"/>
                        <a:t>32(15.36)</a:t>
                      </a:r>
                    </a:p>
                  </a:txBody>
                  <a:tcPr/>
                </a:tc>
                <a:tc>
                  <a:txBody>
                    <a:bodyPr/>
                    <a:lstStyle/>
                    <a:p>
                      <a:pPr algn="ctr"/>
                      <a:r>
                        <a:rPr lang="en-US" dirty="0"/>
                        <a:t>72(55.36)</a:t>
                      </a:r>
                    </a:p>
                  </a:txBody>
                  <a:tcPr/>
                </a:tc>
                <a:extLst>
                  <a:ext uri="{0D108BD9-81ED-4DB2-BD59-A6C34878D82A}">
                    <a16:rowId xmlns:a16="http://schemas.microsoft.com/office/drawing/2014/main" val="3517977670"/>
                  </a:ext>
                </a:extLst>
              </a:tr>
            </a:tbl>
          </a:graphicData>
        </a:graphic>
      </p:graphicFrame>
      <p:cxnSp>
        <p:nvCxnSpPr>
          <p:cNvPr id="7" name="Straight Connector 6">
            <a:extLst>
              <a:ext uri="{FF2B5EF4-FFF2-40B4-BE49-F238E27FC236}">
                <a16:creationId xmlns:a16="http://schemas.microsoft.com/office/drawing/2014/main" id="{548E7C35-D87F-E15F-C007-A99445444521}"/>
              </a:ext>
            </a:extLst>
          </p:cNvPr>
          <p:cNvCxnSpPr/>
          <p:nvPr/>
        </p:nvCxnSpPr>
        <p:spPr>
          <a:xfrm>
            <a:off x="7730067" y="1612900"/>
            <a:ext cx="0" cy="4428067"/>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47A81AF-C021-8A9D-2957-F4FC6A3E71B6}"/>
              </a:ext>
            </a:extLst>
          </p:cNvPr>
          <p:cNvSpPr txBox="1"/>
          <p:nvPr/>
        </p:nvSpPr>
        <p:spPr>
          <a:xfrm>
            <a:off x="7827433" y="1203960"/>
            <a:ext cx="4076700" cy="5632311"/>
          </a:xfrm>
          <a:prstGeom prst="rect">
            <a:avLst/>
          </a:prstGeom>
          <a:noFill/>
        </p:spPr>
        <p:txBody>
          <a:bodyPr wrap="square" rtlCol="0">
            <a:spAutoFit/>
          </a:bodyPr>
          <a:lstStyle/>
          <a:p>
            <a:r>
              <a:rPr lang="en-US" dirty="0"/>
              <a:t>The idea is that once we have enough resources, the 80 column of every member will look substantial enough to inspire them to do what it takes to acquire access to more of what is rightfully theirs.</a:t>
            </a:r>
          </a:p>
          <a:p>
            <a:endParaRPr lang="en-US" dirty="0"/>
          </a:p>
          <a:p>
            <a:r>
              <a:rPr lang="en-US" dirty="0"/>
              <a:t>We keep saying we’re Kings/Queens or royalty in general, well royalty gets an inheritance. So many our us are begging for some form of monetary reparations but fail to realize that even if it were given it wouldn’t make a large enough difference if we don’t have a system in place to make sure it is secured and efficiently managed.</a:t>
            </a:r>
          </a:p>
          <a:p>
            <a:endParaRPr lang="en-US" dirty="0"/>
          </a:p>
          <a:p>
            <a:r>
              <a:rPr lang="en-US" dirty="0"/>
              <a:t>Though I don’t agree with reparations, this is close enough to providing it for ourselves and can have an effect.</a:t>
            </a:r>
          </a:p>
        </p:txBody>
      </p:sp>
    </p:spTree>
    <p:extLst>
      <p:ext uri="{BB962C8B-B14F-4D97-AF65-F5344CB8AC3E}">
        <p14:creationId xmlns:p14="http://schemas.microsoft.com/office/powerpoint/2010/main" val="4029060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A24131AA-E883-C10E-DAAE-B726C8EC2464}"/>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5202648B-2C2F-B1A5-1A5A-80E178A2A47C}"/>
              </a:ext>
            </a:extLst>
          </p:cNvPr>
          <p:cNvSpPr txBox="1"/>
          <p:nvPr/>
        </p:nvSpPr>
        <p:spPr>
          <a:xfrm>
            <a:off x="118533" y="1744134"/>
            <a:ext cx="11950700" cy="4247317"/>
          </a:xfrm>
          <a:prstGeom prst="rect">
            <a:avLst/>
          </a:prstGeom>
          <a:noFill/>
        </p:spPr>
        <p:txBody>
          <a:bodyPr wrap="square" rtlCol="0">
            <a:spAutoFit/>
          </a:bodyPr>
          <a:lstStyle/>
          <a:p>
            <a:r>
              <a:rPr lang="en-US" dirty="0"/>
              <a:t>The next question to ask is how do members increase their level of access? We can infer that it has something to do with contributions to Vonguul, but how do we know that we aren’t being manipulated into working for a cult or being scammed? The answers to these questions are also simple. We will cooperate with each other to compile a contribution list that will award merits. With enough merits, a member will automatically increase to the next level of access. It isn’t a scam because you don’t have to do anything however encouraged, and it is our full desire to make it possible for our members to have a fully sustainable life with the access that level 1 provides as this can only motivate a truly ambitious/passionate person to contribute more. </a:t>
            </a:r>
          </a:p>
          <a:p>
            <a:endParaRPr lang="en-US" dirty="0"/>
          </a:p>
          <a:p>
            <a:r>
              <a:rPr lang="en-US" dirty="0"/>
              <a:t>We must remember that what we are attempting to do, is harness the full focused capability of a united community. This is how we can encourage others to have another peaceful million-man march to express solidarity and initiate change. This is how we keep funds circulating in the melanated community for longer than 6 hours. This is how we can take care of each other ourselves. We should realize that we have talked about the problem long enough to create a viable plan, now it is time for execution.</a:t>
            </a:r>
          </a:p>
          <a:p>
            <a:endParaRPr lang="en-US" dirty="0"/>
          </a:p>
          <a:p>
            <a:r>
              <a:rPr lang="en-US" dirty="0"/>
              <a:t>Before we wrap up the Administration section, let’s look at how the contribution list would playout in effect.</a:t>
            </a:r>
          </a:p>
        </p:txBody>
      </p:sp>
    </p:spTree>
    <p:extLst>
      <p:ext uri="{BB962C8B-B14F-4D97-AF65-F5344CB8AC3E}">
        <p14:creationId xmlns:p14="http://schemas.microsoft.com/office/powerpoint/2010/main" val="168018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374A0E55-216D-9B57-2053-363BF03F0714}"/>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3FF81E4E-F2E6-9D11-B9BA-61A4B64B5EF3}"/>
              </a:ext>
            </a:extLst>
          </p:cNvPr>
          <p:cNvSpPr txBox="1"/>
          <p:nvPr/>
        </p:nvSpPr>
        <p:spPr>
          <a:xfrm>
            <a:off x="135467" y="1295400"/>
            <a:ext cx="11882966" cy="5355312"/>
          </a:xfrm>
          <a:prstGeom prst="rect">
            <a:avLst/>
          </a:prstGeom>
          <a:noFill/>
        </p:spPr>
        <p:txBody>
          <a:bodyPr wrap="square" rtlCol="0">
            <a:spAutoFit/>
          </a:bodyPr>
          <a:lstStyle/>
          <a:p>
            <a:r>
              <a:rPr lang="en-US" u="sng" dirty="0"/>
              <a:t>Scenario</a:t>
            </a:r>
          </a:p>
          <a:p>
            <a:r>
              <a:rPr lang="en-US" dirty="0"/>
              <a:t>Imagine Vonguul has 1000 members with 82 mines operating at full capacity. Everything looks well on the surface but internally those in charge of monitoring progress, identified a potential crisis that needs to be averted if possible. The tasks needed to be completed will be curated into a detailed contribution list item. This crisis that needs to be averted can be anything but let’s say it’s a manpower shortage. We will add to our main platform contribution list the line item requesting more manpower. It might resemble the following:</a:t>
            </a:r>
          </a:p>
          <a:p>
            <a:endParaRPr lang="en-US" dirty="0"/>
          </a:p>
          <a:p>
            <a:r>
              <a:rPr lang="en-US" dirty="0"/>
              <a:t>Cline Item 287 – XYZ Business Need Manpower</a:t>
            </a:r>
          </a:p>
          <a:p>
            <a:r>
              <a:rPr lang="en-US" dirty="0"/>
              <a:t>Description Type: Employment</a:t>
            </a:r>
          </a:p>
          <a:p>
            <a:r>
              <a:rPr lang="en-US" dirty="0"/>
              <a:t>Description: Lorem Ipsum…</a:t>
            </a:r>
          </a:p>
          <a:p>
            <a:r>
              <a:rPr lang="en-US" dirty="0"/>
              <a:t>Org Compensation: X Merits/Interval (25/day, 2/</a:t>
            </a:r>
            <a:r>
              <a:rPr lang="en-US" dirty="0" err="1"/>
              <a:t>hr</a:t>
            </a:r>
            <a:r>
              <a:rPr lang="en-US" dirty="0"/>
              <a:t>, 300/project)</a:t>
            </a:r>
          </a:p>
          <a:p>
            <a:r>
              <a:rPr lang="en-US" dirty="0"/>
              <a:t>Monetary Type: USD $23/</a:t>
            </a:r>
            <a:r>
              <a:rPr lang="en-US" dirty="0" err="1"/>
              <a:t>hr</a:t>
            </a:r>
            <a:endParaRPr lang="en-US" dirty="0"/>
          </a:p>
          <a:p>
            <a:endParaRPr lang="en-US" dirty="0"/>
          </a:p>
          <a:p>
            <a:r>
              <a:rPr lang="en-US" dirty="0"/>
              <a:t>Just because you find opportunities within Vonguul, does not mean you are expected to perform for less compensation, in fact we are attempting to supplement your compensation just for being a part of Vonguul, thus the merits are used to increase your Level of Access which in turn increases how much resources you have on average. It is an endless cycle of helping each other progress their goals while increasing our own progression towards our own goals. It gives people a reason to do the right thing other than, it being the right thing to do, now you get rewarded too.</a:t>
            </a:r>
          </a:p>
        </p:txBody>
      </p:sp>
    </p:spTree>
    <p:extLst>
      <p:ext uri="{BB962C8B-B14F-4D97-AF65-F5344CB8AC3E}">
        <p14:creationId xmlns:p14="http://schemas.microsoft.com/office/powerpoint/2010/main" val="457162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6">
            <a:extLst>
              <a:ext uri="{FF2B5EF4-FFF2-40B4-BE49-F238E27FC236}">
                <a16:creationId xmlns:a16="http://schemas.microsoft.com/office/drawing/2014/main" id="{9FD74590-1AF6-B555-9119-FF3109B7FA6B}"/>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lang="en-US" sz="2800" b="1" kern="0" spc="-100" dirty="0">
                <a:solidFill>
                  <a:srgbClr val="FFFFFF">
                    <a:alpha val="100000"/>
                  </a:srgbClr>
                </a:solidFill>
                <a:latin typeface="Tahoma"/>
                <a:ea typeface="Tahoma"/>
                <a:cs typeface="Tahoma"/>
              </a:rPr>
              <a:t>Vonguulian </a:t>
            </a:r>
            <a:r>
              <a:rPr sz="2800" b="1" kern="0" spc="-100" dirty="0">
                <a:solidFill>
                  <a:srgbClr val="FFFFFF">
                    <a:alpha val="100000"/>
                  </a:srgbClr>
                </a:solidFill>
                <a:latin typeface="Tahoma"/>
                <a:ea typeface="Tahoma"/>
                <a:cs typeface="Tahoma"/>
              </a:rPr>
              <a:t>Administra</a:t>
            </a:r>
            <a:r>
              <a:rPr sz="2800" b="1" kern="0" spc="-110" dirty="0">
                <a:solidFill>
                  <a:srgbClr val="FFFFFF">
                    <a:alpha val="100000"/>
                  </a:srgbClr>
                </a:solidFill>
                <a:latin typeface="Tahoma"/>
                <a:ea typeface="Tahoma"/>
                <a:cs typeface="Tahoma"/>
              </a:rPr>
              <a:t>tion</a:t>
            </a:r>
            <a:endParaRPr sz="2800" dirty="0">
              <a:latin typeface="Tahoma"/>
              <a:ea typeface="Tahoma"/>
              <a:cs typeface="Tahoma"/>
            </a:endParaRPr>
          </a:p>
        </p:txBody>
      </p:sp>
      <p:sp>
        <p:nvSpPr>
          <p:cNvPr id="3" name="TextBox 2">
            <a:extLst>
              <a:ext uri="{FF2B5EF4-FFF2-40B4-BE49-F238E27FC236}">
                <a16:creationId xmlns:a16="http://schemas.microsoft.com/office/drawing/2014/main" id="{9CBB520C-50DD-7A80-B49A-C3557DCDAA82}"/>
              </a:ext>
            </a:extLst>
          </p:cNvPr>
          <p:cNvSpPr txBox="1"/>
          <p:nvPr/>
        </p:nvSpPr>
        <p:spPr>
          <a:xfrm>
            <a:off x="156633" y="1354667"/>
            <a:ext cx="11874500" cy="5078313"/>
          </a:xfrm>
          <a:prstGeom prst="rect">
            <a:avLst/>
          </a:prstGeom>
          <a:noFill/>
        </p:spPr>
        <p:txBody>
          <a:bodyPr wrap="square" rtlCol="0">
            <a:spAutoFit/>
          </a:bodyPr>
          <a:lstStyle/>
          <a:p>
            <a:r>
              <a:rPr lang="en-US" dirty="0"/>
              <a:t>Vonguul has continued to formulate as more than just an ideology, with the aim to become something that could represent more than anything we have ever known possible. History being an inspiration for crafting a future we would want to come back to. The current wave of Vonguulians have strong interests in the metaphysical aspect of creation. From a higher realm we manifest into the physical, a level of wisdom others dare not to entertain. From this we have our own script, our own perspectives, and our own unique plan to influence a new domain under our own dominion.</a:t>
            </a:r>
          </a:p>
          <a:p>
            <a:endParaRPr lang="en-US" dirty="0"/>
          </a:p>
          <a:p>
            <a:r>
              <a:rPr lang="en-US" dirty="0"/>
              <a:t>This is bound to look like the slang version of a modern civilization, but with time, self-proclaimed scholars will echo interpretations of its profundities. With time I desire for our findings to find us positioned in a place fit for the facilitation of peace and progress. Until then, we may have to humble our expectations and prepare for what happens when those who do the stepping lose their ground to step on. I can imagine it being very difficult to manage perceived absolute power without understanding what it is like to have none.</a:t>
            </a:r>
          </a:p>
          <a:p>
            <a:endParaRPr lang="en-US" dirty="0"/>
          </a:p>
          <a:p>
            <a:r>
              <a:rPr lang="en-US" dirty="0"/>
              <a:t>I don’t like the need that we have to speak in riddles, but we have to be versed in red herrings. Our history tells us the truth no matter how others seek to change it. We remember where we came from, so we know how to get where we’re going. Sometimes the past can guide us into the future.</a:t>
            </a:r>
          </a:p>
          <a:p>
            <a:endParaRPr lang="en-US" dirty="0"/>
          </a:p>
          <a:p>
            <a:r>
              <a:rPr lang="en-US" dirty="0"/>
              <a:t>No matter what, no matter when, we need our own.</a:t>
            </a:r>
          </a:p>
        </p:txBody>
      </p:sp>
    </p:spTree>
    <p:extLst>
      <p:ext uri="{BB962C8B-B14F-4D97-AF65-F5344CB8AC3E}">
        <p14:creationId xmlns:p14="http://schemas.microsoft.com/office/powerpoint/2010/main" val="3796961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 158"/>
          <p:cNvSpPr/>
          <p:nvPr/>
        </p:nvSpPr>
        <p:spPr>
          <a:xfrm>
            <a:off x="0" y="0"/>
            <a:ext cx="12192000" cy="6858000"/>
          </a:xfrm>
          <a:prstGeom prst="rect">
            <a:avLst/>
          </a:prstGeom>
          <a:solidFill>
            <a:srgbClr val="F8F9FA">
              <a:alpha val="100000"/>
            </a:srgbClr>
          </a:solidFill>
          <a:ln w="0" cap="flat">
            <a:noFill/>
            <a:prstDash val="solid"/>
            <a:miter lim="0"/>
          </a:ln>
        </p:spPr>
        <p:txBody>
          <a:bodyPr rtlCol="0"/>
          <a:lstStyle/>
          <a:p>
            <a:pPr algn="ctr"/>
            <a:endParaRPr lang="zh-CN" altLang="en-US"/>
          </a:p>
        </p:txBody>
      </p:sp>
      <p:sp>
        <p:nvSpPr>
          <p:cNvPr id="160" name="textbox 160"/>
          <p:cNvSpPr/>
          <p:nvPr/>
        </p:nvSpPr>
        <p:spPr>
          <a:xfrm>
            <a:off x="6493027" y="1514233"/>
            <a:ext cx="4855209" cy="395795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30480" algn="l" rtl="0" eaLnBrk="0">
              <a:lnSpc>
                <a:spcPts val="2717"/>
              </a:lnSpc>
              <a:tabLst>
                <a:tab pos="184150" algn="l"/>
              </a:tabLst>
            </a:pPr>
            <a:r>
              <a:rPr sz="1900" b="1" kern="0" spc="0" dirty="0">
                <a:solidFill>
                  <a:srgbClr val="19376D">
                    <a:alpha val="100000"/>
                  </a:srgbClr>
                </a:solidFill>
                <a:latin typeface="Tahoma"/>
                <a:ea typeface="Tahoma"/>
                <a:cs typeface="Tahoma"/>
              </a:rPr>
              <a:t>	</a:t>
            </a:r>
            <a:r>
              <a:rPr sz="1900" b="1" kern="0" spc="10" dirty="0">
                <a:solidFill>
                  <a:srgbClr val="19376D">
                    <a:alpha val="100000"/>
                  </a:srgbClr>
                </a:solidFill>
                <a:latin typeface="Tahoma"/>
                <a:ea typeface="Tahoma"/>
                <a:cs typeface="Tahoma"/>
              </a:rPr>
              <a:t>  </a:t>
            </a:r>
            <a:r>
              <a:rPr sz="1900" b="1" kern="0" spc="-50" dirty="0">
                <a:solidFill>
                  <a:srgbClr val="19376D">
                    <a:alpha val="100000"/>
                  </a:srgbClr>
                </a:solidFill>
                <a:latin typeface="Tahoma"/>
                <a:ea typeface="Tahoma"/>
                <a:cs typeface="Tahoma"/>
              </a:rPr>
              <a:t>Consumption &amp; </a:t>
            </a:r>
            <a:r>
              <a:rPr sz="1900" b="1" kern="0" spc="-60" dirty="0">
                <a:solidFill>
                  <a:srgbClr val="19376D">
                    <a:alpha val="100000"/>
                  </a:srgbClr>
                </a:solidFill>
                <a:latin typeface="Tahoma"/>
                <a:ea typeface="Tahoma"/>
                <a:cs typeface="Tahoma"/>
              </a:rPr>
              <a:t>Behavior Habits</a:t>
            </a:r>
            <a:endParaRPr sz="1900" dirty="0">
              <a:latin typeface="Tahoma"/>
              <a:ea typeface="Tahoma"/>
              <a:cs typeface="Tahoma"/>
            </a:endParaRPr>
          </a:p>
          <a:p>
            <a:pPr marL="332104" indent="-310515" algn="l" rtl="0" eaLnBrk="0">
              <a:lnSpc>
                <a:spcPct val="135000"/>
              </a:lnSpc>
              <a:spcBef>
                <a:spcPts val="1439"/>
              </a:spcBef>
              <a:tabLst>
                <a:tab pos="193039" algn="l"/>
              </a:tabLst>
            </a:pPr>
            <a:r>
              <a:rPr sz="1400" b="1" kern="0" spc="0" dirty="0">
                <a:solidFill>
                  <a:srgbClr val="576CBC">
                    <a:alpha val="100000"/>
                  </a:srgbClr>
                </a:solidFill>
                <a:latin typeface="Tahoma"/>
                <a:ea typeface="Tahoma"/>
                <a:cs typeface="Tahoma"/>
              </a:rPr>
              <a:t>	</a:t>
            </a:r>
            <a:r>
              <a:rPr sz="1400" b="1" kern="0" spc="130" dirty="0">
                <a:solidFill>
                  <a:srgbClr val="576CBC">
                    <a:alpha val="100000"/>
                  </a:srgbClr>
                </a:solidFill>
                <a:latin typeface="Tahoma"/>
                <a:ea typeface="Tahoma"/>
                <a:cs typeface="Tahoma"/>
              </a:rPr>
              <a:t>  </a:t>
            </a:r>
            <a:r>
              <a:rPr sz="1400" b="1" kern="0" spc="-30" dirty="0">
                <a:solidFill>
                  <a:srgbClr val="576CBC">
                    <a:alpha val="100000"/>
                  </a:srgbClr>
                </a:solidFill>
                <a:latin typeface="Tahoma"/>
                <a:ea typeface="Tahoma"/>
                <a:cs typeface="Tahoma"/>
              </a:rPr>
              <a:t>Nutritional Intelligence </a:t>
            </a:r>
            <a:r>
              <a:rPr sz="1400" kern="0" spc="-30" dirty="0">
                <a:solidFill>
                  <a:srgbClr val="333333">
                    <a:alpha val="100000"/>
                  </a:srgbClr>
                </a:solidFill>
                <a:latin typeface="Tahoma"/>
                <a:ea typeface="Tahoma"/>
                <a:cs typeface="Tahoma"/>
              </a:rPr>
              <a:t>- Making informed</a:t>
            </a:r>
            <a:r>
              <a:rPr sz="1400" kern="0" spc="-80" dirty="0">
                <a:solidFill>
                  <a:srgbClr val="333333">
                    <a:alpha val="100000"/>
                  </a:srgbClr>
                </a:solidFill>
                <a:latin typeface="Tahoma"/>
                <a:ea typeface="Tahoma"/>
                <a:cs typeface="Tahoma"/>
              </a:rPr>
              <a:t> </a:t>
            </a:r>
            <a:r>
              <a:rPr sz="1400" kern="0" spc="-30" dirty="0">
                <a:solidFill>
                  <a:srgbClr val="333333">
                    <a:alpha val="100000"/>
                  </a:srgbClr>
                </a:solidFill>
                <a:latin typeface="Tahoma"/>
                <a:ea typeface="Tahoma"/>
                <a:cs typeface="Tahoma"/>
              </a:rPr>
              <a:t>food c</a:t>
            </a:r>
            <a:r>
              <a:rPr sz="1400" kern="0" spc="-40" dirty="0">
                <a:solidFill>
                  <a:srgbClr val="333333">
                    <a:alpha val="100000"/>
                  </a:srgbClr>
                </a:solidFill>
                <a:latin typeface="Tahoma"/>
                <a:ea typeface="Tahoma"/>
                <a:cs typeface="Tahoma"/>
              </a:rPr>
              <a:t>hoices</a:t>
            </a:r>
            <a:r>
              <a:rPr sz="14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based</a:t>
            </a:r>
            <a:r>
              <a:rPr sz="1500" kern="0" spc="-11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on indi</a:t>
            </a:r>
            <a:r>
              <a:rPr sz="1500" kern="0" spc="-40" dirty="0">
                <a:solidFill>
                  <a:srgbClr val="333333">
                    <a:alpha val="100000"/>
                  </a:srgbClr>
                </a:solidFill>
                <a:latin typeface="Tahoma"/>
                <a:ea typeface="Tahoma"/>
                <a:cs typeface="Tahoma"/>
              </a:rPr>
              <a:t>vidual needs</a:t>
            </a:r>
            <a:endParaRPr sz="1500" dirty="0">
              <a:latin typeface="Tahoma"/>
              <a:ea typeface="Tahoma"/>
              <a:cs typeface="Tahoma"/>
            </a:endParaRPr>
          </a:p>
          <a:p>
            <a:pPr marL="321309" indent="-290195" algn="l" rtl="0" eaLnBrk="0">
              <a:lnSpc>
                <a:spcPct val="126000"/>
              </a:lnSpc>
              <a:spcBef>
                <a:spcPts val="954"/>
              </a:spcBef>
              <a:tabLst>
                <a:tab pos="184150" algn="l"/>
              </a:tabLst>
            </a:pPr>
            <a:r>
              <a:rPr sz="1400" b="1" kern="0" spc="0" dirty="0">
                <a:solidFill>
                  <a:srgbClr val="576CBC">
                    <a:alpha val="100000"/>
                  </a:srgbClr>
                </a:solidFill>
                <a:latin typeface="Tahoma"/>
                <a:ea typeface="Tahoma"/>
                <a:cs typeface="Tahoma"/>
              </a:rPr>
              <a:t>	</a:t>
            </a:r>
            <a:r>
              <a:rPr sz="1400" b="1" kern="0" spc="170" dirty="0">
                <a:solidFill>
                  <a:srgbClr val="576CBC">
                    <a:alpha val="100000"/>
                  </a:srgbClr>
                </a:solidFill>
                <a:latin typeface="Tahoma"/>
                <a:ea typeface="Tahoma"/>
                <a:cs typeface="Tahoma"/>
              </a:rPr>
              <a:t>  </a:t>
            </a:r>
            <a:r>
              <a:rPr sz="1400" b="1" kern="0" spc="-30" dirty="0">
                <a:solidFill>
                  <a:srgbClr val="576CBC">
                    <a:alpha val="100000"/>
                  </a:srgbClr>
                </a:solidFill>
                <a:latin typeface="Tahoma"/>
                <a:ea typeface="Tahoma"/>
                <a:cs typeface="Tahoma"/>
              </a:rPr>
              <a:t>Hydration Opt</a:t>
            </a:r>
            <a:r>
              <a:rPr sz="1400" b="1" kern="0" spc="-40" dirty="0">
                <a:solidFill>
                  <a:srgbClr val="576CBC">
                    <a:alpha val="100000"/>
                  </a:srgbClr>
                </a:solidFill>
                <a:latin typeface="Tahoma"/>
                <a:ea typeface="Tahoma"/>
                <a:cs typeface="Tahoma"/>
              </a:rPr>
              <a:t>imization </a:t>
            </a:r>
            <a:r>
              <a:rPr sz="1400" kern="0" spc="-40" dirty="0">
                <a:solidFill>
                  <a:srgbClr val="333333">
                    <a:alpha val="100000"/>
                  </a:srgbClr>
                </a:solidFill>
                <a:latin typeface="Tahoma"/>
                <a:ea typeface="Tahoma"/>
                <a:cs typeface="Tahoma"/>
              </a:rPr>
              <a:t>- Strategic</a:t>
            </a:r>
            <a:r>
              <a:rPr sz="1400" kern="0" spc="-100" dirty="0">
                <a:solidFill>
                  <a:srgbClr val="333333">
                    <a:alpha val="100000"/>
                  </a:srgbClr>
                </a:solidFill>
                <a:latin typeface="Tahoma"/>
                <a:ea typeface="Tahoma"/>
                <a:cs typeface="Tahoma"/>
              </a:rPr>
              <a:t> </a:t>
            </a:r>
            <a:r>
              <a:rPr sz="1400" kern="0" spc="-40" dirty="0">
                <a:solidFill>
                  <a:srgbClr val="333333">
                    <a:alpha val="100000"/>
                  </a:srgbClr>
                </a:solidFill>
                <a:latin typeface="Tahoma"/>
                <a:ea typeface="Tahoma"/>
                <a:cs typeface="Tahoma"/>
              </a:rPr>
              <a:t>water intake</a:t>
            </a:r>
            <a:r>
              <a:rPr sz="14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throughout</a:t>
            </a:r>
            <a:r>
              <a:rPr sz="1500" kern="0" spc="-10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the</a:t>
            </a:r>
            <a:r>
              <a:rPr sz="1500" kern="0" spc="-10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day</a:t>
            </a:r>
            <a:endParaRPr sz="1500" dirty="0">
              <a:latin typeface="Tahoma"/>
              <a:ea typeface="Tahoma"/>
              <a:cs typeface="Tahoma"/>
            </a:endParaRPr>
          </a:p>
          <a:p>
            <a:pPr marL="325120" indent="-313054" algn="l" rtl="0" eaLnBrk="0">
              <a:lnSpc>
                <a:spcPct val="127000"/>
              </a:lnSpc>
              <a:spcBef>
                <a:spcPts val="1214"/>
              </a:spcBef>
              <a:tabLst>
                <a:tab pos="189864" algn="l"/>
              </a:tabLst>
            </a:pPr>
            <a:r>
              <a:rPr sz="1400" b="1" kern="0" spc="0" dirty="0">
                <a:solidFill>
                  <a:srgbClr val="576CBC">
                    <a:alpha val="100000"/>
                  </a:srgbClr>
                </a:solidFill>
                <a:latin typeface="Tahoma"/>
                <a:ea typeface="Tahoma"/>
                <a:cs typeface="Tahoma"/>
              </a:rPr>
              <a:t>	</a:t>
            </a:r>
            <a:r>
              <a:rPr sz="1400" b="1" kern="0" spc="110" dirty="0">
                <a:solidFill>
                  <a:srgbClr val="576CBC">
                    <a:alpha val="100000"/>
                  </a:srgbClr>
                </a:solidFill>
                <a:latin typeface="Tahoma"/>
                <a:ea typeface="Tahoma"/>
                <a:cs typeface="Tahoma"/>
              </a:rPr>
              <a:t>  </a:t>
            </a:r>
            <a:r>
              <a:rPr sz="1400" b="1" kern="0" spc="-20" dirty="0">
                <a:solidFill>
                  <a:srgbClr val="576CBC">
                    <a:alpha val="100000"/>
                  </a:srgbClr>
                </a:solidFill>
                <a:latin typeface="Tahoma"/>
                <a:ea typeface="Tahoma"/>
                <a:cs typeface="Tahoma"/>
              </a:rPr>
              <a:t>Sleep Quality </a:t>
            </a:r>
            <a:r>
              <a:rPr sz="1400" kern="0" spc="-20" dirty="0">
                <a:solidFill>
                  <a:srgbClr val="333333">
                    <a:alpha val="100000"/>
                  </a:srgbClr>
                </a:solidFill>
                <a:latin typeface="Tahoma"/>
                <a:ea typeface="Tahoma"/>
                <a:cs typeface="Tahoma"/>
              </a:rPr>
              <a:t>- Creating routines</a:t>
            </a:r>
            <a:r>
              <a:rPr sz="1400" kern="0" spc="-80" dirty="0">
                <a:solidFill>
                  <a:srgbClr val="333333">
                    <a:alpha val="100000"/>
                  </a:srgbClr>
                </a:solidFill>
                <a:latin typeface="Tahoma"/>
                <a:ea typeface="Tahoma"/>
                <a:cs typeface="Tahoma"/>
              </a:rPr>
              <a:t> </a:t>
            </a:r>
            <a:r>
              <a:rPr sz="1400" kern="0" spc="-20" dirty="0">
                <a:solidFill>
                  <a:srgbClr val="333333">
                    <a:alpha val="100000"/>
                  </a:srgbClr>
                </a:solidFill>
                <a:latin typeface="Tahoma"/>
                <a:ea typeface="Tahoma"/>
                <a:cs typeface="Tahoma"/>
              </a:rPr>
              <a:t>for restorative </a:t>
            </a:r>
            <a:r>
              <a:rPr sz="1400" kern="0" spc="-30" dirty="0">
                <a:solidFill>
                  <a:srgbClr val="333333">
                    <a:alpha val="100000"/>
                  </a:srgbClr>
                </a:solidFill>
                <a:latin typeface="Tahoma"/>
                <a:ea typeface="Tahoma"/>
                <a:cs typeface="Tahoma"/>
              </a:rPr>
              <a:t>rest</a:t>
            </a:r>
            <a:r>
              <a:rPr sz="14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cycles</a:t>
            </a:r>
            <a:endParaRPr sz="1500" dirty="0">
              <a:latin typeface="Tahoma"/>
              <a:ea typeface="Tahoma"/>
              <a:cs typeface="Tahoma"/>
            </a:endParaRPr>
          </a:p>
          <a:p>
            <a:pPr marL="330200" indent="-309245" algn="l" rtl="0" eaLnBrk="0">
              <a:lnSpc>
                <a:spcPct val="127000"/>
              </a:lnSpc>
              <a:spcBef>
                <a:spcPts val="1206"/>
              </a:spcBef>
              <a:tabLst>
                <a:tab pos="173989" algn="l"/>
              </a:tabLst>
            </a:pPr>
            <a:r>
              <a:rPr sz="1400" b="1" kern="0" spc="0" dirty="0">
                <a:solidFill>
                  <a:srgbClr val="576CBC">
                    <a:alpha val="100000"/>
                  </a:srgbClr>
                </a:solidFill>
                <a:latin typeface="Tahoma"/>
                <a:ea typeface="Tahoma"/>
                <a:cs typeface="Tahoma"/>
              </a:rPr>
              <a:t>	   </a:t>
            </a:r>
            <a:r>
              <a:rPr sz="1400" b="1" kern="0" spc="-30" dirty="0">
                <a:solidFill>
                  <a:srgbClr val="576CBC">
                    <a:alpha val="100000"/>
                  </a:srgbClr>
                </a:solidFill>
                <a:latin typeface="Tahoma"/>
                <a:ea typeface="Tahoma"/>
                <a:cs typeface="Tahoma"/>
              </a:rPr>
              <a:t>Movement Integration </a:t>
            </a:r>
            <a:r>
              <a:rPr sz="1400" kern="0" spc="-30" dirty="0">
                <a:solidFill>
                  <a:srgbClr val="333333">
                    <a:alpha val="100000"/>
                  </a:srgbClr>
                </a:solidFill>
                <a:latin typeface="Tahoma"/>
                <a:ea typeface="Tahoma"/>
                <a:cs typeface="Tahoma"/>
              </a:rPr>
              <a:t>- Incorporating phy</a:t>
            </a:r>
            <a:r>
              <a:rPr sz="1400" kern="0" spc="-40" dirty="0">
                <a:solidFill>
                  <a:srgbClr val="333333">
                    <a:alpha val="100000"/>
                  </a:srgbClr>
                </a:solidFill>
                <a:latin typeface="Tahoma"/>
                <a:ea typeface="Tahoma"/>
                <a:cs typeface="Tahoma"/>
              </a:rPr>
              <a:t>sical activity</a:t>
            </a:r>
            <a:r>
              <a:rPr sz="1400" kern="0" spc="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into</a:t>
            </a:r>
            <a:r>
              <a:rPr sz="1500" kern="0" spc="-11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daily</a:t>
            </a:r>
            <a:r>
              <a:rPr sz="1500" kern="0" spc="-30" dirty="0">
                <a:solidFill>
                  <a:srgbClr val="333333">
                    <a:alpha val="100000"/>
                  </a:srgbClr>
                </a:solidFill>
                <a:latin typeface="Tahoma"/>
                <a:ea typeface="Tahoma"/>
                <a:cs typeface="Tahoma"/>
              </a:rPr>
              <a:t> life</a:t>
            </a:r>
            <a:endParaRPr sz="1500" dirty="0">
              <a:latin typeface="Tahoma"/>
              <a:ea typeface="Tahoma"/>
              <a:cs typeface="Tahoma"/>
            </a:endParaRPr>
          </a:p>
          <a:p>
            <a:pPr algn="l" rtl="0" eaLnBrk="0">
              <a:lnSpc>
                <a:spcPct val="102000"/>
              </a:lnSpc>
              <a:tabLst/>
            </a:pPr>
            <a:endParaRPr sz="1000" dirty="0">
              <a:latin typeface="Arial"/>
              <a:ea typeface="Arial"/>
              <a:cs typeface="Arial"/>
            </a:endParaRPr>
          </a:p>
          <a:p>
            <a:pPr algn="l" rtl="0" eaLnBrk="0">
              <a:lnSpc>
                <a:spcPct val="6722"/>
              </a:lnSpc>
              <a:tabLst/>
            </a:pPr>
            <a:endParaRPr sz="100" dirty="0">
              <a:latin typeface="Arial"/>
              <a:ea typeface="Arial"/>
              <a:cs typeface="Arial"/>
            </a:endParaRPr>
          </a:p>
          <a:p>
            <a:pPr marL="321945" indent="-309879" algn="l" rtl="0" eaLnBrk="0">
              <a:lnSpc>
                <a:spcPct val="123000"/>
              </a:lnSpc>
              <a:tabLst>
                <a:tab pos="202564" algn="l"/>
              </a:tabLst>
            </a:pPr>
            <a:r>
              <a:rPr sz="1400" b="1" kern="0" spc="0" dirty="0">
                <a:solidFill>
                  <a:srgbClr val="576CBC">
                    <a:alpha val="100000"/>
                  </a:srgbClr>
                </a:solidFill>
                <a:latin typeface="Tahoma"/>
                <a:ea typeface="Tahoma"/>
                <a:cs typeface="Tahoma"/>
              </a:rPr>
              <a:t>	</a:t>
            </a:r>
            <a:r>
              <a:rPr sz="1400" b="1" kern="0" spc="100" dirty="0">
                <a:solidFill>
                  <a:srgbClr val="576CBC">
                    <a:alpha val="100000"/>
                  </a:srgbClr>
                </a:solidFill>
                <a:latin typeface="Tahoma"/>
                <a:ea typeface="Tahoma"/>
                <a:cs typeface="Tahoma"/>
              </a:rPr>
              <a:t>  </a:t>
            </a:r>
            <a:r>
              <a:rPr sz="1400" b="1" kern="0" spc="-20" dirty="0">
                <a:solidFill>
                  <a:srgbClr val="576CBC">
                    <a:alpha val="100000"/>
                  </a:srgbClr>
                </a:solidFill>
                <a:latin typeface="Tahoma"/>
                <a:ea typeface="Tahoma"/>
                <a:cs typeface="Tahoma"/>
              </a:rPr>
              <a:t>Breathing Practices </a:t>
            </a:r>
            <a:r>
              <a:rPr sz="1400" kern="0" spc="-20" dirty="0">
                <a:solidFill>
                  <a:srgbClr val="333333">
                    <a:alpha val="100000"/>
                  </a:srgbClr>
                </a:solidFill>
                <a:latin typeface="Tahoma"/>
                <a:ea typeface="Tahoma"/>
                <a:cs typeface="Tahoma"/>
              </a:rPr>
              <a:t>- Conscious breathing</a:t>
            </a:r>
            <a:r>
              <a:rPr sz="1400" kern="0" spc="-110" dirty="0">
                <a:solidFill>
                  <a:srgbClr val="333333">
                    <a:alpha val="100000"/>
                  </a:srgbClr>
                </a:solidFill>
                <a:latin typeface="Tahoma"/>
                <a:ea typeface="Tahoma"/>
                <a:cs typeface="Tahoma"/>
              </a:rPr>
              <a:t> </a:t>
            </a:r>
            <a:r>
              <a:rPr sz="1400" kern="0" spc="-20" dirty="0">
                <a:solidFill>
                  <a:srgbClr val="333333">
                    <a:alpha val="100000"/>
                  </a:srgbClr>
                </a:solidFill>
                <a:latin typeface="Tahoma"/>
                <a:ea typeface="Tahoma"/>
                <a:cs typeface="Tahoma"/>
              </a:rPr>
              <a:t>t</a:t>
            </a:r>
            <a:r>
              <a:rPr sz="1400" kern="0" spc="-30" dirty="0">
                <a:solidFill>
                  <a:srgbClr val="333333">
                    <a:alpha val="100000"/>
                  </a:srgbClr>
                </a:solidFill>
                <a:latin typeface="Tahoma"/>
                <a:ea typeface="Tahoma"/>
                <a:cs typeface="Tahoma"/>
              </a:rPr>
              <a:t>echniques</a:t>
            </a:r>
            <a:r>
              <a:rPr sz="1400" kern="0" spc="-90" dirty="0">
                <a:solidFill>
                  <a:srgbClr val="333333">
                    <a:alpha val="100000"/>
                  </a:srgbClr>
                </a:solidFill>
                <a:latin typeface="Tahoma"/>
                <a:ea typeface="Tahoma"/>
                <a:cs typeface="Tahoma"/>
              </a:rPr>
              <a:t> </a:t>
            </a:r>
            <a:r>
              <a:rPr sz="1400" kern="0" spc="-30" dirty="0">
                <a:solidFill>
                  <a:srgbClr val="333333">
                    <a:alpha val="100000"/>
                  </a:srgbClr>
                </a:solidFill>
                <a:latin typeface="Tahoma"/>
                <a:ea typeface="Tahoma"/>
                <a:cs typeface="Tahoma"/>
              </a:rPr>
              <a:t>for</a:t>
            </a:r>
            <a:r>
              <a:rPr sz="1400" kern="0" spc="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stress management</a:t>
            </a:r>
            <a:endParaRPr sz="1500" dirty="0">
              <a:latin typeface="Tahoma"/>
              <a:ea typeface="Tahoma"/>
              <a:cs typeface="Tahoma"/>
            </a:endParaRPr>
          </a:p>
        </p:txBody>
      </p:sp>
      <p:pic>
        <p:nvPicPr>
          <p:cNvPr id="162" name="picture 162"/>
          <p:cNvPicPr>
            <a:picLocks noChangeAspect="1"/>
          </p:cNvPicPr>
          <p:nvPr/>
        </p:nvPicPr>
        <p:blipFill>
          <a:blip r:embed="rId2"/>
          <a:stretch>
            <a:fillRect/>
          </a:stretch>
        </p:blipFill>
        <p:spPr>
          <a:xfrm rot="21600000">
            <a:off x="6505727" y="4913757"/>
            <a:ext cx="190194" cy="230885"/>
          </a:xfrm>
          <a:prstGeom prst="rect">
            <a:avLst/>
          </a:prstGeom>
        </p:spPr>
      </p:pic>
      <p:pic>
        <p:nvPicPr>
          <p:cNvPr id="164" name="picture 164"/>
          <p:cNvPicPr>
            <a:picLocks noChangeAspect="1"/>
          </p:cNvPicPr>
          <p:nvPr/>
        </p:nvPicPr>
        <p:blipFill>
          <a:blip r:embed="rId3"/>
          <a:stretch>
            <a:fillRect/>
          </a:stretch>
        </p:blipFill>
        <p:spPr>
          <a:xfrm rot="21600000">
            <a:off x="6514185" y="4199382"/>
            <a:ext cx="153161" cy="230885"/>
          </a:xfrm>
          <a:prstGeom prst="rect">
            <a:avLst/>
          </a:prstGeom>
        </p:spPr>
      </p:pic>
      <p:pic>
        <p:nvPicPr>
          <p:cNvPr id="166" name="picture 166"/>
          <p:cNvPicPr>
            <a:picLocks noChangeAspect="1"/>
          </p:cNvPicPr>
          <p:nvPr/>
        </p:nvPicPr>
        <p:blipFill>
          <a:blip r:embed="rId4"/>
          <a:stretch>
            <a:fillRect/>
          </a:stretch>
        </p:blipFill>
        <p:spPr>
          <a:xfrm rot="21600000">
            <a:off x="6505727" y="3485007"/>
            <a:ext cx="177621" cy="230885"/>
          </a:xfrm>
          <a:prstGeom prst="rect">
            <a:avLst/>
          </a:prstGeom>
        </p:spPr>
      </p:pic>
      <p:pic>
        <p:nvPicPr>
          <p:cNvPr id="168" name="picture 168"/>
          <p:cNvPicPr>
            <a:picLocks noChangeAspect="1"/>
          </p:cNvPicPr>
          <p:nvPr/>
        </p:nvPicPr>
        <p:blipFill>
          <a:blip r:embed="rId5"/>
          <a:stretch>
            <a:fillRect/>
          </a:stretch>
        </p:blipFill>
        <p:spPr>
          <a:xfrm rot="21600000">
            <a:off x="6524472" y="2770632"/>
            <a:ext cx="152705" cy="230885"/>
          </a:xfrm>
          <a:prstGeom prst="rect">
            <a:avLst/>
          </a:prstGeom>
        </p:spPr>
      </p:pic>
      <p:pic>
        <p:nvPicPr>
          <p:cNvPr id="170" name="picture 170"/>
          <p:cNvPicPr>
            <a:picLocks noChangeAspect="1"/>
          </p:cNvPicPr>
          <p:nvPr/>
        </p:nvPicPr>
        <p:blipFill>
          <a:blip r:embed="rId6"/>
          <a:stretch>
            <a:fillRect/>
          </a:stretch>
        </p:blipFill>
        <p:spPr>
          <a:xfrm rot="21600000">
            <a:off x="6515100" y="2056257"/>
            <a:ext cx="171450" cy="230885"/>
          </a:xfrm>
          <a:prstGeom prst="rect">
            <a:avLst/>
          </a:prstGeom>
        </p:spPr>
      </p:pic>
      <p:pic>
        <p:nvPicPr>
          <p:cNvPr id="172" name="picture 172"/>
          <p:cNvPicPr>
            <a:picLocks noChangeAspect="1"/>
          </p:cNvPicPr>
          <p:nvPr/>
        </p:nvPicPr>
        <p:blipFill>
          <a:blip r:embed="rId7"/>
          <a:stretch>
            <a:fillRect/>
          </a:stretch>
        </p:blipFill>
        <p:spPr>
          <a:xfrm rot="21600000">
            <a:off x="6523558" y="1580007"/>
            <a:ext cx="153619" cy="230885"/>
          </a:xfrm>
          <a:prstGeom prst="rect">
            <a:avLst/>
          </a:prstGeom>
        </p:spPr>
      </p:pic>
      <p:sp>
        <p:nvSpPr>
          <p:cNvPr id="174" name="textbox 174"/>
          <p:cNvSpPr/>
          <p:nvPr/>
        </p:nvSpPr>
        <p:spPr>
          <a:xfrm>
            <a:off x="1602739" y="2256345"/>
            <a:ext cx="3843020" cy="375412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22225" algn="l" rtl="0" eaLnBrk="0">
              <a:lnSpc>
                <a:spcPts val="1941"/>
              </a:lnSpc>
              <a:tabLst/>
            </a:pPr>
            <a:r>
              <a:rPr sz="1400" b="1" kern="0" spc="-60" dirty="0">
                <a:solidFill>
                  <a:srgbClr val="19376D">
                    <a:alpha val="100000"/>
                  </a:srgbClr>
                </a:solidFill>
                <a:latin typeface="Tahoma"/>
                <a:ea typeface="Tahoma"/>
                <a:cs typeface="Tahoma"/>
              </a:rPr>
              <a:t>Mind-Body Con</a:t>
            </a:r>
            <a:r>
              <a:rPr sz="1400" b="1" kern="0" spc="-70" dirty="0">
                <a:solidFill>
                  <a:srgbClr val="19376D">
                    <a:alpha val="100000"/>
                  </a:srgbClr>
                </a:solidFill>
                <a:latin typeface="Tahoma"/>
                <a:ea typeface="Tahoma"/>
                <a:cs typeface="Tahoma"/>
              </a:rPr>
              <a:t>nection</a:t>
            </a:r>
            <a:endParaRPr sz="1400" dirty="0">
              <a:latin typeface="Tahoma"/>
              <a:ea typeface="Tahoma"/>
              <a:cs typeface="Tahoma"/>
            </a:endParaRPr>
          </a:p>
          <a:p>
            <a:pPr marL="12700" indent="11429" algn="l" rtl="0" eaLnBrk="0">
              <a:lnSpc>
                <a:spcPct val="118000"/>
              </a:lnSpc>
              <a:spcBef>
                <a:spcPts val="660"/>
              </a:spcBef>
              <a:tabLst/>
            </a:pPr>
            <a:r>
              <a:rPr sz="1500" kern="0" spc="-30" dirty="0">
                <a:solidFill>
                  <a:srgbClr val="333333">
                    <a:alpha val="100000"/>
                  </a:srgbClr>
                </a:solidFill>
                <a:latin typeface="Tahoma"/>
                <a:ea typeface="Tahoma"/>
                <a:cs typeface="Tahoma"/>
              </a:rPr>
              <a:t>Integrati</a:t>
            </a:r>
            <a:r>
              <a:rPr sz="1500" kern="0" spc="-40" dirty="0">
                <a:solidFill>
                  <a:srgbClr val="333333">
                    <a:alpha val="100000"/>
                  </a:srgbClr>
                </a:solidFill>
                <a:latin typeface="Tahoma"/>
                <a:ea typeface="Tahoma"/>
                <a:cs typeface="Tahoma"/>
              </a:rPr>
              <a:t>ng mental</a:t>
            </a:r>
            <a:r>
              <a:rPr sz="1500" kern="0" spc="-15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wellness</a:t>
            </a:r>
            <a:r>
              <a:rPr sz="1500" kern="0" spc="-14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with physical health</a:t>
            </a:r>
            <a:r>
              <a:rPr sz="1500" kern="0" spc="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for</a:t>
            </a:r>
            <a:r>
              <a:rPr sz="1500" kern="0" spc="-12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complete</a:t>
            </a:r>
            <a:r>
              <a:rPr sz="1500" kern="0" spc="-14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wellbe</a:t>
            </a:r>
            <a:r>
              <a:rPr sz="1500" kern="0" spc="-30" dirty="0">
                <a:solidFill>
                  <a:srgbClr val="333333">
                    <a:alpha val="100000"/>
                  </a:srgbClr>
                </a:solidFill>
                <a:latin typeface="Tahoma"/>
                <a:ea typeface="Tahoma"/>
                <a:cs typeface="Tahoma"/>
              </a:rPr>
              <a:t>ing</a:t>
            </a:r>
            <a:endParaRPr sz="1500" dirty="0">
              <a:latin typeface="Tahoma"/>
              <a:ea typeface="Tahoma"/>
              <a:cs typeface="Tahoma"/>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22225" algn="l" rtl="0" eaLnBrk="0">
              <a:lnSpc>
                <a:spcPts val="1940"/>
              </a:lnSpc>
              <a:spcBef>
                <a:spcPts val="430"/>
              </a:spcBef>
              <a:tabLst/>
            </a:pPr>
            <a:r>
              <a:rPr sz="1400" b="1" kern="0" spc="-70" dirty="0">
                <a:solidFill>
                  <a:srgbClr val="19376D">
                    <a:alpha val="100000"/>
                  </a:srgbClr>
                </a:solidFill>
                <a:latin typeface="Tahoma"/>
                <a:ea typeface="Tahoma"/>
                <a:cs typeface="Tahoma"/>
              </a:rPr>
              <a:t>Life Balance</a:t>
            </a:r>
            <a:endParaRPr sz="1400" dirty="0">
              <a:latin typeface="Tahoma"/>
              <a:ea typeface="Tahoma"/>
              <a:cs typeface="Tahoma"/>
            </a:endParaRPr>
          </a:p>
          <a:p>
            <a:pPr marL="24129" algn="l" rtl="0" eaLnBrk="0">
              <a:lnSpc>
                <a:spcPts val="1891"/>
              </a:lnSpc>
              <a:spcBef>
                <a:spcPts val="715"/>
              </a:spcBef>
              <a:tabLst/>
            </a:pPr>
            <a:r>
              <a:rPr sz="1500" kern="0" spc="-40" dirty="0">
                <a:solidFill>
                  <a:srgbClr val="333333">
                    <a:alpha val="100000"/>
                  </a:srgbClr>
                </a:solidFill>
                <a:latin typeface="Tahoma"/>
                <a:ea typeface="Tahoma"/>
                <a:cs typeface="Tahoma"/>
              </a:rPr>
              <a:t>Harmonizing</a:t>
            </a:r>
            <a:r>
              <a:rPr sz="1500" kern="0" spc="-14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work, rest, and pers</a:t>
            </a:r>
            <a:r>
              <a:rPr sz="1500" kern="0" spc="-50" dirty="0">
                <a:solidFill>
                  <a:srgbClr val="333333">
                    <a:alpha val="100000"/>
                  </a:srgbClr>
                </a:solidFill>
                <a:latin typeface="Tahoma"/>
                <a:ea typeface="Tahoma"/>
                <a:cs typeface="Tahoma"/>
              </a:rPr>
              <a:t>onal</a:t>
            </a:r>
            <a:endParaRPr sz="1500" dirty="0">
              <a:latin typeface="Tahoma"/>
              <a:ea typeface="Tahoma"/>
              <a:cs typeface="Tahoma"/>
            </a:endParaRPr>
          </a:p>
          <a:p>
            <a:pPr marL="15875" algn="l" rtl="0" eaLnBrk="0">
              <a:lnSpc>
                <a:spcPts val="2250"/>
              </a:lnSpc>
              <a:tabLst/>
            </a:pPr>
            <a:r>
              <a:rPr sz="1500" kern="0" spc="-20" dirty="0">
                <a:solidFill>
                  <a:srgbClr val="333333">
                    <a:alpha val="100000"/>
                  </a:srgbClr>
                </a:solidFill>
                <a:latin typeface="Tahoma"/>
                <a:ea typeface="Tahoma"/>
                <a:cs typeface="Tahoma"/>
              </a:rPr>
              <a:t>development</a:t>
            </a:r>
            <a:r>
              <a:rPr sz="1500" kern="0" spc="-90" dirty="0">
                <a:solidFill>
                  <a:srgbClr val="333333">
                    <a:alpha val="100000"/>
                  </a:srgbClr>
                </a:solidFill>
                <a:latin typeface="Tahoma"/>
                <a:ea typeface="Tahoma"/>
                <a:cs typeface="Tahoma"/>
              </a:rPr>
              <a:t> </a:t>
            </a:r>
            <a:r>
              <a:rPr sz="1500" kern="0" spc="-20" dirty="0">
                <a:solidFill>
                  <a:srgbClr val="333333">
                    <a:alpha val="100000"/>
                  </a:srgbClr>
                </a:solidFill>
                <a:latin typeface="Tahoma"/>
                <a:ea typeface="Tahoma"/>
                <a:cs typeface="Tahoma"/>
              </a:rPr>
              <a:t>activities</a:t>
            </a:r>
            <a:endParaRPr sz="1500" dirty="0">
              <a:latin typeface="Tahoma"/>
              <a:ea typeface="Tahoma"/>
              <a:cs typeface="Tahoma"/>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marL="22225" algn="l" rtl="0" eaLnBrk="0">
              <a:lnSpc>
                <a:spcPts val="1940"/>
              </a:lnSpc>
              <a:spcBef>
                <a:spcPts val="420"/>
              </a:spcBef>
              <a:tabLst/>
            </a:pPr>
            <a:r>
              <a:rPr sz="1400" b="1" kern="0" spc="-60" dirty="0">
                <a:solidFill>
                  <a:srgbClr val="19376D">
                    <a:alpha val="100000"/>
                  </a:srgbClr>
                </a:solidFill>
                <a:latin typeface="Tahoma"/>
                <a:ea typeface="Tahoma"/>
                <a:cs typeface="Tahoma"/>
              </a:rPr>
              <a:t>Environmental</a:t>
            </a:r>
            <a:r>
              <a:rPr sz="1400" b="1" kern="0" spc="-120" dirty="0">
                <a:solidFill>
                  <a:srgbClr val="19376D">
                    <a:alpha val="100000"/>
                  </a:srgbClr>
                </a:solidFill>
                <a:latin typeface="Tahoma"/>
                <a:ea typeface="Tahoma"/>
                <a:cs typeface="Tahoma"/>
              </a:rPr>
              <a:t> </a:t>
            </a:r>
            <a:r>
              <a:rPr sz="1400" b="1" kern="0" spc="-70" dirty="0">
                <a:solidFill>
                  <a:srgbClr val="19376D">
                    <a:alpha val="100000"/>
                  </a:srgbClr>
                </a:solidFill>
                <a:latin typeface="Tahoma"/>
                <a:ea typeface="Tahoma"/>
                <a:cs typeface="Tahoma"/>
              </a:rPr>
              <a:t>Alignment</a:t>
            </a:r>
            <a:endParaRPr sz="1400" dirty="0">
              <a:latin typeface="Tahoma"/>
              <a:ea typeface="Tahoma"/>
              <a:cs typeface="Tahoma"/>
            </a:endParaRPr>
          </a:p>
          <a:p>
            <a:pPr algn="l" rtl="0" eaLnBrk="0">
              <a:lnSpc>
                <a:spcPct val="111000"/>
              </a:lnSpc>
              <a:tabLst/>
            </a:pPr>
            <a:endParaRPr sz="500" dirty="0">
              <a:latin typeface="Arial"/>
              <a:ea typeface="Arial"/>
              <a:cs typeface="Arial"/>
            </a:endParaRPr>
          </a:p>
          <a:p>
            <a:pPr marL="22225" indent="-5714" algn="l" rtl="0" eaLnBrk="0">
              <a:lnSpc>
                <a:spcPct val="118000"/>
              </a:lnSpc>
              <a:spcBef>
                <a:spcPts val="2"/>
              </a:spcBef>
              <a:tabLst/>
            </a:pPr>
            <a:r>
              <a:rPr sz="1500" kern="0" spc="-30" dirty="0">
                <a:solidFill>
                  <a:srgbClr val="333333">
                    <a:alpha val="100000"/>
                  </a:srgbClr>
                </a:solidFill>
                <a:latin typeface="Tahoma"/>
                <a:ea typeface="Tahoma"/>
                <a:cs typeface="Tahoma"/>
              </a:rPr>
              <a:t>Creating living and</a:t>
            </a:r>
            <a:r>
              <a:rPr sz="1500" kern="0" spc="-15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working</a:t>
            </a:r>
            <a:r>
              <a:rPr sz="1500" kern="0" spc="-13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spaces</a:t>
            </a:r>
            <a:r>
              <a:rPr sz="1500" kern="0" spc="-14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that</a:t>
            </a:r>
            <a:r>
              <a:rPr sz="1500" kern="0" spc="-13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support</a:t>
            </a:r>
            <a:r>
              <a:rPr sz="1500" kern="0" spc="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natural health rhythms</a:t>
            </a:r>
            <a:endParaRPr sz="1500" dirty="0">
              <a:latin typeface="Tahoma"/>
              <a:ea typeface="Tahoma"/>
              <a:cs typeface="Tahoma"/>
            </a:endParaRPr>
          </a:p>
        </p:txBody>
      </p:sp>
      <p:sp>
        <p:nvSpPr>
          <p:cNvPr id="176" name="textbox 176"/>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178" name="rect 178"/>
          <p:cNvSpPr/>
          <p:nvPr/>
        </p:nvSpPr>
        <p:spPr>
          <a:xfrm>
            <a:off x="6486525" y="5772150"/>
            <a:ext cx="4848225" cy="857250"/>
          </a:xfrm>
          <a:prstGeom prst="rect">
            <a:avLst/>
          </a:prstGeom>
          <a:solidFill>
            <a:srgbClr val="576CBC">
              <a:alpha val="10196"/>
            </a:srgbClr>
          </a:solidFill>
          <a:ln w="0" cap="flat">
            <a:noFill/>
            <a:prstDash val="solid"/>
            <a:miter lim="0"/>
          </a:ln>
        </p:spPr>
        <p:txBody>
          <a:bodyPr rtlCol="0"/>
          <a:lstStyle/>
          <a:p>
            <a:pPr algn="ctr"/>
            <a:endParaRPr lang="zh-CN" altLang="en-US"/>
          </a:p>
        </p:txBody>
      </p:sp>
      <p:sp>
        <p:nvSpPr>
          <p:cNvPr id="180" name="textbox 180"/>
          <p:cNvSpPr/>
          <p:nvPr/>
        </p:nvSpPr>
        <p:spPr>
          <a:xfrm>
            <a:off x="6670375" y="5927471"/>
            <a:ext cx="4286884" cy="558165"/>
          </a:xfrm>
          <a:prstGeom prst="rect">
            <a:avLst/>
          </a:prstGeom>
          <a:noFill/>
          <a:ln w="0" cap="flat">
            <a:noFill/>
            <a:prstDash val="solid"/>
            <a:miter lim="0"/>
          </a:ln>
        </p:spPr>
        <p:txBody>
          <a:bodyPr vert="horz" wrap="square" lIns="0" tIns="0" rIns="0" bIns="0"/>
          <a:lstStyle/>
          <a:p>
            <a:pPr algn="l" rtl="0" eaLnBrk="0">
              <a:lnSpc>
                <a:spcPct val="36715"/>
              </a:lnSpc>
              <a:tabLst/>
            </a:pPr>
            <a:endParaRPr sz="100" dirty="0">
              <a:latin typeface="Arial"/>
              <a:ea typeface="Arial"/>
              <a:cs typeface="Arial"/>
            </a:endParaRPr>
          </a:p>
          <a:p>
            <a:pPr marL="12700" indent="15875" algn="l" rtl="0" eaLnBrk="0">
              <a:lnSpc>
                <a:spcPct val="118000"/>
              </a:lnSpc>
              <a:tabLst/>
            </a:pPr>
            <a:r>
              <a:rPr sz="1500" i="1" kern="0" spc="-30" dirty="0">
                <a:solidFill>
                  <a:srgbClr val="555555">
                    <a:alpha val="100000"/>
                  </a:srgbClr>
                </a:solidFill>
                <a:latin typeface="Tahoma"/>
                <a:ea typeface="Tahoma"/>
                <a:cs typeface="Tahoma"/>
              </a:rPr>
              <a:t>Insert</a:t>
            </a:r>
            <a:r>
              <a:rPr sz="1500" kern="0" spc="-160" dirty="0">
                <a:solidFill>
                  <a:srgbClr val="555555">
                    <a:alpha val="100000"/>
                  </a:srgbClr>
                </a:solidFill>
                <a:latin typeface="Tahoma"/>
                <a:ea typeface="Tahoma"/>
                <a:cs typeface="Tahoma"/>
              </a:rPr>
              <a:t> </a:t>
            </a:r>
            <a:r>
              <a:rPr sz="1500" i="1" kern="0" spc="-30" dirty="0">
                <a:solidFill>
                  <a:srgbClr val="555555">
                    <a:alpha val="100000"/>
                  </a:srgbClr>
                </a:solidFill>
                <a:latin typeface="Tahoma"/>
                <a:ea typeface="Tahoma"/>
                <a:cs typeface="Tahoma"/>
              </a:rPr>
              <a:t>specific</a:t>
            </a:r>
            <a:r>
              <a:rPr sz="1500" kern="0" spc="-30" dirty="0">
                <a:solidFill>
                  <a:srgbClr val="555555">
                    <a:alpha val="100000"/>
                  </a:srgbClr>
                </a:solidFill>
                <a:latin typeface="Tahoma"/>
                <a:ea typeface="Tahoma"/>
                <a:cs typeface="Tahoma"/>
              </a:rPr>
              <a:t> </a:t>
            </a:r>
            <a:r>
              <a:rPr sz="1500" i="1" kern="0" spc="-30" dirty="0">
                <a:solidFill>
                  <a:srgbClr val="555555">
                    <a:alpha val="100000"/>
                  </a:srgbClr>
                </a:solidFill>
                <a:latin typeface="Tahoma"/>
                <a:ea typeface="Tahoma"/>
                <a:cs typeface="Tahoma"/>
              </a:rPr>
              <a:t>behavioral</a:t>
            </a:r>
            <a:r>
              <a:rPr sz="1500" kern="0" spc="-150" dirty="0">
                <a:solidFill>
                  <a:srgbClr val="555555">
                    <a:alpha val="100000"/>
                  </a:srgbClr>
                </a:solidFill>
                <a:latin typeface="Tahoma"/>
                <a:ea typeface="Tahoma"/>
                <a:cs typeface="Tahoma"/>
              </a:rPr>
              <a:t> </a:t>
            </a:r>
            <a:r>
              <a:rPr sz="1500" i="1" kern="0" spc="-30" dirty="0">
                <a:solidFill>
                  <a:srgbClr val="555555">
                    <a:alpha val="100000"/>
                  </a:srgbClr>
                </a:solidFill>
                <a:latin typeface="Tahoma"/>
                <a:ea typeface="Tahoma"/>
                <a:cs typeface="Tahoma"/>
              </a:rPr>
              <a:t>fra</a:t>
            </a:r>
            <a:r>
              <a:rPr sz="1500" i="1" kern="0" spc="-40" dirty="0">
                <a:solidFill>
                  <a:srgbClr val="555555">
                    <a:alpha val="100000"/>
                  </a:srgbClr>
                </a:solidFill>
                <a:latin typeface="Tahoma"/>
                <a:ea typeface="Tahoma"/>
                <a:cs typeface="Tahoma"/>
              </a:rPr>
              <a:t>meworks</a:t>
            </a:r>
            <a:r>
              <a:rPr sz="1500" kern="0" spc="-40" dirty="0">
                <a:solidFill>
                  <a:srgbClr val="555555">
                    <a:alpha val="100000"/>
                  </a:srgbClr>
                </a:solidFill>
                <a:latin typeface="Tahoma"/>
                <a:ea typeface="Tahoma"/>
                <a:cs typeface="Tahoma"/>
              </a:rPr>
              <a:t> </a:t>
            </a:r>
            <a:r>
              <a:rPr sz="1500" i="1" kern="0" spc="-40" dirty="0">
                <a:solidFill>
                  <a:srgbClr val="555555">
                    <a:alpha val="100000"/>
                  </a:srgbClr>
                </a:solidFill>
                <a:latin typeface="Tahoma"/>
                <a:ea typeface="Tahoma"/>
                <a:cs typeface="Tahoma"/>
              </a:rPr>
              <a:t>or</a:t>
            </a:r>
            <a:r>
              <a:rPr sz="1500" kern="0" spc="-110" dirty="0">
                <a:solidFill>
                  <a:srgbClr val="555555">
                    <a:alpha val="100000"/>
                  </a:srgbClr>
                </a:solidFill>
                <a:latin typeface="Tahoma"/>
                <a:ea typeface="Tahoma"/>
                <a:cs typeface="Tahoma"/>
              </a:rPr>
              <a:t> </a:t>
            </a:r>
            <a:r>
              <a:rPr sz="1500" i="1" kern="0" spc="-40" dirty="0">
                <a:solidFill>
                  <a:srgbClr val="555555">
                    <a:alpha val="100000"/>
                  </a:srgbClr>
                </a:solidFill>
                <a:latin typeface="Tahoma"/>
                <a:ea typeface="Tahoma"/>
                <a:cs typeface="Tahoma"/>
              </a:rPr>
              <a:t>consumption</a:t>
            </a:r>
            <a:r>
              <a:rPr sz="1500" kern="0" spc="0" dirty="0">
                <a:solidFill>
                  <a:srgbClr val="555555">
                    <a:alpha val="100000"/>
                  </a:srgbClr>
                </a:solidFill>
                <a:latin typeface="Tahoma"/>
                <a:ea typeface="Tahoma"/>
                <a:cs typeface="Tahoma"/>
              </a:rPr>
              <a:t> </a:t>
            </a:r>
            <a:r>
              <a:rPr sz="1500" i="1" kern="0" spc="-20" dirty="0">
                <a:solidFill>
                  <a:srgbClr val="555555">
                    <a:alpha val="100000"/>
                  </a:srgbClr>
                </a:solidFill>
                <a:latin typeface="Tahoma"/>
                <a:ea typeface="Tahoma"/>
                <a:cs typeface="Tahoma"/>
              </a:rPr>
              <a:t>guidelines</a:t>
            </a:r>
            <a:r>
              <a:rPr sz="1500" kern="0" spc="-190" dirty="0">
                <a:solidFill>
                  <a:srgbClr val="555555">
                    <a:alpha val="100000"/>
                  </a:srgbClr>
                </a:solidFill>
                <a:latin typeface="Tahoma"/>
                <a:ea typeface="Tahoma"/>
                <a:cs typeface="Tahoma"/>
              </a:rPr>
              <a:t> </a:t>
            </a:r>
            <a:r>
              <a:rPr sz="1500" i="1" kern="0" spc="-20" dirty="0">
                <a:solidFill>
                  <a:srgbClr val="555555">
                    <a:alpha val="100000"/>
                  </a:srgbClr>
                </a:solidFill>
                <a:latin typeface="Tahoma"/>
                <a:ea typeface="Tahoma"/>
                <a:cs typeface="Tahoma"/>
              </a:rPr>
              <a:t>your</a:t>
            </a:r>
            <a:r>
              <a:rPr sz="1500" kern="0" spc="-110" dirty="0">
                <a:solidFill>
                  <a:srgbClr val="555555">
                    <a:alpha val="100000"/>
                  </a:srgbClr>
                </a:solidFill>
                <a:latin typeface="Tahoma"/>
                <a:ea typeface="Tahoma"/>
                <a:cs typeface="Tahoma"/>
              </a:rPr>
              <a:t> </a:t>
            </a:r>
            <a:r>
              <a:rPr sz="1500" i="1" kern="0" spc="-20" dirty="0">
                <a:solidFill>
                  <a:srgbClr val="555555">
                    <a:alpha val="100000"/>
                  </a:srgbClr>
                </a:solidFill>
                <a:latin typeface="Tahoma"/>
                <a:ea typeface="Tahoma"/>
                <a:cs typeface="Tahoma"/>
              </a:rPr>
              <a:t>organization</a:t>
            </a:r>
            <a:r>
              <a:rPr sz="1500" kern="0" spc="-100" dirty="0">
                <a:solidFill>
                  <a:srgbClr val="555555">
                    <a:alpha val="100000"/>
                  </a:srgbClr>
                </a:solidFill>
                <a:latin typeface="Tahoma"/>
                <a:ea typeface="Tahoma"/>
                <a:cs typeface="Tahoma"/>
              </a:rPr>
              <a:t> </a:t>
            </a:r>
            <a:r>
              <a:rPr sz="1500" i="1" kern="0" spc="-20" dirty="0">
                <a:solidFill>
                  <a:srgbClr val="555555">
                    <a:alpha val="100000"/>
                  </a:srgbClr>
                </a:solidFill>
                <a:latin typeface="Tahoma"/>
                <a:ea typeface="Tahoma"/>
                <a:cs typeface="Tahoma"/>
              </a:rPr>
              <a:t>fo</a:t>
            </a:r>
            <a:r>
              <a:rPr sz="1500" kern="0" spc="-330" dirty="0">
                <a:solidFill>
                  <a:srgbClr val="555555">
                    <a:alpha val="100000"/>
                  </a:srgbClr>
                </a:solidFill>
                <a:latin typeface="Tahoma"/>
                <a:ea typeface="Tahoma"/>
                <a:cs typeface="Tahoma"/>
              </a:rPr>
              <a:t> </a:t>
            </a:r>
            <a:r>
              <a:rPr sz="1500" b="1" i="1" kern="0" spc="-20" dirty="0">
                <a:solidFill>
                  <a:srgbClr val="555555">
                    <a:alpha val="100000"/>
                  </a:srgbClr>
                </a:solidFill>
                <a:latin typeface="Tahoma"/>
                <a:ea typeface="Tahoma"/>
                <a:cs typeface="Tahoma"/>
              </a:rPr>
              <a:t>l</a:t>
            </a:r>
            <a:r>
              <a:rPr sz="1500" i="1" kern="0" spc="-20" dirty="0">
                <a:solidFill>
                  <a:srgbClr val="555555">
                    <a:alpha val="100000"/>
                  </a:srgbClr>
                </a:solidFill>
                <a:latin typeface="Tahoma"/>
                <a:ea typeface="Tahoma"/>
                <a:cs typeface="Tahoma"/>
              </a:rPr>
              <a:t>o</a:t>
            </a:r>
            <a:r>
              <a:rPr sz="1500" i="1" kern="0" spc="-30" dirty="0">
                <a:solidFill>
                  <a:srgbClr val="555555">
                    <a:alpha val="100000"/>
                  </a:srgbClr>
                </a:solidFill>
                <a:latin typeface="Tahoma"/>
                <a:ea typeface="Tahoma"/>
                <a:cs typeface="Tahoma"/>
              </a:rPr>
              <a:t>ws</a:t>
            </a:r>
            <a:endParaRPr sz="1500" dirty="0">
              <a:latin typeface="Tahoma"/>
              <a:ea typeface="Tahoma"/>
              <a:cs typeface="Tahoma"/>
            </a:endParaRPr>
          </a:p>
        </p:txBody>
      </p:sp>
      <p:sp>
        <p:nvSpPr>
          <p:cNvPr id="182" name="textbox 182"/>
          <p:cNvSpPr/>
          <p:nvPr/>
        </p:nvSpPr>
        <p:spPr>
          <a:xfrm>
            <a:off x="863752" y="1514233"/>
            <a:ext cx="2299335" cy="37084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717"/>
              </a:lnSpc>
              <a:tabLst>
                <a:tab pos="202564" algn="l"/>
              </a:tabLst>
            </a:pPr>
            <a:r>
              <a:rPr sz="1900" b="1" kern="0" spc="0" dirty="0">
                <a:solidFill>
                  <a:srgbClr val="19376D">
                    <a:alpha val="100000"/>
                  </a:srgbClr>
                </a:solidFill>
                <a:latin typeface="Tahoma"/>
                <a:ea typeface="Tahoma"/>
                <a:cs typeface="Tahoma"/>
              </a:rPr>
              <a:t>	</a:t>
            </a:r>
            <a:r>
              <a:rPr sz="1900" b="1" kern="0" spc="510" dirty="0">
                <a:solidFill>
                  <a:srgbClr val="19376D">
                    <a:alpha val="100000"/>
                  </a:srgbClr>
                </a:solidFill>
                <a:latin typeface="Tahoma"/>
                <a:ea typeface="Tahoma"/>
                <a:cs typeface="Tahoma"/>
              </a:rPr>
              <a:t> </a:t>
            </a:r>
            <a:r>
              <a:rPr sz="1900" b="1" kern="0" spc="-60" dirty="0">
                <a:solidFill>
                  <a:srgbClr val="19376D">
                    <a:alpha val="100000"/>
                  </a:srgbClr>
                </a:solidFill>
                <a:latin typeface="Tahoma"/>
                <a:ea typeface="Tahoma"/>
                <a:cs typeface="Tahoma"/>
              </a:rPr>
              <a:t>Holistic Directio</a:t>
            </a:r>
            <a:r>
              <a:rPr sz="1900" b="1" kern="0" spc="-70" dirty="0">
                <a:solidFill>
                  <a:srgbClr val="19376D">
                    <a:alpha val="100000"/>
                  </a:srgbClr>
                </a:solidFill>
                <a:latin typeface="Tahoma"/>
                <a:ea typeface="Tahoma"/>
                <a:cs typeface="Tahoma"/>
              </a:rPr>
              <a:t>n</a:t>
            </a:r>
            <a:endParaRPr sz="1900" dirty="0">
              <a:latin typeface="Tahoma"/>
              <a:ea typeface="Tahoma"/>
              <a:cs typeface="Tahoma"/>
            </a:endParaRPr>
          </a:p>
        </p:txBody>
      </p:sp>
      <p:pic>
        <p:nvPicPr>
          <p:cNvPr id="184" name="picture 184"/>
          <p:cNvPicPr>
            <a:picLocks noChangeAspect="1"/>
          </p:cNvPicPr>
          <p:nvPr/>
        </p:nvPicPr>
        <p:blipFill>
          <a:blip r:embed="rId8"/>
          <a:stretch>
            <a:fillRect/>
          </a:stretch>
        </p:blipFill>
        <p:spPr>
          <a:xfrm rot="21600000">
            <a:off x="876452" y="1580007"/>
            <a:ext cx="190195" cy="230885"/>
          </a:xfrm>
          <a:prstGeom prst="rect">
            <a:avLst/>
          </a:prstGeom>
        </p:spPr>
      </p:pic>
      <p:grpSp>
        <p:nvGrpSpPr>
          <p:cNvPr id="14" name="group 14"/>
          <p:cNvGrpSpPr/>
          <p:nvPr/>
        </p:nvGrpSpPr>
        <p:grpSpPr>
          <a:xfrm rot="21600000">
            <a:off x="1047750" y="2247900"/>
            <a:ext cx="419100" cy="419100"/>
            <a:chOff x="0" y="0"/>
            <a:chExt cx="419100" cy="419100"/>
          </a:xfrm>
        </p:grpSpPr>
        <p:pic>
          <p:nvPicPr>
            <p:cNvPr id="186" name="picture 186"/>
            <p:cNvPicPr>
              <a:picLocks noChangeAspect="1"/>
            </p:cNvPicPr>
            <p:nvPr/>
          </p:nvPicPr>
          <p:blipFill>
            <a:blip r:embed="rId9"/>
            <a:stretch>
              <a:fillRect/>
            </a:stretch>
          </p:blipFill>
          <p:spPr>
            <a:xfrm rot="21600000">
              <a:off x="0" y="0"/>
              <a:ext cx="419100" cy="419100"/>
            </a:xfrm>
            <a:prstGeom prst="rect">
              <a:avLst/>
            </a:prstGeom>
          </p:spPr>
        </p:pic>
        <p:sp>
          <p:nvSpPr>
            <p:cNvPr id="188" name="textbox 188"/>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36525" algn="l" rtl="0" eaLnBrk="0">
                <a:lnSpc>
                  <a:spcPct val="84000"/>
                </a:lnSpc>
                <a:spcBef>
                  <a:spcPts val="5"/>
                </a:spcBef>
                <a:tabLst>
                  <a:tab pos="307975"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190" name="picture 190"/>
            <p:cNvPicPr>
              <a:picLocks noChangeAspect="1"/>
            </p:cNvPicPr>
            <p:nvPr/>
          </p:nvPicPr>
          <p:blipFill>
            <a:blip r:embed="rId10"/>
            <a:stretch>
              <a:fillRect/>
            </a:stretch>
          </p:blipFill>
          <p:spPr>
            <a:xfrm rot="21600000">
              <a:off x="123825" y="94107"/>
              <a:ext cx="171450" cy="230885"/>
            </a:xfrm>
            <a:prstGeom prst="rect">
              <a:avLst/>
            </a:prstGeom>
          </p:spPr>
        </p:pic>
      </p:grpSp>
      <p:grpSp>
        <p:nvGrpSpPr>
          <p:cNvPr id="16" name="group 16"/>
          <p:cNvGrpSpPr/>
          <p:nvPr/>
        </p:nvGrpSpPr>
        <p:grpSpPr>
          <a:xfrm rot="21600000">
            <a:off x="1047750" y="3676650"/>
            <a:ext cx="419100" cy="419100"/>
            <a:chOff x="0" y="0"/>
            <a:chExt cx="419100" cy="419100"/>
          </a:xfrm>
        </p:grpSpPr>
        <p:pic>
          <p:nvPicPr>
            <p:cNvPr id="192" name="picture 192"/>
            <p:cNvPicPr>
              <a:picLocks noChangeAspect="1"/>
            </p:cNvPicPr>
            <p:nvPr/>
          </p:nvPicPr>
          <p:blipFill>
            <a:blip r:embed="rId11"/>
            <a:stretch>
              <a:fillRect/>
            </a:stretch>
          </p:blipFill>
          <p:spPr>
            <a:xfrm rot="21600000">
              <a:off x="0" y="0"/>
              <a:ext cx="419100" cy="419100"/>
            </a:xfrm>
            <a:prstGeom prst="rect">
              <a:avLst/>
            </a:prstGeom>
          </p:spPr>
        </p:pic>
        <p:sp>
          <p:nvSpPr>
            <p:cNvPr id="194" name="textbox 194"/>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27000" algn="l" rtl="0" eaLnBrk="0">
                <a:lnSpc>
                  <a:spcPct val="84000"/>
                </a:lnSpc>
                <a:spcBef>
                  <a:spcPts val="5"/>
                </a:spcBef>
                <a:tabLst>
                  <a:tab pos="316865"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196" name="picture 196"/>
            <p:cNvPicPr>
              <a:picLocks noChangeAspect="1"/>
            </p:cNvPicPr>
            <p:nvPr/>
          </p:nvPicPr>
          <p:blipFill>
            <a:blip r:embed="rId12"/>
            <a:stretch>
              <a:fillRect/>
            </a:stretch>
          </p:blipFill>
          <p:spPr>
            <a:xfrm rot="21600000">
              <a:off x="114452" y="94107"/>
              <a:ext cx="190195" cy="230885"/>
            </a:xfrm>
            <a:prstGeom prst="rect">
              <a:avLst/>
            </a:prstGeom>
          </p:spPr>
        </p:pic>
      </p:grpSp>
      <p:grpSp>
        <p:nvGrpSpPr>
          <p:cNvPr id="18" name="group 18"/>
          <p:cNvGrpSpPr/>
          <p:nvPr/>
        </p:nvGrpSpPr>
        <p:grpSpPr>
          <a:xfrm rot="21600000">
            <a:off x="1047750" y="5105400"/>
            <a:ext cx="419100" cy="419100"/>
            <a:chOff x="0" y="0"/>
            <a:chExt cx="419100" cy="419100"/>
          </a:xfrm>
        </p:grpSpPr>
        <p:pic>
          <p:nvPicPr>
            <p:cNvPr id="198" name="picture 198"/>
            <p:cNvPicPr>
              <a:picLocks noChangeAspect="1"/>
            </p:cNvPicPr>
            <p:nvPr/>
          </p:nvPicPr>
          <p:blipFill>
            <a:blip r:embed="rId11"/>
            <a:stretch>
              <a:fillRect/>
            </a:stretch>
          </p:blipFill>
          <p:spPr>
            <a:xfrm rot="21600000">
              <a:off x="0" y="0"/>
              <a:ext cx="419100" cy="419100"/>
            </a:xfrm>
            <a:prstGeom prst="rect">
              <a:avLst/>
            </a:prstGeom>
          </p:spPr>
        </p:pic>
        <p:sp>
          <p:nvSpPr>
            <p:cNvPr id="200" name="textbox 200"/>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45414" algn="l" rtl="0" eaLnBrk="0">
                <a:lnSpc>
                  <a:spcPct val="84000"/>
                </a:lnSpc>
                <a:spcBef>
                  <a:spcPts val="5"/>
                </a:spcBef>
                <a:tabLst>
                  <a:tab pos="298450"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202" name="picture 202"/>
            <p:cNvPicPr>
              <a:picLocks noChangeAspect="1"/>
            </p:cNvPicPr>
            <p:nvPr/>
          </p:nvPicPr>
          <p:blipFill>
            <a:blip r:embed="rId13"/>
            <a:stretch>
              <a:fillRect/>
            </a:stretch>
          </p:blipFill>
          <p:spPr>
            <a:xfrm rot="21600000">
              <a:off x="133197" y="94107"/>
              <a:ext cx="152704" cy="230885"/>
            </a:xfrm>
            <a:prstGeom prst="rect">
              <a:avLst/>
            </a:prstGeom>
          </p:spPr>
        </p:pic>
      </p:grpSp>
      <p:pic>
        <p:nvPicPr>
          <p:cNvPr id="204" name="picture 204"/>
          <p:cNvPicPr>
            <a:picLocks noChangeAspect="1"/>
          </p:cNvPicPr>
          <p:nvPr/>
        </p:nvPicPr>
        <p:blipFill>
          <a:blip r:embed="rId14"/>
          <a:stretch>
            <a:fillRect/>
          </a:stretch>
        </p:blipFill>
        <p:spPr>
          <a:xfrm rot="21600000">
            <a:off x="6086475" y="1524000"/>
            <a:ext cx="19050" cy="5334000"/>
          </a:xfrm>
          <a:prstGeom prst="rect">
            <a:avLst/>
          </a:prstGeom>
        </p:spPr>
      </p:pic>
      <p:pic>
        <p:nvPicPr>
          <p:cNvPr id="206" name="picture 206"/>
          <p:cNvPicPr>
            <a:picLocks noChangeAspect="1"/>
          </p:cNvPicPr>
          <p:nvPr/>
        </p:nvPicPr>
        <p:blipFill>
          <a:blip r:embed="rId15"/>
          <a:stretch>
            <a:fillRect/>
          </a:stretch>
        </p:blipFill>
        <p:spPr>
          <a:xfrm rot="21600000">
            <a:off x="6486525" y="5772150"/>
            <a:ext cx="38100" cy="8572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76">
            <a:extLst>
              <a:ext uri="{FF2B5EF4-FFF2-40B4-BE49-F238E27FC236}">
                <a16:creationId xmlns:a16="http://schemas.microsoft.com/office/drawing/2014/main" id="{8BE1AEDB-FBF0-1B54-B77C-FE262F4122EF}"/>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8082F4D1-B206-AE38-446A-099DCFEC9584}"/>
              </a:ext>
            </a:extLst>
          </p:cNvPr>
          <p:cNvSpPr txBox="1"/>
          <p:nvPr/>
        </p:nvSpPr>
        <p:spPr>
          <a:xfrm>
            <a:off x="105833" y="1274233"/>
            <a:ext cx="11954934" cy="5355312"/>
          </a:xfrm>
          <a:prstGeom prst="rect">
            <a:avLst/>
          </a:prstGeom>
          <a:noFill/>
        </p:spPr>
        <p:txBody>
          <a:bodyPr wrap="square" rtlCol="0">
            <a:spAutoFit/>
          </a:bodyPr>
          <a:lstStyle/>
          <a:p>
            <a:r>
              <a:rPr lang="en-US" dirty="0"/>
              <a:t>There is not a section in this presentation that I do not think is important, however I will admit that I may not be the most knowledgeable when it comes to health and wellness. This means I am hesitant to speak too much on how Vonguul will manage this sector in detail, but I will explain the approach Vonguul has decided to take from the onset. We can all hail holistic approaches to medicine as some sort of Holy Grail, but we also cannot deny the effectiveness of invasive procedures in modern medical practices.</a:t>
            </a:r>
          </a:p>
          <a:p>
            <a:endParaRPr lang="en-US" dirty="0"/>
          </a:p>
          <a:p>
            <a:r>
              <a:rPr lang="en-US" dirty="0"/>
              <a:t>Currently, Vonguul is not against invasive procedures, however we are also not avid supporters of those procedures either. If we can resolve the issue without those procedures and the efficacy is on par with modern medical approaches, I would think the non-invasive method is more suitable. To attempt to prove these kinds of claims would acquiesce to human testing with the potential to end countless lives, and that is something we shouldn’t be willing to do. So instead, we focus on what we know to be accurate, but we don’t ignore things that show promise. </a:t>
            </a:r>
          </a:p>
          <a:p>
            <a:endParaRPr lang="en-US" dirty="0"/>
          </a:p>
          <a:p>
            <a:r>
              <a:rPr lang="en-US" dirty="0"/>
              <a:t>What this means for the Health Sector of Vonguul is that we first focus on consumption and behaviors associated with a healthy lifestyle. By healthy, we mean a mind and body in alignment with the concept of health. This looks like unmodified raw food being produced for our members to consume, and exercise initiatives designed to promote healthy physical forms. This can formulate into large agricultural farms, which requires land, knowledge, and creativity to meet our needs. An exercise initiative can look be outlets for dancing, obstacle courses, athletic competitions, or outdoor events.  Exercise doesn’t have to be boring, but it does need to cater to as many individuals as possible.</a:t>
            </a:r>
          </a:p>
        </p:txBody>
      </p:sp>
    </p:spTree>
    <p:extLst>
      <p:ext uri="{BB962C8B-B14F-4D97-AF65-F5344CB8AC3E}">
        <p14:creationId xmlns:p14="http://schemas.microsoft.com/office/powerpoint/2010/main" val="1932122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D4DF3-5D76-255A-6E66-1F37A85FBCC7}"/>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88D1EDFB-991A-D799-309E-7DF9A3D7AED3}"/>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F8F52600-F648-0F83-FBD9-99DECC374AAA}"/>
              </a:ext>
            </a:extLst>
          </p:cNvPr>
          <p:cNvSpPr txBox="1"/>
          <p:nvPr/>
        </p:nvSpPr>
        <p:spPr>
          <a:xfrm>
            <a:off x="105833" y="1274233"/>
            <a:ext cx="11954934" cy="646331"/>
          </a:xfrm>
          <a:prstGeom prst="rect">
            <a:avLst/>
          </a:prstGeom>
          <a:noFill/>
        </p:spPr>
        <p:txBody>
          <a:bodyPr wrap="square" rtlCol="0">
            <a:spAutoFit/>
          </a:bodyPr>
          <a:lstStyle/>
          <a:p>
            <a:r>
              <a:rPr lang="en-US" dirty="0"/>
              <a:t>Let’s surmise it to say we keep our options open if the result is thriving life. There were a few points that were mentioned so let’s discuss what we do know.</a:t>
            </a:r>
          </a:p>
        </p:txBody>
      </p:sp>
      <p:sp>
        <p:nvSpPr>
          <p:cNvPr id="5" name="TextBox 4">
            <a:extLst>
              <a:ext uri="{FF2B5EF4-FFF2-40B4-BE49-F238E27FC236}">
                <a16:creationId xmlns:a16="http://schemas.microsoft.com/office/drawing/2014/main" id="{8671C06E-1529-98E6-10FC-8E5704C87D9E}"/>
              </a:ext>
            </a:extLst>
          </p:cNvPr>
          <p:cNvSpPr txBox="1"/>
          <p:nvPr/>
        </p:nvSpPr>
        <p:spPr>
          <a:xfrm>
            <a:off x="232834" y="1951567"/>
            <a:ext cx="4318000" cy="4801314"/>
          </a:xfrm>
          <a:prstGeom prst="rect">
            <a:avLst/>
          </a:prstGeom>
          <a:noFill/>
        </p:spPr>
        <p:txBody>
          <a:bodyPr wrap="square" rtlCol="0">
            <a:spAutoFit/>
          </a:bodyPr>
          <a:lstStyle/>
          <a:p>
            <a:r>
              <a:rPr lang="en-US" b="1" u="sng" dirty="0"/>
              <a:t>Food</a:t>
            </a:r>
          </a:p>
          <a:p>
            <a:pPr marL="285750" indent="-285750">
              <a:buFont typeface="Arial" panose="020B0604020202020204" pitchFamily="34" charset="0"/>
              <a:buChar char="•"/>
            </a:pPr>
            <a:r>
              <a:rPr lang="en-US" dirty="0"/>
              <a:t>Vegetation Realm</a:t>
            </a:r>
          </a:p>
          <a:p>
            <a:pPr marL="742950" lvl="1" indent="-285750">
              <a:buFont typeface="Arial" panose="020B0604020202020204" pitchFamily="34" charset="0"/>
              <a:buChar char="•"/>
            </a:pPr>
            <a:r>
              <a:rPr lang="en-US" dirty="0"/>
              <a:t>Vegetables</a:t>
            </a:r>
          </a:p>
          <a:p>
            <a:pPr marL="742950" lvl="1" indent="-285750">
              <a:buFont typeface="Arial" panose="020B0604020202020204" pitchFamily="34" charset="0"/>
              <a:buChar char="•"/>
            </a:pPr>
            <a:r>
              <a:rPr lang="en-US" dirty="0"/>
              <a:t>Fruits</a:t>
            </a:r>
          </a:p>
          <a:p>
            <a:pPr marL="742950" lvl="1" indent="-285750">
              <a:buFont typeface="Arial" panose="020B0604020202020204" pitchFamily="34" charset="0"/>
              <a:buChar char="•"/>
            </a:pPr>
            <a:r>
              <a:rPr lang="en-US" dirty="0"/>
              <a:t>Nuts</a:t>
            </a:r>
          </a:p>
          <a:p>
            <a:pPr marL="742950" lvl="1" indent="-285750">
              <a:buFont typeface="Arial" panose="020B0604020202020204" pitchFamily="34" charset="0"/>
              <a:buChar char="•"/>
            </a:pPr>
            <a:r>
              <a:rPr lang="en-US" dirty="0"/>
              <a:t>Roots</a:t>
            </a:r>
          </a:p>
          <a:p>
            <a:pPr marL="742950" lvl="1" indent="-285750">
              <a:buFont typeface="Arial" panose="020B0604020202020204" pitchFamily="34" charset="0"/>
              <a:buChar char="•"/>
            </a:pPr>
            <a:r>
              <a:rPr lang="en-US" dirty="0"/>
              <a:t>Herbs</a:t>
            </a:r>
          </a:p>
          <a:p>
            <a:pPr marL="285750" indent="-285750">
              <a:buFont typeface="Arial" panose="020B0604020202020204" pitchFamily="34" charset="0"/>
              <a:buChar char="•"/>
            </a:pPr>
            <a:r>
              <a:rPr lang="en-US" dirty="0"/>
              <a:t>Animal Realm</a:t>
            </a:r>
          </a:p>
          <a:p>
            <a:pPr marL="742950" lvl="1" indent="-285750">
              <a:buFont typeface="Arial" panose="020B0604020202020204" pitchFamily="34" charset="0"/>
              <a:buChar char="•"/>
            </a:pPr>
            <a:r>
              <a:rPr lang="en-US" dirty="0"/>
              <a:t>Meat</a:t>
            </a:r>
          </a:p>
          <a:p>
            <a:pPr marL="742950" lvl="1" indent="-285750">
              <a:buFont typeface="Arial" panose="020B0604020202020204" pitchFamily="34" charset="0"/>
              <a:buChar char="•"/>
            </a:pPr>
            <a:r>
              <a:rPr lang="en-US" dirty="0"/>
              <a:t>Fish</a:t>
            </a:r>
          </a:p>
          <a:p>
            <a:pPr marL="742950" lvl="1" indent="-285750">
              <a:buFont typeface="Arial" panose="020B0604020202020204" pitchFamily="34" charset="0"/>
              <a:buChar char="•"/>
            </a:pPr>
            <a:r>
              <a:rPr lang="en-US" dirty="0"/>
              <a:t>Byproduct (Honey, Milk, Eggs, </a:t>
            </a:r>
            <a:r>
              <a:rPr lang="en-US" dirty="0" err="1"/>
              <a:t>etc</a:t>
            </a:r>
            <a:r>
              <a:rPr lang="en-US" dirty="0"/>
              <a:t>)</a:t>
            </a:r>
          </a:p>
          <a:p>
            <a:pPr marL="285750" indent="-285750">
              <a:buFont typeface="Arial" panose="020B0604020202020204" pitchFamily="34" charset="0"/>
              <a:buChar char="•"/>
            </a:pPr>
            <a:r>
              <a:rPr lang="en-US" dirty="0"/>
              <a:t>Mineral &amp; Metal Realms</a:t>
            </a:r>
          </a:p>
          <a:p>
            <a:pPr marL="742950" lvl="1" indent="-285750">
              <a:buFont typeface="Arial" panose="020B0604020202020204" pitchFamily="34" charset="0"/>
              <a:buChar char="•"/>
            </a:pPr>
            <a:r>
              <a:rPr lang="en-US" dirty="0"/>
              <a:t>Some Spices (e.g. salt)</a:t>
            </a:r>
          </a:p>
          <a:p>
            <a:pPr marL="742950" lvl="1" indent="-285750">
              <a:buFont typeface="Arial" panose="020B0604020202020204" pitchFamily="34" charset="0"/>
              <a:buChar char="•"/>
            </a:pPr>
            <a:r>
              <a:rPr lang="en-US" dirty="0"/>
              <a:t>Iron</a:t>
            </a:r>
          </a:p>
          <a:p>
            <a:pPr marL="742950" lvl="1" indent="-285750">
              <a:buFont typeface="Arial" panose="020B0604020202020204" pitchFamily="34" charset="0"/>
              <a:buChar char="•"/>
            </a:pPr>
            <a:r>
              <a:rPr lang="en-US" dirty="0"/>
              <a:t>Copper</a:t>
            </a:r>
          </a:p>
          <a:p>
            <a:endParaRPr lang="en-US" dirty="0"/>
          </a:p>
        </p:txBody>
      </p:sp>
      <p:sp>
        <p:nvSpPr>
          <p:cNvPr id="6" name="TextBox 5">
            <a:extLst>
              <a:ext uri="{FF2B5EF4-FFF2-40B4-BE49-F238E27FC236}">
                <a16:creationId xmlns:a16="http://schemas.microsoft.com/office/drawing/2014/main" id="{9ED6D060-8F40-C3EE-519B-2C35E896CCE6}"/>
              </a:ext>
            </a:extLst>
          </p:cNvPr>
          <p:cNvSpPr txBox="1"/>
          <p:nvPr/>
        </p:nvSpPr>
        <p:spPr>
          <a:xfrm>
            <a:off x="5240867" y="1951567"/>
            <a:ext cx="4318000" cy="2585323"/>
          </a:xfrm>
          <a:prstGeom prst="rect">
            <a:avLst/>
          </a:prstGeom>
          <a:noFill/>
        </p:spPr>
        <p:txBody>
          <a:bodyPr wrap="square" rtlCol="0">
            <a:spAutoFit/>
          </a:bodyPr>
          <a:lstStyle/>
          <a:p>
            <a:r>
              <a:rPr lang="en-US" b="1" u="sng" dirty="0"/>
              <a:t>Problems</a:t>
            </a:r>
          </a:p>
          <a:p>
            <a:pPr marL="285750" indent="-285750">
              <a:buFont typeface="Arial" panose="020B0604020202020204" pitchFamily="34" charset="0"/>
              <a:buChar char="•"/>
            </a:pPr>
            <a:r>
              <a:rPr lang="en-US" dirty="0"/>
              <a:t>Vegetation Realm</a:t>
            </a:r>
          </a:p>
          <a:p>
            <a:pPr marL="742950" lvl="1" indent="-285750">
              <a:buFont typeface="Arial" panose="020B0604020202020204" pitchFamily="34" charset="0"/>
              <a:buChar char="•"/>
            </a:pPr>
            <a:r>
              <a:rPr lang="en-US" dirty="0"/>
              <a:t>Genetically Modified to Poison</a:t>
            </a:r>
          </a:p>
          <a:p>
            <a:pPr marL="742950" lvl="1" indent="-285750">
              <a:buFont typeface="Arial" panose="020B0604020202020204" pitchFamily="34" charset="0"/>
              <a:buChar char="•"/>
            </a:pPr>
            <a:r>
              <a:rPr lang="en-US" dirty="0"/>
              <a:t>Controlled group of availability</a:t>
            </a:r>
          </a:p>
          <a:p>
            <a:pPr marL="285750" indent="-285750">
              <a:buFont typeface="Arial" panose="020B0604020202020204" pitchFamily="34" charset="0"/>
              <a:buChar char="•"/>
            </a:pPr>
            <a:r>
              <a:rPr lang="en-US" dirty="0"/>
              <a:t>Animal Realm</a:t>
            </a:r>
          </a:p>
          <a:p>
            <a:pPr marL="742950" lvl="1" indent="-285750">
              <a:buFont typeface="Arial" panose="020B0604020202020204" pitchFamily="34" charset="0"/>
              <a:buChar char="•"/>
            </a:pPr>
            <a:r>
              <a:rPr lang="en-US" dirty="0"/>
              <a:t>Genetically Modified to Poison</a:t>
            </a:r>
          </a:p>
          <a:p>
            <a:pPr marL="285750" indent="-285750">
              <a:buFont typeface="Arial" panose="020B0604020202020204" pitchFamily="34" charset="0"/>
              <a:buChar char="•"/>
            </a:pPr>
            <a:r>
              <a:rPr lang="en-US" dirty="0"/>
              <a:t>Mineral &amp; Metal Realms</a:t>
            </a:r>
          </a:p>
          <a:p>
            <a:pPr marL="742950" lvl="1" indent="-285750">
              <a:buFont typeface="Arial" panose="020B0604020202020204" pitchFamily="34" charset="0"/>
              <a:buChar char="•"/>
            </a:pPr>
            <a:r>
              <a:rPr lang="en-US" dirty="0"/>
              <a:t>Mostly derived from other realms</a:t>
            </a:r>
          </a:p>
          <a:p>
            <a:endParaRPr lang="en-US" dirty="0"/>
          </a:p>
        </p:txBody>
      </p:sp>
      <p:sp>
        <p:nvSpPr>
          <p:cNvPr id="7" name="TextBox 6">
            <a:extLst>
              <a:ext uri="{FF2B5EF4-FFF2-40B4-BE49-F238E27FC236}">
                <a16:creationId xmlns:a16="http://schemas.microsoft.com/office/drawing/2014/main" id="{7F672FD6-349D-32C1-EE46-F7976F596358}"/>
              </a:ext>
            </a:extLst>
          </p:cNvPr>
          <p:cNvSpPr txBox="1"/>
          <p:nvPr/>
        </p:nvSpPr>
        <p:spPr>
          <a:xfrm>
            <a:off x="5240867" y="4352224"/>
            <a:ext cx="6434666" cy="2308324"/>
          </a:xfrm>
          <a:prstGeom prst="rect">
            <a:avLst/>
          </a:prstGeom>
          <a:noFill/>
        </p:spPr>
        <p:txBody>
          <a:bodyPr wrap="square" rtlCol="0">
            <a:spAutoFit/>
          </a:bodyPr>
          <a:lstStyle/>
          <a:p>
            <a:r>
              <a:rPr lang="en-US" b="1" u="sng" dirty="0"/>
              <a:t>Notes</a:t>
            </a:r>
          </a:p>
          <a:p>
            <a:r>
              <a:rPr lang="en-US" dirty="0"/>
              <a:t>There is an abundance of edible vegetation that humanity does not consume due to consumerism. It wouldn’t be economically sound to provide a large variety of Vegetation options to the masses. The animal realm is also a controlled group of availability but many would disagree with increasing the pool of consumption of flesh. Some argue that we are being fed human meat as an option without our knowledge.</a:t>
            </a:r>
          </a:p>
        </p:txBody>
      </p:sp>
    </p:spTree>
    <p:extLst>
      <p:ext uri="{BB962C8B-B14F-4D97-AF65-F5344CB8AC3E}">
        <p14:creationId xmlns:p14="http://schemas.microsoft.com/office/powerpoint/2010/main" val="1329567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FAA3E-68DA-65B2-58B3-8B829D395E68}"/>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5D6850FB-1589-F0AC-9B1A-C799AA602828}"/>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C296A49E-BC9D-01A6-3809-900BF5291283}"/>
              </a:ext>
            </a:extLst>
          </p:cNvPr>
          <p:cNvSpPr txBox="1"/>
          <p:nvPr/>
        </p:nvSpPr>
        <p:spPr>
          <a:xfrm>
            <a:off x="76200" y="1143000"/>
            <a:ext cx="11954934" cy="4801314"/>
          </a:xfrm>
          <a:prstGeom prst="rect">
            <a:avLst/>
          </a:prstGeom>
          <a:noFill/>
        </p:spPr>
        <p:txBody>
          <a:bodyPr wrap="square" rtlCol="0">
            <a:spAutoFit/>
          </a:bodyPr>
          <a:lstStyle/>
          <a:p>
            <a:r>
              <a:rPr lang="en-US" b="1" u="sng" dirty="0"/>
              <a:t>Potential Solutions</a:t>
            </a:r>
          </a:p>
          <a:p>
            <a:pPr marL="285750" indent="-285750">
              <a:buFont typeface="Arial" panose="020B0604020202020204" pitchFamily="34" charset="0"/>
              <a:buChar char="•"/>
            </a:pPr>
            <a:r>
              <a:rPr lang="en-US" dirty="0"/>
              <a:t>Terrarium Grocery Store</a:t>
            </a:r>
          </a:p>
          <a:p>
            <a:pPr marL="742950" lvl="1" indent="-285750">
              <a:buFont typeface="Arial" panose="020B0604020202020204" pitchFamily="34" charset="0"/>
              <a:buChar char="•"/>
            </a:pPr>
            <a:r>
              <a:rPr lang="en-US" dirty="0"/>
              <a:t>This would be a facility that is designed to operate as a terrarium simulating natural environments safely, while also acting as a grocery store to be harvested by patrons.</a:t>
            </a:r>
          </a:p>
          <a:p>
            <a:pPr marL="742950" lvl="1" indent="-285750">
              <a:buFont typeface="Arial" panose="020B0604020202020204" pitchFamily="34" charset="0"/>
              <a:buChar char="•"/>
            </a:pPr>
            <a:r>
              <a:rPr lang="en-US" dirty="0"/>
              <a:t>Main problem with this idea would be the scale</a:t>
            </a:r>
          </a:p>
          <a:p>
            <a:pPr marL="742950" lvl="1" indent="-285750">
              <a:buFont typeface="Arial" panose="020B0604020202020204" pitchFamily="34" charset="0"/>
              <a:buChar char="•"/>
            </a:pPr>
            <a:r>
              <a:rPr lang="en-US" dirty="0"/>
              <a:t>Current options are in-home smart gardens</a:t>
            </a:r>
          </a:p>
          <a:p>
            <a:pPr marL="285750" indent="-285750">
              <a:buFont typeface="Arial" panose="020B0604020202020204" pitchFamily="34" charset="0"/>
              <a:buChar char="•"/>
            </a:pPr>
            <a:r>
              <a:rPr lang="en-US" dirty="0"/>
              <a:t>Outdoor Hub</a:t>
            </a:r>
          </a:p>
          <a:p>
            <a:pPr marL="742950" lvl="1" indent="-285750">
              <a:buFont typeface="Arial" panose="020B0604020202020204" pitchFamily="34" charset="0"/>
              <a:buChar char="•"/>
            </a:pPr>
            <a:r>
              <a:rPr lang="en-US" dirty="0"/>
              <a:t>This is an optional idea, like the terrarium but with animals</a:t>
            </a:r>
          </a:p>
          <a:p>
            <a:pPr marL="742950" lvl="1" indent="-285750">
              <a:buFont typeface="Arial" panose="020B0604020202020204" pitchFamily="34" charset="0"/>
              <a:buChar char="•"/>
            </a:pPr>
            <a:r>
              <a:rPr lang="en-US" dirty="0"/>
              <a:t>Scale is a problem, but also humanitarian efforts would frown on this idea</a:t>
            </a:r>
          </a:p>
          <a:p>
            <a:pPr marL="742950" lvl="1" indent="-285750">
              <a:buFont typeface="Arial" panose="020B0604020202020204" pitchFamily="34" charset="0"/>
              <a:buChar char="•"/>
            </a:pPr>
            <a:r>
              <a:rPr lang="en-US" dirty="0"/>
              <a:t>I think it is a good idea because it is important to know how our bellies are filled</a:t>
            </a:r>
          </a:p>
          <a:p>
            <a:pPr marL="742950" lvl="1" indent="-285750">
              <a:buFont typeface="Arial" panose="020B0604020202020204" pitchFamily="34" charset="0"/>
              <a:buChar char="•"/>
            </a:pPr>
            <a:r>
              <a:rPr lang="en-US" dirty="0"/>
              <a:t>Alternatively, this could be a natural breeding facility to encourage natural pasture raising</a:t>
            </a:r>
          </a:p>
          <a:p>
            <a:pPr marL="285750" indent="-285750">
              <a:buFont typeface="Arial" panose="020B0604020202020204" pitchFamily="34" charset="0"/>
              <a:buChar char="•"/>
            </a:pPr>
            <a:r>
              <a:rPr lang="en-US" dirty="0"/>
              <a:t>Holistic Biology</a:t>
            </a:r>
          </a:p>
          <a:p>
            <a:pPr marL="742950" lvl="1" indent="-285750">
              <a:buFont typeface="Arial" panose="020B0604020202020204" pitchFamily="34" charset="0"/>
              <a:buChar char="•"/>
            </a:pPr>
            <a:r>
              <a:rPr lang="en-US" dirty="0"/>
              <a:t>I know many would frown upon this idea, but science has shown support for certain holistic approaches, not to say we use only science to make decisions, it is just a place things are tested a lot for an answer</a:t>
            </a:r>
          </a:p>
          <a:p>
            <a:pPr marL="742950" lvl="1" indent="-285750">
              <a:buFont typeface="Arial" panose="020B0604020202020204" pitchFamily="34" charset="0"/>
              <a:buChar char="•"/>
            </a:pPr>
            <a:r>
              <a:rPr lang="en-US" dirty="0"/>
              <a:t>The Tantric Chakra System has been given enough recognition to be included in an approach to health</a:t>
            </a:r>
          </a:p>
          <a:p>
            <a:pPr marL="742950" lvl="1" indent="-285750">
              <a:buFont typeface="Arial" panose="020B0604020202020204" pitchFamily="34" charset="0"/>
              <a:buChar char="•"/>
            </a:pPr>
            <a:r>
              <a:rPr lang="en-US" dirty="0"/>
              <a:t>The Human Design System though it derives from Tantric Chakra System ideology, it also adds its own twist to original concepts</a:t>
            </a:r>
          </a:p>
        </p:txBody>
      </p:sp>
      <p:sp>
        <p:nvSpPr>
          <p:cNvPr id="5" name="TextBox 4">
            <a:extLst>
              <a:ext uri="{FF2B5EF4-FFF2-40B4-BE49-F238E27FC236}">
                <a16:creationId xmlns:a16="http://schemas.microsoft.com/office/drawing/2014/main" id="{4F956682-5EF5-1C89-F985-BF23C23CA2D4}"/>
              </a:ext>
            </a:extLst>
          </p:cNvPr>
          <p:cNvSpPr txBox="1"/>
          <p:nvPr/>
        </p:nvSpPr>
        <p:spPr>
          <a:xfrm>
            <a:off x="76200" y="5944313"/>
            <a:ext cx="11612033" cy="646331"/>
          </a:xfrm>
          <a:prstGeom prst="rect">
            <a:avLst/>
          </a:prstGeom>
          <a:noFill/>
        </p:spPr>
        <p:txBody>
          <a:bodyPr wrap="square" rtlCol="0">
            <a:spAutoFit/>
          </a:bodyPr>
          <a:lstStyle/>
          <a:p>
            <a:r>
              <a:rPr lang="en-US" dirty="0"/>
              <a:t>This is also only accounts for physical consumption; a complete health approach should factor in mental consumption habits as well.</a:t>
            </a:r>
          </a:p>
        </p:txBody>
      </p:sp>
    </p:spTree>
    <p:extLst>
      <p:ext uri="{BB962C8B-B14F-4D97-AF65-F5344CB8AC3E}">
        <p14:creationId xmlns:p14="http://schemas.microsoft.com/office/powerpoint/2010/main" val="1048827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0A68C-AED0-33BE-60E0-B8B04C584942}"/>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728E2B58-863D-83FB-F619-CDC8D3ED9DB5}"/>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1CAB0531-2C3B-EC4A-DFA4-2AC38F1F5298}"/>
              </a:ext>
            </a:extLst>
          </p:cNvPr>
          <p:cNvSpPr txBox="1"/>
          <p:nvPr/>
        </p:nvSpPr>
        <p:spPr>
          <a:xfrm>
            <a:off x="88900" y="1401234"/>
            <a:ext cx="11954934" cy="5078313"/>
          </a:xfrm>
          <a:prstGeom prst="rect">
            <a:avLst/>
          </a:prstGeom>
          <a:noFill/>
        </p:spPr>
        <p:txBody>
          <a:bodyPr wrap="square" rtlCol="0">
            <a:spAutoFit/>
          </a:bodyPr>
          <a:lstStyle/>
          <a:p>
            <a:r>
              <a:rPr lang="en-US" dirty="0"/>
              <a:t>For some, visualizing consumption from a mental perspective can be simple. You could be familiar with the phrase “consuming media”. What you watch, what you listen to, what you read, what you believe, what you doubt, how you view your experience are all related to your mental health. This is the psychology behind our physical actions, the reason why we end up doing the things we do.</a:t>
            </a:r>
          </a:p>
          <a:p>
            <a:endParaRPr lang="en-US" dirty="0"/>
          </a:p>
          <a:p>
            <a:r>
              <a:rPr lang="en-US" dirty="0"/>
              <a:t>I have come across a mindset referred to as the hermetic principles, and one of those principles is the principle of cause and effect. This is nearly synonymous with the scientific concept of causality, the relationship between cause and effect, the assertion that every effect has a cause. This is important to understand because when we take a step back from the moment, we can infer an array of possibilities, if we have enough data. Understandings beyond what we currently understand, can look like magic to those who can’t fathom what we’re capable of.</a:t>
            </a:r>
          </a:p>
          <a:p>
            <a:endParaRPr lang="en-US" dirty="0"/>
          </a:p>
          <a:p>
            <a:r>
              <a:rPr lang="en-US" dirty="0"/>
              <a:t>I could have decided to discuss psychology on this slide, but psychology alone isn’t going to be enough to fully express what needs to be said. We’re all, natural scientist trying to make sense of the world around us. We have all done our fair share of experiments, attempting to uncover some elusive secret. In my experience, we’re never too far off from the truth, we just don’t have that little bit of confirmation needed to fully indulge that truth, but if we do get that little bit of confirmation, we become unstoppable. What’s even more fascinating is that sometimes we’re right even when we’re wrong. Take a placebo for example, it’s just a water pill, but you believe it is the cure and somehow it becomes the cure. Belief is a hell of a drug.</a:t>
            </a:r>
          </a:p>
        </p:txBody>
      </p:sp>
    </p:spTree>
    <p:extLst>
      <p:ext uri="{BB962C8B-B14F-4D97-AF65-F5344CB8AC3E}">
        <p14:creationId xmlns:p14="http://schemas.microsoft.com/office/powerpoint/2010/main" val="3887879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D8BC7-4FD1-3427-AE49-1BFBC36D5323}"/>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1921ECAE-20E6-EE2A-069B-AF5F2EA00F1D}"/>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ED8435A0-B3B5-2B4B-D5FF-C3A1936E1EF9}"/>
              </a:ext>
            </a:extLst>
          </p:cNvPr>
          <p:cNvSpPr txBox="1"/>
          <p:nvPr/>
        </p:nvSpPr>
        <p:spPr>
          <a:xfrm>
            <a:off x="88900" y="1248834"/>
            <a:ext cx="11954934" cy="5355312"/>
          </a:xfrm>
          <a:prstGeom prst="rect">
            <a:avLst/>
          </a:prstGeom>
          <a:noFill/>
        </p:spPr>
        <p:txBody>
          <a:bodyPr wrap="square" rtlCol="0">
            <a:spAutoFit/>
          </a:bodyPr>
          <a:lstStyle/>
          <a:p>
            <a:r>
              <a:rPr lang="en-US" dirty="0"/>
              <a:t>I’ve said all of this to say. We are clearly more than what we were taught we were. Maybe those who taught us, didn’t know themselves, but either way, it is worth finding out. So yes, we may indulge in scientifically accepted practices for many things, but we may also entertain ideas that many would argue are works of fiction. </a:t>
            </a:r>
          </a:p>
          <a:p>
            <a:endParaRPr lang="en-US" dirty="0"/>
          </a:p>
          <a:p>
            <a:r>
              <a:rPr lang="en-US" dirty="0"/>
              <a:t>How would you argue the efficacy of a placebo pill when it works? I think it is more important for us to figure out why it works, and if it is possible to harness whatever it was that healed the ailments of the body. Some may argue that the methods we promote are like the concept of “God of the gaps” in the sense that there isn’t a scientific way to explain or dissect what is happening.</a:t>
            </a:r>
          </a:p>
          <a:p>
            <a:endParaRPr lang="en-US" dirty="0"/>
          </a:p>
          <a:p>
            <a:r>
              <a:rPr lang="en-US" dirty="0"/>
              <a:t>To use an example that is present today, we can look at the Tantric Chakra System. The Tantric Chakra System isn’t completely supported or disproven by science. It is understood that we won’t be able to open a human and find a physical chakra center, but what we will find is that wherever it is believed a chakra center is located there is an equally important Endocrine Gland that can be found in the same location. Ailments have been found to have correlations to the imbalances in these centers, and the methods promoted via the Tantric System are also known to resolve the related issues. Whether that is a placebo or not, it is working and once again, that is worth investigating.</a:t>
            </a:r>
          </a:p>
          <a:p>
            <a:endParaRPr lang="en-US" dirty="0"/>
          </a:p>
          <a:p>
            <a:r>
              <a:rPr lang="en-US" dirty="0"/>
              <a:t>To build a medical foundation from scratch is definitely a challenging goal to achieve, but we have clear hints to the directions we are likely to find success in if tested. Astrology, another pseudo-science that is hard to outright disprove, has traces of uniformity and science helps us to know what we are looking for to serve as proof of concept.</a:t>
            </a:r>
          </a:p>
        </p:txBody>
      </p:sp>
    </p:spTree>
    <p:extLst>
      <p:ext uri="{BB962C8B-B14F-4D97-AF65-F5344CB8AC3E}">
        <p14:creationId xmlns:p14="http://schemas.microsoft.com/office/powerpoint/2010/main" val="1174987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0E8C3-D30E-FBF0-E034-3A16B92E7704}"/>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EBED0364-7EEF-195E-4C95-FBC48C5B8CF2}"/>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15899F35-6D76-0321-84A9-B4EE669FA488}"/>
              </a:ext>
            </a:extLst>
          </p:cNvPr>
          <p:cNvSpPr txBox="1"/>
          <p:nvPr/>
        </p:nvSpPr>
        <p:spPr>
          <a:xfrm>
            <a:off x="88900" y="1248834"/>
            <a:ext cx="3378200" cy="369332"/>
          </a:xfrm>
          <a:prstGeom prst="rect">
            <a:avLst/>
          </a:prstGeom>
          <a:noFill/>
        </p:spPr>
        <p:txBody>
          <a:bodyPr wrap="square" rtlCol="0">
            <a:spAutoFit/>
          </a:bodyPr>
          <a:lstStyle/>
          <a:p>
            <a:r>
              <a:rPr lang="en-US" dirty="0"/>
              <a:t>Let’s visualize some examples:</a:t>
            </a:r>
          </a:p>
        </p:txBody>
      </p:sp>
      <p:pic>
        <p:nvPicPr>
          <p:cNvPr id="5" name="Picture 4" descr="A person with seven chakras&#10;&#10;AI-generated content may be incorrect.">
            <a:extLst>
              <a:ext uri="{FF2B5EF4-FFF2-40B4-BE49-F238E27FC236}">
                <a16:creationId xmlns:a16="http://schemas.microsoft.com/office/drawing/2014/main" id="{9697C15B-919B-AB30-7248-28CC51E63B3D}"/>
              </a:ext>
            </a:extLst>
          </p:cNvPr>
          <p:cNvPicPr>
            <a:picLocks noChangeAspect="1"/>
          </p:cNvPicPr>
          <p:nvPr/>
        </p:nvPicPr>
        <p:blipFill>
          <a:blip r:embed="rId2">
            <a:extLst>
              <a:ext uri="{28A0092B-C50C-407E-A947-70E740481C1C}">
                <a14:useLocalDpi xmlns:a14="http://schemas.microsoft.com/office/drawing/2010/main" val="0"/>
              </a:ext>
            </a:extLst>
          </a:blip>
          <a:srcRect l="16802" r="16817" b="25250"/>
          <a:stretch>
            <a:fillRect/>
          </a:stretch>
        </p:blipFill>
        <p:spPr>
          <a:xfrm>
            <a:off x="5036306" y="1364493"/>
            <a:ext cx="6827204" cy="5126325"/>
          </a:xfrm>
          <a:prstGeom prst="rect">
            <a:avLst/>
          </a:prstGeom>
        </p:spPr>
      </p:pic>
      <p:graphicFrame>
        <p:nvGraphicFramePr>
          <p:cNvPr id="6" name="Table 5">
            <a:extLst>
              <a:ext uri="{FF2B5EF4-FFF2-40B4-BE49-F238E27FC236}">
                <a16:creationId xmlns:a16="http://schemas.microsoft.com/office/drawing/2014/main" id="{F06557D6-13F3-8CE0-528F-0ACE8F82C932}"/>
              </a:ext>
            </a:extLst>
          </p:cNvPr>
          <p:cNvGraphicFramePr>
            <a:graphicFrameLocks noGrp="1"/>
          </p:cNvGraphicFramePr>
          <p:nvPr>
            <p:extLst>
              <p:ext uri="{D42A27DB-BD31-4B8C-83A1-F6EECF244321}">
                <p14:modId xmlns:p14="http://schemas.microsoft.com/office/powerpoint/2010/main" val="2131285251"/>
              </p:ext>
            </p:extLst>
          </p:nvPr>
        </p:nvGraphicFramePr>
        <p:xfrm>
          <a:off x="328490" y="2298699"/>
          <a:ext cx="4262967" cy="2966720"/>
        </p:xfrm>
        <a:graphic>
          <a:graphicData uri="http://schemas.openxmlformats.org/drawingml/2006/table">
            <a:tbl>
              <a:tblPr firstRow="1" bandRow="1">
                <a:tableStyleId>{5C22544A-7EE6-4342-B048-85BDC9FD1C3A}</a:tableStyleId>
              </a:tblPr>
              <a:tblGrid>
                <a:gridCol w="1875368">
                  <a:extLst>
                    <a:ext uri="{9D8B030D-6E8A-4147-A177-3AD203B41FA5}">
                      <a16:colId xmlns:a16="http://schemas.microsoft.com/office/drawing/2014/main" val="3352912956"/>
                    </a:ext>
                  </a:extLst>
                </a:gridCol>
                <a:gridCol w="2387599">
                  <a:extLst>
                    <a:ext uri="{9D8B030D-6E8A-4147-A177-3AD203B41FA5}">
                      <a16:colId xmlns:a16="http://schemas.microsoft.com/office/drawing/2014/main" val="964573962"/>
                    </a:ext>
                  </a:extLst>
                </a:gridCol>
              </a:tblGrid>
              <a:tr h="370840">
                <a:tc>
                  <a:txBody>
                    <a:bodyPr/>
                    <a:lstStyle/>
                    <a:p>
                      <a:r>
                        <a:rPr lang="en-US" dirty="0"/>
                        <a:t>Chakra Center</a:t>
                      </a:r>
                    </a:p>
                  </a:txBody>
                  <a:tcPr/>
                </a:tc>
                <a:tc>
                  <a:txBody>
                    <a:bodyPr/>
                    <a:lstStyle/>
                    <a:p>
                      <a:r>
                        <a:rPr lang="en-US" dirty="0"/>
                        <a:t>Related Gland</a:t>
                      </a:r>
                    </a:p>
                  </a:txBody>
                  <a:tcPr/>
                </a:tc>
                <a:extLst>
                  <a:ext uri="{0D108BD9-81ED-4DB2-BD59-A6C34878D82A}">
                    <a16:rowId xmlns:a16="http://schemas.microsoft.com/office/drawing/2014/main" val="1008364041"/>
                  </a:ext>
                </a:extLst>
              </a:tr>
              <a:tr h="370840">
                <a:tc>
                  <a:txBody>
                    <a:bodyPr/>
                    <a:lstStyle/>
                    <a:p>
                      <a:r>
                        <a:rPr lang="en-US" dirty="0"/>
                        <a:t>Crown</a:t>
                      </a:r>
                    </a:p>
                  </a:txBody>
                  <a:tcPr/>
                </a:tc>
                <a:tc>
                  <a:txBody>
                    <a:bodyPr/>
                    <a:lstStyle/>
                    <a:p>
                      <a:r>
                        <a:rPr lang="en-US" dirty="0"/>
                        <a:t>Pineal Gland</a:t>
                      </a:r>
                    </a:p>
                  </a:txBody>
                  <a:tcPr/>
                </a:tc>
                <a:extLst>
                  <a:ext uri="{0D108BD9-81ED-4DB2-BD59-A6C34878D82A}">
                    <a16:rowId xmlns:a16="http://schemas.microsoft.com/office/drawing/2014/main" val="751237373"/>
                  </a:ext>
                </a:extLst>
              </a:tr>
              <a:tr h="370840">
                <a:tc>
                  <a:txBody>
                    <a:bodyPr/>
                    <a:lstStyle/>
                    <a:p>
                      <a:r>
                        <a:rPr lang="en-US" dirty="0"/>
                        <a:t>Brow</a:t>
                      </a:r>
                    </a:p>
                  </a:txBody>
                  <a:tcPr/>
                </a:tc>
                <a:tc>
                  <a:txBody>
                    <a:bodyPr/>
                    <a:lstStyle/>
                    <a:p>
                      <a:r>
                        <a:rPr lang="en-US" dirty="0"/>
                        <a:t>Pituitary Gland</a:t>
                      </a:r>
                    </a:p>
                  </a:txBody>
                  <a:tcPr/>
                </a:tc>
                <a:extLst>
                  <a:ext uri="{0D108BD9-81ED-4DB2-BD59-A6C34878D82A}">
                    <a16:rowId xmlns:a16="http://schemas.microsoft.com/office/drawing/2014/main" val="1825288137"/>
                  </a:ext>
                </a:extLst>
              </a:tr>
              <a:tr h="370840">
                <a:tc>
                  <a:txBody>
                    <a:bodyPr/>
                    <a:lstStyle/>
                    <a:p>
                      <a:r>
                        <a:rPr lang="en-US" dirty="0"/>
                        <a:t>Throat</a:t>
                      </a:r>
                    </a:p>
                  </a:txBody>
                  <a:tcPr/>
                </a:tc>
                <a:tc>
                  <a:txBody>
                    <a:bodyPr/>
                    <a:lstStyle/>
                    <a:p>
                      <a:r>
                        <a:rPr lang="en-US" dirty="0"/>
                        <a:t>Thyroid</a:t>
                      </a:r>
                    </a:p>
                  </a:txBody>
                  <a:tcPr/>
                </a:tc>
                <a:extLst>
                  <a:ext uri="{0D108BD9-81ED-4DB2-BD59-A6C34878D82A}">
                    <a16:rowId xmlns:a16="http://schemas.microsoft.com/office/drawing/2014/main" val="115094493"/>
                  </a:ext>
                </a:extLst>
              </a:tr>
              <a:tr h="370840">
                <a:tc>
                  <a:txBody>
                    <a:bodyPr/>
                    <a:lstStyle/>
                    <a:p>
                      <a:r>
                        <a:rPr lang="en-US" dirty="0"/>
                        <a:t>Heart</a:t>
                      </a:r>
                    </a:p>
                  </a:txBody>
                  <a:tcPr/>
                </a:tc>
                <a:tc>
                  <a:txBody>
                    <a:bodyPr/>
                    <a:lstStyle/>
                    <a:p>
                      <a:r>
                        <a:rPr lang="en-US" dirty="0"/>
                        <a:t>Thymus</a:t>
                      </a:r>
                    </a:p>
                  </a:txBody>
                  <a:tcPr/>
                </a:tc>
                <a:extLst>
                  <a:ext uri="{0D108BD9-81ED-4DB2-BD59-A6C34878D82A}">
                    <a16:rowId xmlns:a16="http://schemas.microsoft.com/office/drawing/2014/main" val="3097211836"/>
                  </a:ext>
                </a:extLst>
              </a:tr>
              <a:tr h="370840">
                <a:tc>
                  <a:txBody>
                    <a:bodyPr/>
                    <a:lstStyle/>
                    <a:p>
                      <a:r>
                        <a:rPr lang="en-US" dirty="0"/>
                        <a:t>Solar Plexus</a:t>
                      </a:r>
                    </a:p>
                  </a:txBody>
                  <a:tcPr/>
                </a:tc>
                <a:tc>
                  <a:txBody>
                    <a:bodyPr/>
                    <a:lstStyle/>
                    <a:p>
                      <a:r>
                        <a:rPr lang="en-US" dirty="0"/>
                        <a:t>Pancreas</a:t>
                      </a:r>
                    </a:p>
                  </a:txBody>
                  <a:tcPr/>
                </a:tc>
                <a:extLst>
                  <a:ext uri="{0D108BD9-81ED-4DB2-BD59-A6C34878D82A}">
                    <a16:rowId xmlns:a16="http://schemas.microsoft.com/office/drawing/2014/main" val="2515312702"/>
                  </a:ext>
                </a:extLst>
              </a:tr>
              <a:tr h="370840">
                <a:tc>
                  <a:txBody>
                    <a:bodyPr/>
                    <a:lstStyle/>
                    <a:p>
                      <a:r>
                        <a:rPr lang="en-US" dirty="0"/>
                        <a:t>Sacral</a:t>
                      </a:r>
                    </a:p>
                  </a:txBody>
                  <a:tcPr/>
                </a:tc>
                <a:tc>
                  <a:txBody>
                    <a:bodyPr/>
                    <a:lstStyle/>
                    <a:p>
                      <a:r>
                        <a:rPr lang="en-US" dirty="0"/>
                        <a:t>Ovaries/Testes</a:t>
                      </a:r>
                    </a:p>
                  </a:txBody>
                  <a:tcPr/>
                </a:tc>
                <a:extLst>
                  <a:ext uri="{0D108BD9-81ED-4DB2-BD59-A6C34878D82A}">
                    <a16:rowId xmlns:a16="http://schemas.microsoft.com/office/drawing/2014/main" val="3543656471"/>
                  </a:ext>
                </a:extLst>
              </a:tr>
              <a:tr h="370840">
                <a:tc>
                  <a:txBody>
                    <a:bodyPr/>
                    <a:lstStyle/>
                    <a:p>
                      <a:r>
                        <a:rPr lang="en-US" dirty="0"/>
                        <a:t>Root</a:t>
                      </a:r>
                    </a:p>
                  </a:txBody>
                  <a:tcPr/>
                </a:tc>
                <a:tc>
                  <a:txBody>
                    <a:bodyPr/>
                    <a:lstStyle/>
                    <a:p>
                      <a:r>
                        <a:rPr lang="en-US" dirty="0"/>
                        <a:t>Adrenal Glands</a:t>
                      </a:r>
                    </a:p>
                  </a:txBody>
                  <a:tcPr/>
                </a:tc>
                <a:extLst>
                  <a:ext uri="{0D108BD9-81ED-4DB2-BD59-A6C34878D82A}">
                    <a16:rowId xmlns:a16="http://schemas.microsoft.com/office/drawing/2014/main" val="2602132700"/>
                  </a:ext>
                </a:extLst>
              </a:tr>
            </a:tbl>
          </a:graphicData>
        </a:graphic>
      </p:graphicFrame>
    </p:spTree>
    <p:extLst>
      <p:ext uri="{BB962C8B-B14F-4D97-AF65-F5344CB8AC3E}">
        <p14:creationId xmlns:p14="http://schemas.microsoft.com/office/powerpoint/2010/main" val="598618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F2683-BED1-F67C-2A7C-4C17A7139B85}"/>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0555ECA6-7DA0-04EA-8185-31AF48D34304}"/>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graphicFrame>
        <p:nvGraphicFramePr>
          <p:cNvPr id="4" name="Table 3">
            <a:extLst>
              <a:ext uri="{FF2B5EF4-FFF2-40B4-BE49-F238E27FC236}">
                <a16:creationId xmlns:a16="http://schemas.microsoft.com/office/drawing/2014/main" id="{1C5D95EA-48C9-C668-97D4-D1B8C9E8BEB2}"/>
              </a:ext>
            </a:extLst>
          </p:cNvPr>
          <p:cNvGraphicFramePr>
            <a:graphicFrameLocks noGrp="1"/>
          </p:cNvGraphicFramePr>
          <p:nvPr>
            <p:extLst>
              <p:ext uri="{D42A27DB-BD31-4B8C-83A1-F6EECF244321}">
                <p14:modId xmlns:p14="http://schemas.microsoft.com/office/powerpoint/2010/main" val="2045141978"/>
              </p:ext>
            </p:extLst>
          </p:nvPr>
        </p:nvGraphicFramePr>
        <p:xfrm>
          <a:off x="524934" y="1989665"/>
          <a:ext cx="11290301" cy="3975104"/>
        </p:xfrm>
        <a:graphic>
          <a:graphicData uri="http://schemas.openxmlformats.org/drawingml/2006/table">
            <a:tbl>
              <a:tblPr firstRow="1" bandRow="1">
                <a:tableStyleId>{5C22544A-7EE6-4342-B048-85BDC9FD1C3A}</a:tableStyleId>
              </a:tblPr>
              <a:tblGrid>
                <a:gridCol w="1826435">
                  <a:extLst>
                    <a:ext uri="{9D8B030D-6E8A-4147-A177-3AD203B41FA5}">
                      <a16:colId xmlns:a16="http://schemas.microsoft.com/office/drawing/2014/main" val="912805482"/>
                    </a:ext>
                  </a:extLst>
                </a:gridCol>
                <a:gridCol w="2227046">
                  <a:extLst>
                    <a:ext uri="{9D8B030D-6E8A-4147-A177-3AD203B41FA5}">
                      <a16:colId xmlns:a16="http://schemas.microsoft.com/office/drawing/2014/main" val="1954406012"/>
                    </a:ext>
                  </a:extLst>
                </a:gridCol>
                <a:gridCol w="2067663">
                  <a:extLst>
                    <a:ext uri="{9D8B030D-6E8A-4147-A177-3AD203B41FA5}">
                      <a16:colId xmlns:a16="http://schemas.microsoft.com/office/drawing/2014/main" val="1820841873"/>
                    </a:ext>
                  </a:extLst>
                </a:gridCol>
                <a:gridCol w="5169157">
                  <a:extLst>
                    <a:ext uri="{9D8B030D-6E8A-4147-A177-3AD203B41FA5}">
                      <a16:colId xmlns:a16="http://schemas.microsoft.com/office/drawing/2014/main" val="2814785304"/>
                    </a:ext>
                  </a:extLst>
                </a:gridCol>
              </a:tblGrid>
              <a:tr h="496888">
                <a:tc>
                  <a:txBody>
                    <a:bodyPr/>
                    <a:lstStyle/>
                    <a:p>
                      <a:r>
                        <a:rPr lang="en-US" dirty="0"/>
                        <a:t>Chakra Center</a:t>
                      </a:r>
                    </a:p>
                  </a:txBody>
                  <a:tcPr/>
                </a:tc>
                <a:tc>
                  <a:txBody>
                    <a:bodyPr/>
                    <a:lstStyle/>
                    <a:p>
                      <a:r>
                        <a:rPr lang="en-US" dirty="0"/>
                        <a:t>Location</a:t>
                      </a:r>
                    </a:p>
                  </a:txBody>
                  <a:tcPr/>
                </a:tc>
                <a:tc>
                  <a:txBody>
                    <a:bodyPr/>
                    <a:lstStyle/>
                    <a:p>
                      <a:r>
                        <a:rPr lang="en-US" dirty="0"/>
                        <a:t>Endocrine Gland</a:t>
                      </a:r>
                    </a:p>
                  </a:txBody>
                  <a:tcPr/>
                </a:tc>
                <a:tc>
                  <a:txBody>
                    <a:bodyPr/>
                    <a:lstStyle/>
                    <a:p>
                      <a:r>
                        <a:rPr lang="en-US" dirty="0"/>
                        <a:t>Function</a:t>
                      </a:r>
                    </a:p>
                  </a:txBody>
                  <a:tcPr/>
                </a:tc>
                <a:extLst>
                  <a:ext uri="{0D108BD9-81ED-4DB2-BD59-A6C34878D82A}">
                    <a16:rowId xmlns:a16="http://schemas.microsoft.com/office/drawing/2014/main" val="1995631562"/>
                  </a:ext>
                </a:extLst>
              </a:tr>
              <a:tr h="496888">
                <a:tc>
                  <a:txBody>
                    <a:bodyPr/>
                    <a:lstStyle/>
                    <a:p>
                      <a:r>
                        <a:rPr lang="en-US" dirty="0"/>
                        <a:t>Crown</a:t>
                      </a:r>
                    </a:p>
                  </a:txBody>
                  <a:tcPr/>
                </a:tc>
                <a:tc>
                  <a:txBody>
                    <a:bodyPr/>
                    <a:lstStyle/>
                    <a:p>
                      <a:r>
                        <a:rPr lang="en-US" dirty="0"/>
                        <a:t>Top of Head</a:t>
                      </a:r>
                    </a:p>
                  </a:txBody>
                  <a:tcPr/>
                </a:tc>
                <a:tc>
                  <a:txBody>
                    <a:bodyPr/>
                    <a:lstStyle/>
                    <a:p>
                      <a:r>
                        <a:rPr lang="en-US" dirty="0"/>
                        <a:t>Pineal Gland</a:t>
                      </a:r>
                    </a:p>
                  </a:txBody>
                  <a:tcPr/>
                </a:tc>
                <a:tc>
                  <a:txBody>
                    <a:bodyPr/>
                    <a:lstStyle/>
                    <a:p>
                      <a:r>
                        <a:rPr lang="en-US" dirty="0"/>
                        <a:t>Melatonin production, hormone production</a:t>
                      </a:r>
                    </a:p>
                  </a:txBody>
                  <a:tcPr/>
                </a:tc>
                <a:extLst>
                  <a:ext uri="{0D108BD9-81ED-4DB2-BD59-A6C34878D82A}">
                    <a16:rowId xmlns:a16="http://schemas.microsoft.com/office/drawing/2014/main" val="696887698"/>
                  </a:ext>
                </a:extLst>
              </a:tr>
              <a:tr h="496888">
                <a:tc>
                  <a:txBody>
                    <a:bodyPr/>
                    <a:lstStyle/>
                    <a:p>
                      <a:r>
                        <a:rPr lang="en-US" dirty="0"/>
                        <a:t>Brow</a:t>
                      </a:r>
                    </a:p>
                  </a:txBody>
                  <a:tcPr/>
                </a:tc>
                <a:tc>
                  <a:txBody>
                    <a:bodyPr/>
                    <a:lstStyle/>
                    <a:p>
                      <a:r>
                        <a:rPr lang="en-US" dirty="0"/>
                        <a:t>Between Eyebrows</a:t>
                      </a:r>
                    </a:p>
                  </a:txBody>
                  <a:tcPr/>
                </a:tc>
                <a:tc>
                  <a:txBody>
                    <a:bodyPr/>
                    <a:lstStyle/>
                    <a:p>
                      <a:r>
                        <a:rPr lang="en-US" dirty="0"/>
                        <a:t>Pituitary Gland</a:t>
                      </a:r>
                    </a:p>
                  </a:txBody>
                  <a:tcPr/>
                </a:tc>
                <a:tc>
                  <a:txBody>
                    <a:bodyPr/>
                    <a:lstStyle/>
                    <a:p>
                      <a:r>
                        <a:rPr lang="en-US" dirty="0"/>
                        <a:t>Regulates other glands, Master gland</a:t>
                      </a:r>
                    </a:p>
                  </a:txBody>
                  <a:tcPr/>
                </a:tc>
                <a:extLst>
                  <a:ext uri="{0D108BD9-81ED-4DB2-BD59-A6C34878D82A}">
                    <a16:rowId xmlns:a16="http://schemas.microsoft.com/office/drawing/2014/main" val="3228160115"/>
                  </a:ext>
                </a:extLst>
              </a:tr>
              <a:tr h="496888">
                <a:tc>
                  <a:txBody>
                    <a:bodyPr/>
                    <a:lstStyle/>
                    <a:p>
                      <a:r>
                        <a:rPr lang="en-US" dirty="0"/>
                        <a:t>Throat</a:t>
                      </a:r>
                    </a:p>
                  </a:txBody>
                  <a:tcPr/>
                </a:tc>
                <a:tc>
                  <a:txBody>
                    <a:bodyPr/>
                    <a:lstStyle/>
                    <a:p>
                      <a:r>
                        <a:rPr lang="en-US" dirty="0"/>
                        <a:t>Throat</a:t>
                      </a:r>
                    </a:p>
                  </a:txBody>
                  <a:tcPr/>
                </a:tc>
                <a:tc>
                  <a:txBody>
                    <a:bodyPr/>
                    <a:lstStyle/>
                    <a:p>
                      <a:r>
                        <a:rPr lang="en-US" dirty="0"/>
                        <a:t>Thyroid Gland</a:t>
                      </a:r>
                    </a:p>
                  </a:txBody>
                  <a:tcPr/>
                </a:tc>
                <a:tc>
                  <a:txBody>
                    <a:bodyPr/>
                    <a:lstStyle/>
                    <a:p>
                      <a:r>
                        <a:rPr lang="en-US" dirty="0"/>
                        <a:t>Hormone production, metabolism regulation</a:t>
                      </a:r>
                    </a:p>
                  </a:txBody>
                  <a:tcPr/>
                </a:tc>
                <a:extLst>
                  <a:ext uri="{0D108BD9-81ED-4DB2-BD59-A6C34878D82A}">
                    <a16:rowId xmlns:a16="http://schemas.microsoft.com/office/drawing/2014/main" val="1445512649"/>
                  </a:ext>
                </a:extLst>
              </a:tr>
              <a:tr h="496888">
                <a:tc>
                  <a:txBody>
                    <a:bodyPr/>
                    <a:lstStyle/>
                    <a:p>
                      <a:r>
                        <a:rPr lang="en-US" dirty="0"/>
                        <a:t>Heart</a:t>
                      </a:r>
                    </a:p>
                  </a:txBody>
                  <a:tcPr/>
                </a:tc>
                <a:tc>
                  <a:txBody>
                    <a:bodyPr/>
                    <a:lstStyle/>
                    <a:p>
                      <a:r>
                        <a:rPr lang="en-US" dirty="0"/>
                        <a:t>Center of Chest</a:t>
                      </a:r>
                    </a:p>
                  </a:txBody>
                  <a:tcPr/>
                </a:tc>
                <a:tc>
                  <a:txBody>
                    <a:bodyPr/>
                    <a:lstStyle/>
                    <a:p>
                      <a:r>
                        <a:rPr lang="en-US" dirty="0"/>
                        <a:t>Thymus</a:t>
                      </a:r>
                    </a:p>
                  </a:txBody>
                  <a:tcPr/>
                </a:tc>
                <a:tc>
                  <a:txBody>
                    <a:bodyPr/>
                    <a:lstStyle/>
                    <a:p>
                      <a:r>
                        <a:rPr lang="en-US" dirty="0"/>
                        <a:t>T-Cell maturation, hormone production</a:t>
                      </a:r>
                    </a:p>
                  </a:txBody>
                  <a:tcPr/>
                </a:tc>
                <a:extLst>
                  <a:ext uri="{0D108BD9-81ED-4DB2-BD59-A6C34878D82A}">
                    <a16:rowId xmlns:a16="http://schemas.microsoft.com/office/drawing/2014/main" val="3754956511"/>
                  </a:ext>
                </a:extLst>
              </a:tr>
              <a:tr h="496888">
                <a:tc>
                  <a:txBody>
                    <a:bodyPr/>
                    <a:lstStyle/>
                    <a:p>
                      <a:r>
                        <a:rPr lang="en-US" dirty="0"/>
                        <a:t>Solar Plexus</a:t>
                      </a:r>
                    </a:p>
                  </a:txBody>
                  <a:tcPr/>
                </a:tc>
                <a:tc>
                  <a:txBody>
                    <a:bodyPr/>
                    <a:lstStyle/>
                    <a:p>
                      <a:r>
                        <a:rPr lang="en-US" dirty="0"/>
                        <a:t>Upper Abdomen</a:t>
                      </a:r>
                    </a:p>
                  </a:txBody>
                  <a:tcPr/>
                </a:tc>
                <a:tc>
                  <a:txBody>
                    <a:bodyPr/>
                    <a:lstStyle/>
                    <a:p>
                      <a:r>
                        <a:rPr lang="en-US" dirty="0"/>
                        <a:t>Pancreas</a:t>
                      </a:r>
                    </a:p>
                  </a:txBody>
                  <a:tcPr/>
                </a:tc>
                <a:tc>
                  <a:txBody>
                    <a:bodyPr/>
                    <a:lstStyle/>
                    <a:p>
                      <a:r>
                        <a:rPr lang="en-US" dirty="0"/>
                        <a:t>Digestive functions, blood sugar regulation</a:t>
                      </a:r>
                    </a:p>
                  </a:txBody>
                  <a:tcPr/>
                </a:tc>
                <a:extLst>
                  <a:ext uri="{0D108BD9-81ED-4DB2-BD59-A6C34878D82A}">
                    <a16:rowId xmlns:a16="http://schemas.microsoft.com/office/drawing/2014/main" val="2116788742"/>
                  </a:ext>
                </a:extLst>
              </a:tr>
              <a:tr h="496888">
                <a:tc>
                  <a:txBody>
                    <a:bodyPr/>
                    <a:lstStyle/>
                    <a:p>
                      <a:r>
                        <a:rPr lang="en-US" dirty="0"/>
                        <a:t>Sacral</a:t>
                      </a:r>
                    </a:p>
                  </a:txBody>
                  <a:tcPr/>
                </a:tc>
                <a:tc>
                  <a:txBody>
                    <a:bodyPr/>
                    <a:lstStyle/>
                    <a:p>
                      <a:r>
                        <a:rPr lang="en-US" dirty="0"/>
                        <a:t>Lower Abdomen</a:t>
                      </a:r>
                    </a:p>
                  </a:txBody>
                  <a:tcPr/>
                </a:tc>
                <a:tc>
                  <a:txBody>
                    <a:bodyPr/>
                    <a:lstStyle/>
                    <a:p>
                      <a:r>
                        <a:rPr lang="en-US" dirty="0"/>
                        <a:t>Ovaries/Testes</a:t>
                      </a:r>
                    </a:p>
                  </a:txBody>
                  <a:tcPr/>
                </a:tc>
                <a:tc>
                  <a:txBody>
                    <a:bodyPr/>
                    <a:lstStyle/>
                    <a:p>
                      <a:r>
                        <a:rPr lang="en-US" dirty="0"/>
                        <a:t>Reproductive functions, hormone production</a:t>
                      </a:r>
                    </a:p>
                  </a:txBody>
                  <a:tcPr/>
                </a:tc>
                <a:extLst>
                  <a:ext uri="{0D108BD9-81ED-4DB2-BD59-A6C34878D82A}">
                    <a16:rowId xmlns:a16="http://schemas.microsoft.com/office/drawing/2014/main" val="460148752"/>
                  </a:ext>
                </a:extLst>
              </a:tr>
              <a:tr h="496888">
                <a:tc>
                  <a:txBody>
                    <a:bodyPr/>
                    <a:lstStyle/>
                    <a:p>
                      <a:r>
                        <a:rPr lang="en-US" dirty="0"/>
                        <a:t>Root</a:t>
                      </a:r>
                    </a:p>
                  </a:txBody>
                  <a:tcPr/>
                </a:tc>
                <a:tc>
                  <a:txBody>
                    <a:bodyPr/>
                    <a:lstStyle/>
                    <a:p>
                      <a:r>
                        <a:rPr lang="en-US" dirty="0"/>
                        <a:t>Base of Spine</a:t>
                      </a:r>
                    </a:p>
                  </a:txBody>
                  <a:tcPr/>
                </a:tc>
                <a:tc>
                  <a:txBody>
                    <a:bodyPr/>
                    <a:lstStyle/>
                    <a:p>
                      <a:r>
                        <a:rPr lang="en-US" dirty="0"/>
                        <a:t>Adrenal Glands</a:t>
                      </a:r>
                    </a:p>
                  </a:txBody>
                  <a:tcPr/>
                </a:tc>
                <a:tc>
                  <a:txBody>
                    <a:bodyPr/>
                    <a:lstStyle/>
                    <a:p>
                      <a:r>
                        <a:rPr lang="en-US" dirty="0"/>
                        <a:t>Stress related responses, metabolism</a:t>
                      </a:r>
                    </a:p>
                  </a:txBody>
                  <a:tcPr/>
                </a:tc>
                <a:extLst>
                  <a:ext uri="{0D108BD9-81ED-4DB2-BD59-A6C34878D82A}">
                    <a16:rowId xmlns:a16="http://schemas.microsoft.com/office/drawing/2014/main" val="349453254"/>
                  </a:ext>
                </a:extLst>
              </a:tr>
            </a:tbl>
          </a:graphicData>
        </a:graphic>
      </p:graphicFrame>
      <p:sp>
        <p:nvSpPr>
          <p:cNvPr id="7" name="TextBox 6">
            <a:extLst>
              <a:ext uri="{FF2B5EF4-FFF2-40B4-BE49-F238E27FC236}">
                <a16:creationId xmlns:a16="http://schemas.microsoft.com/office/drawing/2014/main" id="{6F3B6918-9AC8-2A25-49ED-17546D50CD96}"/>
              </a:ext>
            </a:extLst>
          </p:cNvPr>
          <p:cNvSpPr txBox="1"/>
          <p:nvPr/>
        </p:nvSpPr>
        <p:spPr>
          <a:xfrm>
            <a:off x="3479801" y="1380066"/>
            <a:ext cx="4292600" cy="523220"/>
          </a:xfrm>
          <a:prstGeom prst="rect">
            <a:avLst/>
          </a:prstGeom>
          <a:noFill/>
        </p:spPr>
        <p:txBody>
          <a:bodyPr wrap="square" rtlCol="0">
            <a:spAutoFit/>
          </a:bodyPr>
          <a:lstStyle/>
          <a:p>
            <a:pPr algn="ctr"/>
            <a:r>
              <a:rPr lang="en-US" sz="2800" b="1" dirty="0"/>
              <a:t>Function Chart</a:t>
            </a:r>
          </a:p>
        </p:txBody>
      </p:sp>
    </p:spTree>
    <p:extLst>
      <p:ext uri="{BB962C8B-B14F-4D97-AF65-F5344CB8AC3E}">
        <p14:creationId xmlns:p14="http://schemas.microsoft.com/office/powerpoint/2010/main" val="34175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5CE8-44CD-A5B5-0552-1BAB609661D3}"/>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4811D352-E539-4377-41B8-B099CCCFF467}"/>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5197BC70-7853-5095-F8A7-974A32D76754}"/>
              </a:ext>
            </a:extLst>
          </p:cNvPr>
          <p:cNvSpPr txBox="1"/>
          <p:nvPr/>
        </p:nvSpPr>
        <p:spPr>
          <a:xfrm>
            <a:off x="194733" y="1278467"/>
            <a:ext cx="11785600" cy="5078313"/>
          </a:xfrm>
          <a:prstGeom prst="rect">
            <a:avLst/>
          </a:prstGeom>
          <a:noFill/>
        </p:spPr>
        <p:txBody>
          <a:bodyPr wrap="square" rtlCol="0">
            <a:spAutoFit/>
          </a:bodyPr>
          <a:lstStyle/>
          <a:p>
            <a:r>
              <a:rPr lang="en-US" dirty="0"/>
              <a:t>We can infer based on the function chart that these centers are typically manipulated via the regulation of hormone production, but we should also remember to ask for specifics. What exactly is going on and why? That is the main question we are attempting to answer, and I think it would be beneficial to know of the origin of this information.</a:t>
            </a:r>
          </a:p>
          <a:p>
            <a:endParaRPr lang="en-US" dirty="0"/>
          </a:p>
          <a:p>
            <a:r>
              <a:rPr lang="en-US" dirty="0"/>
              <a:t>The Tantric Chakra System was developed over approximately 1000 years and started from the Vedas. Without going too deep into another philosophy, it started with 1 chakra center, and it was considered the first breath. From that initial concept, several reputable minds influenced the understanding that is widely accepted today with the tantric system. 7 centers connected by channels that correlate to the physical body and is believed to be susceptible to manipulation via food, exercise, thoughts and breathing.</a:t>
            </a:r>
          </a:p>
          <a:p>
            <a:endParaRPr lang="en-US" dirty="0"/>
          </a:p>
          <a:p>
            <a:r>
              <a:rPr lang="en-US" dirty="0"/>
              <a:t>Personally, I don’t have a 1000 years to research something from scratch. Logically, I would have to choose my next move carefully, prioritizing what has the highest probability of success. I could try to start over, or I can choose to expound upon what has been researched before me. I can attempt to verify the validity of the claims of my predecessors. I might fail, I might also succeed, but if I fail, I can just try again, if I succeed, we all win. I don’t gamble but the odds are in our favor.</a:t>
            </a:r>
          </a:p>
          <a:p>
            <a:endParaRPr lang="en-US" dirty="0"/>
          </a:p>
          <a:p>
            <a:r>
              <a:rPr lang="en-US" dirty="0"/>
              <a:t>I won’t bore anyone with the process of how we get to success, but at the same time no story starts at the climax. It is bound to take time to obtain our little bit of confirmation, but actionable steps can see to our prosperity.</a:t>
            </a:r>
          </a:p>
        </p:txBody>
      </p:sp>
    </p:spTree>
    <p:extLst>
      <p:ext uri="{BB962C8B-B14F-4D97-AF65-F5344CB8AC3E}">
        <p14:creationId xmlns:p14="http://schemas.microsoft.com/office/powerpoint/2010/main" val="794726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8646A-1DD6-EB6D-F171-F2D9AC9ECE96}"/>
            </a:ext>
          </a:extLst>
        </p:cNvPr>
        <p:cNvGrpSpPr/>
        <p:nvPr/>
      </p:nvGrpSpPr>
      <p:grpSpPr>
        <a:xfrm>
          <a:off x="0" y="0"/>
          <a:ext cx="0" cy="0"/>
          <a:chOff x="0" y="0"/>
          <a:chExt cx="0" cy="0"/>
        </a:xfrm>
      </p:grpSpPr>
      <p:sp>
        <p:nvSpPr>
          <p:cNvPr id="2" name="textbox 176">
            <a:extLst>
              <a:ext uri="{FF2B5EF4-FFF2-40B4-BE49-F238E27FC236}">
                <a16:creationId xmlns:a16="http://schemas.microsoft.com/office/drawing/2014/main" id="{03C948D4-28B4-D81B-6EB2-B46698EC9743}"/>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4" name="TextBox 3">
            <a:extLst>
              <a:ext uri="{FF2B5EF4-FFF2-40B4-BE49-F238E27FC236}">
                <a16:creationId xmlns:a16="http://schemas.microsoft.com/office/drawing/2014/main" id="{C366C639-1EDA-8E0F-2DF3-62B81831F004}"/>
              </a:ext>
            </a:extLst>
          </p:cNvPr>
          <p:cNvSpPr txBox="1"/>
          <p:nvPr/>
        </p:nvSpPr>
        <p:spPr>
          <a:xfrm>
            <a:off x="190500" y="1261533"/>
            <a:ext cx="2815167" cy="369332"/>
          </a:xfrm>
          <a:prstGeom prst="rect">
            <a:avLst/>
          </a:prstGeom>
          <a:noFill/>
        </p:spPr>
        <p:txBody>
          <a:bodyPr wrap="square" rtlCol="0">
            <a:spAutoFit/>
          </a:bodyPr>
          <a:lstStyle/>
          <a:p>
            <a:r>
              <a:rPr lang="en-US" dirty="0"/>
              <a:t>We start at the beginning:</a:t>
            </a:r>
          </a:p>
        </p:txBody>
      </p:sp>
      <p:sp>
        <p:nvSpPr>
          <p:cNvPr id="5" name="TextBox 4">
            <a:extLst>
              <a:ext uri="{FF2B5EF4-FFF2-40B4-BE49-F238E27FC236}">
                <a16:creationId xmlns:a16="http://schemas.microsoft.com/office/drawing/2014/main" id="{0F2CD22E-8E0C-9796-5E82-58288BE18B17}"/>
              </a:ext>
            </a:extLst>
          </p:cNvPr>
          <p:cNvSpPr txBox="1"/>
          <p:nvPr/>
        </p:nvSpPr>
        <p:spPr>
          <a:xfrm>
            <a:off x="330200" y="1900767"/>
            <a:ext cx="3441700" cy="3693319"/>
          </a:xfrm>
          <a:prstGeom prst="rect">
            <a:avLst/>
          </a:prstGeom>
          <a:noFill/>
        </p:spPr>
        <p:txBody>
          <a:bodyPr wrap="square" rtlCol="0">
            <a:spAutoFit/>
          </a:bodyPr>
          <a:lstStyle/>
          <a:p>
            <a:r>
              <a:rPr lang="en-US" dirty="0"/>
              <a:t>Phase 1</a:t>
            </a:r>
          </a:p>
          <a:p>
            <a:pPr marL="285750" indent="-285750">
              <a:buFont typeface="Arial" panose="020B0604020202020204" pitchFamily="34" charset="0"/>
              <a:buChar char="•"/>
            </a:pPr>
            <a:r>
              <a:rPr lang="en-US" dirty="0"/>
              <a:t>We utilize our Education department to expand awareness</a:t>
            </a:r>
          </a:p>
          <a:p>
            <a:pPr marL="285750" indent="-285750">
              <a:buFont typeface="Arial" panose="020B0604020202020204" pitchFamily="34" charset="0"/>
              <a:buChar char="•"/>
            </a:pPr>
            <a:r>
              <a:rPr lang="en-US" dirty="0"/>
              <a:t>Offer services for pseudo-holistic health options</a:t>
            </a:r>
          </a:p>
          <a:p>
            <a:pPr marL="285750" indent="-285750">
              <a:buFont typeface="Arial" panose="020B0604020202020204" pitchFamily="34" charset="0"/>
              <a:buChar char="•"/>
            </a:pPr>
            <a:r>
              <a:rPr lang="en-US" dirty="0"/>
              <a:t>Prospecting property for then-near-future expansion</a:t>
            </a:r>
          </a:p>
          <a:p>
            <a:endParaRPr lang="en-US" dirty="0"/>
          </a:p>
          <a:p>
            <a:r>
              <a:rPr lang="en-US" dirty="0"/>
              <a:t>At the end of the day, to ignite the spark needed for change, we require resources. So, we provide value.</a:t>
            </a:r>
          </a:p>
        </p:txBody>
      </p:sp>
      <p:sp>
        <p:nvSpPr>
          <p:cNvPr id="6" name="TextBox 5">
            <a:extLst>
              <a:ext uri="{FF2B5EF4-FFF2-40B4-BE49-F238E27FC236}">
                <a16:creationId xmlns:a16="http://schemas.microsoft.com/office/drawing/2014/main" id="{3EDD5102-50BF-453B-C48C-AD2A50E70A27}"/>
              </a:ext>
            </a:extLst>
          </p:cNvPr>
          <p:cNvSpPr txBox="1"/>
          <p:nvPr/>
        </p:nvSpPr>
        <p:spPr>
          <a:xfrm>
            <a:off x="3819524" y="1900767"/>
            <a:ext cx="3786717" cy="3970318"/>
          </a:xfrm>
          <a:prstGeom prst="rect">
            <a:avLst/>
          </a:prstGeom>
          <a:noFill/>
        </p:spPr>
        <p:txBody>
          <a:bodyPr wrap="square" rtlCol="0">
            <a:spAutoFit/>
          </a:bodyPr>
          <a:lstStyle/>
          <a:p>
            <a:r>
              <a:rPr lang="en-US" dirty="0"/>
              <a:t>Phase 2</a:t>
            </a:r>
          </a:p>
          <a:p>
            <a:pPr marL="285750" indent="-285750">
              <a:buFont typeface="Arial" panose="020B0604020202020204" pitchFamily="34" charset="0"/>
              <a:buChar char="•"/>
            </a:pPr>
            <a:r>
              <a:rPr lang="en-US" dirty="0"/>
              <a:t>Acquiring property to begin Health initiatives</a:t>
            </a:r>
          </a:p>
          <a:p>
            <a:pPr marL="285750" indent="-285750">
              <a:buFont typeface="Arial" panose="020B0604020202020204" pitchFamily="34" charset="0"/>
              <a:buChar char="•"/>
            </a:pPr>
            <a:r>
              <a:rPr lang="en-US" dirty="0"/>
              <a:t>Land for farming and agriculture</a:t>
            </a:r>
          </a:p>
          <a:p>
            <a:pPr marL="285750" indent="-285750">
              <a:buFont typeface="Arial" panose="020B0604020202020204" pitchFamily="34" charset="0"/>
              <a:buChar char="•"/>
            </a:pPr>
            <a:r>
              <a:rPr lang="en-US" dirty="0"/>
              <a:t>Real Estate for education and exercise</a:t>
            </a:r>
          </a:p>
          <a:p>
            <a:pPr marL="285750" indent="-285750">
              <a:buFont typeface="Arial" panose="020B0604020202020204" pitchFamily="34" charset="0"/>
              <a:buChar char="•"/>
            </a:pPr>
            <a:r>
              <a:rPr lang="en-US" dirty="0"/>
              <a:t>Expand previous businesses within a controlled network</a:t>
            </a:r>
          </a:p>
          <a:p>
            <a:endParaRPr lang="en-US" dirty="0"/>
          </a:p>
          <a:p>
            <a:r>
              <a:rPr lang="en-US" dirty="0"/>
              <a:t>We need the controlled network to align with the Education initiative for creating our own credibility. Once the network is formed, we can move to the next phase.</a:t>
            </a:r>
          </a:p>
        </p:txBody>
      </p:sp>
      <p:sp>
        <p:nvSpPr>
          <p:cNvPr id="7" name="TextBox 6">
            <a:extLst>
              <a:ext uri="{FF2B5EF4-FFF2-40B4-BE49-F238E27FC236}">
                <a16:creationId xmlns:a16="http://schemas.microsoft.com/office/drawing/2014/main" id="{C5128C36-A480-4C28-D482-586C40D8E931}"/>
              </a:ext>
            </a:extLst>
          </p:cNvPr>
          <p:cNvSpPr txBox="1"/>
          <p:nvPr/>
        </p:nvSpPr>
        <p:spPr>
          <a:xfrm>
            <a:off x="7653865" y="1900767"/>
            <a:ext cx="4152902" cy="4524315"/>
          </a:xfrm>
          <a:prstGeom prst="rect">
            <a:avLst/>
          </a:prstGeom>
          <a:noFill/>
        </p:spPr>
        <p:txBody>
          <a:bodyPr wrap="square" rtlCol="0">
            <a:spAutoFit/>
          </a:bodyPr>
          <a:lstStyle/>
          <a:p>
            <a:r>
              <a:rPr lang="en-US" dirty="0"/>
              <a:t>Phase 3</a:t>
            </a:r>
          </a:p>
          <a:p>
            <a:pPr marL="285750" indent="-285750">
              <a:buFont typeface="Arial" panose="020B0604020202020204" pitchFamily="34" charset="0"/>
              <a:buChar char="•"/>
            </a:pPr>
            <a:r>
              <a:rPr lang="en-US" dirty="0"/>
              <a:t>R&amp;D facilities</a:t>
            </a:r>
          </a:p>
          <a:p>
            <a:pPr marL="285750" indent="-285750">
              <a:buFont typeface="Arial" panose="020B0604020202020204" pitchFamily="34" charset="0"/>
              <a:buChar char="•"/>
            </a:pPr>
            <a:r>
              <a:rPr lang="en-US" dirty="0"/>
              <a:t>Our own source of food secured</a:t>
            </a:r>
          </a:p>
          <a:p>
            <a:pPr marL="285750" indent="-285750">
              <a:buFont typeface="Arial" panose="020B0604020202020204" pitchFamily="34" charset="0"/>
              <a:buChar char="•"/>
            </a:pPr>
            <a:r>
              <a:rPr lang="en-US" dirty="0"/>
              <a:t>Our own community culture would exhibit health &amp; wellness</a:t>
            </a:r>
          </a:p>
          <a:p>
            <a:pPr marL="285750" indent="-285750">
              <a:buFont typeface="Arial" panose="020B0604020202020204" pitchFamily="34" charset="0"/>
              <a:buChar char="•"/>
            </a:pPr>
            <a:r>
              <a:rPr lang="en-US" dirty="0"/>
              <a:t>Aim to create our own medical facilities</a:t>
            </a:r>
          </a:p>
          <a:p>
            <a:pPr marL="285750" indent="-285750">
              <a:buFont typeface="Arial" panose="020B0604020202020204" pitchFamily="34" charset="0"/>
              <a:buChar char="•"/>
            </a:pPr>
            <a:endParaRPr lang="en-US" dirty="0"/>
          </a:p>
          <a:p>
            <a:endParaRPr lang="en-US" dirty="0"/>
          </a:p>
          <a:p>
            <a:r>
              <a:rPr lang="en-US" dirty="0"/>
              <a:t>This is where our options begin to get complex. It would be smart to assess our trajectory after certain milestones are reached. Having our own anything introduces us to level of responsibility we may not be familiar with, Systemic Responsibility</a:t>
            </a:r>
          </a:p>
        </p:txBody>
      </p:sp>
    </p:spTree>
    <p:extLst>
      <p:ext uri="{BB962C8B-B14F-4D97-AF65-F5344CB8AC3E}">
        <p14:creationId xmlns:p14="http://schemas.microsoft.com/office/powerpoint/2010/main" val="2658398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76">
            <a:extLst>
              <a:ext uri="{FF2B5EF4-FFF2-40B4-BE49-F238E27FC236}">
                <a16:creationId xmlns:a16="http://schemas.microsoft.com/office/drawing/2014/main" id="{0159CD20-0C96-8C8A-7BAE-B6F74D533BA9}"/>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97865" algn="l" rtl="0" eaLnBrk="0">
              <a:lnSpc>
                <a:spcPts val="3881"/>
              </a:lnSpc>
              <a:tabLst/>
            </a:pPr>
            <a:r>
              <a:rPr sz="2800" b="1" kern="0" spc="-120" dirty="0">
                <a:solidFill>
                  <a:srgbClr val="FFFFFF">
                    <a:alpha val="100000"/>
                  </a:srgbClr>
                </a:solidFill>
                <a:latin typeface="Tahoma"/>
                <a:ea typeface="Tahoma"/>
                <a:cs typeface="Tahoma"/>
              </a:rPr>
              <a:t>Health</a:t>
            </a:r>
            <a:endParaRPr sz="2800" dirty="0">
              <a:latin typeface="Tahoma"/>
              <a:ea typeface="Tahoma"/>
              <a:cs typeface="Tahoma"/>
            </a:endParaRPr>
          </a:p>
        </p:txBody>
      </p:sp>
      <p:sp>
        <p:nvSpPr>
          <p:cNvPr id="3" name="TextBox 2">
            <a:extLst>
              <a:ext uri="{FF2B5EF4-FFF2-40B4-BE49-F238E27FC236}">
                <a16:creationId xmlns:a16="http://schemas.microsoft.com/office/drawing/2014/main" id="{1F49168D-2FCE-4333-8F5D-4F4857CAC5EC}"/>
              </a:ext>
            </a:extLst>
          </p:cNvPr>
          <p:cNvSpPr txBox="1"/>
          <p:nvPr/>
        </p:nvSpPr>
        <p:spPr>
          <a:xfrm>
            <a:off x="245533" y="1143000"/>
            <a:ext cx="11700933" cy="5632311"/>
          </a:xfrm>
          <a:prstGeom prst="rect">
            <a:avLst/>
          </a:prstGeom>
          <a:noFill/>
        </p:spPr>
        <p:txBody>
          <a:bodyPr wrap="square" rtlCol="0">
            <a:spAutoFit/>
          </a:bodyPr>
          <a:lstStyle/>
          <a:p>
            <a:r>
              <a:rPr lang="en-US" dirty="0"/>
              <a:t>We don’t stop at Phase 3, at this point it is a conceptual direction, even Phase 2 and parts of Phase 1 in practice are conceptual. Much of this depends on the response we receive from a world not yet exposed to Vonguul. Logically, it makes sense, but sometimes logic doesn’t play as big a role as we think it should. Often, emotions and feelings take precedence, and who am I to say that is wrong. Maybe it is the way things are supposed to be.</a:t>
            </a:r>
          </a:p>
          <a:p>
            <a:endParaRPr lang="en-US" dirty="0"/>
          </a:p>
          <a:p>
            <a:r>
              <a:rPr lang="en-US" dirty="0"/>
              <a:t>In the meantime, we focus on the objective, and in time, we will show proof of concept. I am already aware that what I am presenting is an extremely viable solution to a problem involving the collective, but that doesn’t mean others agree. Evidence will be the key to spurring the emotions, the feelings, the hormones that make us put action to the words we resonate with.</a:t>
            </a:r>
          </a:p>
          <a:p>
            <a:endParaRPr lang="en-US" dirty="0"/>
          </a:p>
          <a:p>
            <a:r>
              <a:rPr lang="en-US" dirty="0"/>
              <a:t>This is an emphasis on the needs of the collective. We can finally see a future where we feel safe and secure enough to turn off survival mode and thrive as a community. All we have to do is express, “Yes” to this movement. If our actions align with, our words aligning with our thoughts, we create using the holy trinity. Mind, body, and soul. Not to sound fantastical here, but conceptually that is what is happening.</a:t>
            </a:r>
          </a:p>
          <a:p>
            <a:endParaRPr lang="en-US" dirty="0"/>
          </a:p>
          <a:p>
            <a:r>
              <a:rPr lang="en-US" dirty="0"/>
              <a:t>Your thoughts come from your soul/spirit/essence/core, it is the result of what happened in that almost imperceptible part of you, and it happens in/with the mind. Your words come from your mind; it is the result of what happened in the mind, and it happens in/with the physical/body. Your actions come from your body; it is the culminated result of everything that happened before and permeates everyone’s reality. Sometimes these things do not align with each other, and that results in an imbalance.</a:t>
            </a:r>
          </a:p>
        </p:txBody>
      </p:sp>
    </p:spTree>
    <p:extLst>
      <p:ext uri="{BB962C8B-B14F-4D97-AF65-F5344CB8AC3E}">
        <p14:creationId xmlns:p14="http://schemas.microsoft.com/office/powerpoint/2010/main" val="2947893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rect 216"/>
          <p:cNvSpPr/>
          <p:nvPr/>
        </p:nvSpPr>
        <p:spPr>
          <a:xfrm>
            <a:off x="0" y="0"/>
            <a:ext cx="12192000" cy="6858000"/>
          </a:xfrm>
          <a:prstGeom prst="rect">
            <a:avLst/>
          </a:prstGeom>
          <a:solidFill>
            <a:srgbClr val="F8F9FA">
              <a:alpha val="100000"/>
            </a:srgbClr>
          </a:solidFill>
          <a:ln w="0" cap="flat">
            <a:noFill/>
            <a:prstDash val="solid"/>
            <a:miter lim="0"/>
          </a:ln>
        </p:spPr>
        <p:txBody>
          <a:bodyPr rtlCol="0"/>
          <a:lstStyle/>
          <a:p>
            <a:pPr algn="ctr"/>
            <a:endParaRPr lang="zh-CN" altLang="en-US"/>
          </a:p>
        </p:txBody>
      </p:sp>
      <p:sp>
        <p:nvSpPr>
          <p:cNvPr id="218" name="textbox 218"/>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76275" algn="l" rtl="0" eaLnBrk="0">
              <a:lnSpc>
                <a:spcPts val="3881"/>
              </a:lnSpc>
              <a:tabLst/>
            </a:pPr>
            <a:r>
              <a:rPr sz="2800" b="1" kern="0" spc="-120" dirty="0">
                <a:solidFill>
                  <a:srgbClr val="FFFFFF">
                    <a:alpha val="100000"/>
                  </a:srgbClr>
                </a:solidFill>
                <a:latin typeface="Tahoma"/>
                <a:ea typeface="Tahoma"/>
                <a:cs typeface="Tahoma"/>
              </a:rPr>
              <a:t>Technology</a:t>
            </a:r>
            <a:endParaRPr sz="2800" dirty="0">
              <a:latin typeface="Tahoma"/>
              <a:ea typeface="Tahoma"/>
              <a:cs typeface="Tahoma"/>
            </a:endParaRPr>
          </a:p>
        </p:txBody>
      </p:sp>
      <p:sp>
        <p:nvSpPr>
          <p:cNvPr id="220" name="textbox 220"/>
          <p:cNvSpPr/>
          <p:nvPr/>
        </p:nvSpPr>
        <p:spPr>
          <a:xfrm>
            <a:off x="1377462" y="1775725"/>
            <a:ext cx="3407409" cy="4807107"/>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20954" algn="l" rtl="0" eaLnBrk="0">
              <a:lnSpc>
                <a:spcPts val="1941"/>
              </a:lnSpc>
              <a:tabLst/>
            </a:pPr>
            <a:r>
              <a:rPr sz="1400" b="1" kern="0" spc="-60" dirty="0">
                <a:solidFill>
                  <a:srgbClr val="19376D">
                    <a:alpha val="100000"/>
                  </a:srgbClr>
                </a:solidFill>
                <a:latin typeface="Tahoma"/>
                <a:ea typeface="Tahoma"/>
                <a:cs typeface="Tahoma"/>
              </a:rPr>
              <a:t>Cognitive Enhancement Pl</a:t>
            </a:r>
            <a:r>
              <a:rPr sz="1400" b="1" kern="0" spc="-70" dirty="0">
                <a:solidFill>
                  <a:srgbClr val="19376D">
                    <a:alpha val="100000"/>
                  </a:srgbClr>
                </a:solidFill>
                <a:latin typeface="Tahoma"/>
                <a:ea typeface="Tahoma"/>
                <a:cs typeface="Tahoma"/>
              </a:rPr>
              <a:t>atform</a:t>
            </a:r>
            <a:endParaRPr sz="1400" dirty="0">
              <a:latin typeface="Tahoma"/>
              <a:ea typeface="Tahoma"/>
              <a:cs typeface="Tahoma"/>
            </a:endParaRPr>
          </a:p>
          <a:p>
            <a:pPr marL="27305" indent="-14604" algn="l" rtl="0" eaLnBrk="0">
              <a:lnSpc>
                <a:spcPct val="118000"/>
              </a:lnSpc>
              <a:spcBef>
                <a:spcPts val="660"/>
              </a:spcBef>
              <a:tabLst/>
            </a:pPr>
            <a:r>
              <a:rPr lang="en-US" sz="1500" kern="0" spc="-40" dirty="0">
                <a:solidFill>
                  <a:srgbClr val="333333">
                    <a:alpha val="100000"/>
                  </a:srgbClr>
                </a:solidFill>
                <a:latin typeface="Tahoma"/>
                <a:ea typeface="Tahoma"/>
                <a:cs typeface="Tahoma"/>
              </a:rPr>
              <a:t>Utilizing Education to foster creativity and innovation by training to think outside of the box they’re normally in.</a:t>
            </a:r>
            <a:endParaRPr sz="1500" dirty="0">
              <a:latin typeface="Tahoma"/>
              <a:ea typeface="Tahoma"/>
              <a:cs typeface="Tahoma"/>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27940" algn="l" rtl="0" eaLnBrk="0">
              <a:lnSpc>
                <a:spcPts val="1940"/>
              </a:lnSpc>
              <a:spcBef>
                <a:spcPts val="394"/>
              </a:spcBef>
              <a:tabLst/>
            </a:pPr>
            <a:r>
              <a:rPr sz="1300" b="1" kern="0" spc="-20" dirty="0">
                <a:solidFill>
                  <a:srgbClr val="19376D">
                    <a:alpha val="100000"/>
                  </a:srgbClr>
                </a:solidFill>
                <a:latin typeface="Tahoma"/>
                <a:ea typeface="Tahoma"/>
                <a:cs typeface="Tahoma"/>
              </a:rPr>
              <a:t>Bio-Integr</a:t>
            </a:r>
            <a:r>
              <a:rPr sz="1300" b="1" kern="0" spc="-30" dirty="0">
                <a:solidFill>
                  <a:srgbClr val="19376D">
                    <a:alpha val="100000"/>
                  </a:srgbClr>
                </a:solidFill>
                <a:latin typeface="Tahoma"/>
                <a:ea typeface="Tahoma"/>
                <a:cs typeface="Tahoma"/>
              </a:rPr>
              <a:t>ation Systems</a:t>
            </a:r>
            <a:endParaRPr sz="1300" dirty="0">
              <a:latin typeface="Tahoma"/>
              <a:ea typeface="Tahoma"/>
              <a:cs typeface="Tahoma"/>
            </a:endParaRPr>
          </a:p>
          <a:p>
            <a:pPr marL="20320" indent="-3810" algn="l" rtl="0" eaLnBrk="0">
              <a:lnSpc>
                <a:spcPct val="118000"/>
              </a:lnSpc>
              <a:spcBef>
                <a:spcPts val="668"/>
              </a:spcBef>
              <a:tabLst/>
            </a:pPr>
            <a:r>
              <a:rPr sz="1500" kern="0" spc="-30" dirty="0">
                <a:solidFill>
                  <a:srgbClr val="333333">
                    <a:alpha val="100000"/>
                  </a:srgbClr>
                </a:solidFill>
                <a:latin typeface="Tahoma"/>
                <a:ea typeface="Tahoma"/>
                <a:cs typeface="Tahoma"/>
              </a:rPr>
              <a:t>Wearable</a:t>
            </a:r>
            <a:r>
              <a:rPr sz="1500" kern="0" spc="-15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technology</a:t>
            </a:r>
            <a:r>
              <a:rPr sz="1500" kern="0" spc="-14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that </a:t>
            </a:r>
            <a:r>
              <a:rPr lang="en-US" sz="1500" kern="0" spc="-40" dirty="0">
                <a:solidFill>
                  <a:srgbClr val="333333">
                    <a:alpha val="100000"/>
                  </a:srgbClr>
                </a:solidFill>
                <a:latin typeface="Tahoma"/>
                <a:ea typeface="Tahoma"/>
                <a:cs typeface="Tahoma"/>
              </a:rPr>
              <a:t>can not only </a:t>
            </a:r>
            <a:r>
              <a:rPr sz="1500" kern="0" spc="-40" dirty="0">
                <a:solidFill>
                  <a:srgbClr val="333333">
                    <a:alpha val="100000"/>
                  </a:srgbClr>
                </a:solidFill>
                <a:latin typeface="Tahoma"/>
                <a:ea typeface="Tahoma"/>
                <a:cs typeface="Tahoma"/>
              </a:rPr>
              <a:t>monitor and</a:t>
            </a:r>
            <a:r>
              <a:rPr sz="15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optimize healt</a:t>
            </a:r>
            <a:r>
              <a:rPr sz="1500" kern="0" spc="-40" dirty="0">
                <a:solidFill>
                  <a:srgbClr val="333333">
                    <a:alpha val="100000"/>
                  </a:srgbClr>
                </a:solidFill>
                <a:latin typeface="Tahoma"/>
                <a:ea typeface="Tahoma"/>
                <a:cs typeface="Tahoma"/>
              </a:rPr>
              <a:t>h metrics in real-time</a:t>
            </a:r>
            <a:r>
              <a:rPr lang="en-US" sz="1500" kern="0" spc="-40" dirty="0">
                <a:solidFill>
                  <a:srgbClr val="333333">
                    <a:alpha val="100000"/>
                  </a:srgbClr>
                </a:solidFill>
                <a:latin typeface="Tahoma"/>
                <a:ea typeface="Tahoma"/>
                <a:cs typeface="Tahoma"/>
              </a:rPr>
              <a:t>, but can also serve auxiliary functions as well</a:t>
            </a:r>
            <a:endParaRPr sz="1500" dirty="0">
              <a:latin typeface="Tahoma"/>
              <a:ea typeface="Tahoma"/>
              <a:cs typeface="Tahoma"/>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marL="19050" algn="l" rtl="0" eaLnBrk="0">
              <a:lnSpc>
                <a:spcPts val="1940"/>
              </a:lnSpc>
              <a:spcBef>
                <a:spcPts val="422"/>
              </a:spcBef>
              <a:tabLst/>
            </a:pPr>
            <a:r>
              <a:rPr sz="1400" b="1" kern="0" spc="-70" dirty="0">
                <a:solidFill>
                  <a:srgbClr val="19376D">
                    <a:alpha val="100000"/>
                  </a:srgbClr>
                </a:solidFill>
                <a:latin typeface="Tahoma"/>
                <a:ea typeface="Tahoma"/>
                <a:cs typeface="Tahoma"/>
              </a:rPr>
              <a:t>Secure Knowledge </a:t>
            </a:r>
            <a:r>
              <a:rPr sz="1400" b="1" kern="0" spc="-80" dirty="0">
                <a:solidFill>
                  <a:srgbClr val="19376D">
                    <a:alpha val="100000"/>
                  </a:srgbClr>
                </a:solidFill>
                <a:latin typeface="Tahoma"/>
                <a:ea typeface="Tahoma"/>
                <a:cs typeface="Tahoma"/>
              </a:rPr>
              <a:t>Network</a:t>
            </a:r>
            <a:endParaRPr sz="1400" dirty="0">
              <a:latin typeface="Tahoma"/>
              <a:ea typeface="Tahoma"/>
              <a:cs typeface="Tahoma"/>
            </a:endParaRPr>
          </a:p>
          <a:p>
            <a:pPr algn="l" rtl="0" eaLnBrk="0">
              <a:lnSpc>
                <a:spcPct val="109000"/>
              </a:lnSpc>
              <a:tabLst/>
            </a:pPr>
            <a:endParaRPr sz="500" dirty="0">
              <a:latin typeface="Arial"/>
              <a:ea typeface="Arial"/>
              <a:cs typeface="Arial"/>
            </a:endParaRPr>
          </a:p>
          <a:p>
            <a:pPr marL="24765" indent="3810" algn="l" rtl="0" eaLnBrk="0">
              <a:lnSpc>
                <a:spcPct val="118000"/>
              </a:lnSpc>
              <a:spcBef>
                <a:spcPts val="6"/>
              </a:spcBef>
              <a:tabLst/>
            </a:pPr>
            <a:r>
              <a:rPr sz="1500" kern="0" spc="-30" dirty="0">
                <a:solidFill>
                  <a:srgbClr val="333333">
                    <a:alpha val="100000"/>
                  </a:srgbClr>
                </a:solidFill>
                <a:latin typeface="Tahoma"/>
                <a:ea typeface="Tahoma"/>
                <a:cs typeface="Tahoma"/>
              </a:rPr>
              <a:t>Encrypted platform</a:t>
            </a:r>
            <a:r>
              <a:rPr sz="1500" kern="0" spc="-14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for</a:t>
            </a:r>
            <a:r>
              <a:rPr sz="1500" kern="0" spc="-13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sharing </a:t>
            </a:r>
            <a:r>
              <a:rPr sz="1500" kern="0" spc="-40" dirty="0">
                <a:solidFill>
                  <a:srgbClr val="333333">
                    <a:alpha val="100000"/>
                  </a:srgbClr>
                </a:solidFill>
                <a:latin typeface="Tahoma"/>
                <a:ea typeface="Tahoma"/>
                <a:cs typeface="Tahoma"/>
              </a:rPr>
              <a:t>proprietary</a:t>
            </a:r>
            <a:r>
              <a:rPr sz="15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information</a:t>
            </a:r>
            <a:r>
              <a:rPr sz="1500" kern="0" spc="-10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among</a:t>
            </a:r>
            <a:r>
              <a:rPr sz="1500" kern="0" spc="-40" dirty="0">
                <a:solidFill>
                  <a:srgbClr val="333333">
                    <a:alpha val="100000"/>
                  </a:srgbClr>
                </a:solidFill>
                <a:latin typeface="Tahoma"/>
                <a:ea typeface="Tahoma"/>
                <a:cs typeface="Tahoma"/>
              </a:rPr>
              <a:t> members</a:t>
            </a:r>
            <a:r>
              <a:rPr lang="en-US" sz="1500" kern="0" spc="-40" dirty="0">
                <a:solidFill>
                  <a:srgbClr val="333333">
                    <a:alpha val="100000"/>
                  </a:srgbClr>
                </a:solidFill>
                <a:latin typeface="Tahoma"/>
                <a:ea typeface="Tahoma"/>
                <a:cs typeface="Tahoma"/>
              </a:rPr>
              <a:t>, and a space solely for objective facts</a:t>
            </a:r>
            <a:endParaRPr sz="1500" dirty="0">
              <a:latin typeface="Tahoma"/>
              <a:ea typeface="Tahoma"/>
              <a:cs typeface="Tahoma"/>
            </a:endParaRPr>
          </a:p>
        </p:txBody>
      </p:sp>
      <p:sp>
        <p:nvSpPr>
          <p:cNvPr id="222" name="textbox 222"/>
          <p:cNvSpPr/>
          <p:nvPr/>
        </p:nvSpPr>
        <p:spPr>
          <a:xfrm>
            <a:off x="728286" y="1263650"/>
            <a:ext cx="2789554" cy="37084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717"/>
              </a:lnSpc>
              <a:tabLst>
                <a:tab pos="198754" algn="l"/>
              </a:tabLst>
            </a:pPr>
            <a:r>
              <a:rPr sz="1900" b="1" kern="0" spc="0" dirty="0">
                <a:solidFill>
                  <a:srgbClr val="19376D">
                    <a:alpha val="100000"/>
                  </a:srgbClr>
                </a:solidFill>
                <a:latin typeface="Tahoma"/>
                <a:ea typeface="Tahoma"/>
                <a:cs typeface="Tahoma"/>
              </a:rPr>
              <a:t>	</a:t>
            </a:r>
            <a:r>
              <a:rPr sz="1900" b="1" kern="0" spc="540" dirty="0">
                <a:solidFill>
                  <a:srgbClr val="19376D">
                    <a:alpha val="100000"/>
                  </a:srgbClr>
                </a:solidFill>
                <a:latin typeface="Tahoma"/>
                <a:ea typeface="Tahoma"/>
                <a:cs typeface="Tahoma"/>
              </a:rPr>
              <a:t> </a:t>
            </a:r>
            <a:r>
              <a:rPr sz="1900" b="1" kern="0" spc="-90" dirty="0">
                <a:solidFill>
                  <a:srgbClr val="19376D">
                    <a:alpha val="100000"/>
                  </a:srgbClr>
                </a:solidFill>
                <a:latin typeface="Tahoma"/>
                <a:ea typeface="Tahoma"/>
                <a:cs typeface="Tahoma"/>
              </a:rPr>
              <a:t>Exclu</a:t>
            </a:r>
            <a:r>
              <a:rPr sz="1900" b="1" kern="0" spc="-80" dirty="0">
                <a:solidFill>
                  <a:srgbClr val="19376D">
                    <a:alpha val="100000"/>
                  </a:srgbClr>
                </a:solidFill>
                <a:latin typeface="Tahoma"/>
                <a:ea typeface="Tahoma"/>
                <a:cs typeface="Tahoma"/>
              </a:rPr>
              <a:t>sive </a:t>
            </a:r>
            <a:r>
              <a:rPr sz="1900" b="1" kern="0" spc="-90" dirty="0">
                <a:solidFill>
                  <a:srgbClr val="19376D">
                    <a:alpha val="100000"/>
                  </a:srgbClr>
                </a:solidFill>
                <a:latin typeface="Tahoma"/>
                <a:ea typeface="Tahoma"/>
                <a:cs typeface="Tahoma"/>
              </a:rPr>
              <a:t>Innovation</a:t>
            </a:r>
            <a:r>
              <a:rPr sz="1900" b="1" kern="0" spc="-40" dirty="0">
                <a:solidFill>
                  <a:srgbClr val="19376D">
                    <a:alpha val="100000"/>
                  </a:srgbClr>
                </a:solidFill>
                <a:latin typeface="Tahoma"/>
                <a:ea typeface="Tahoma"/>
                <a:cs typeface="Tahoma"/>
              </a:rPr>
              <a:t>s</a:t>
            </a:r>
            <a:endParaRPr sz="1900" dirty="0">
              <a:latin typeface="Tahoma"/>
              <a:ea typeface="Tahoma"/>
              <a:cs typeface="Tahoma"/>
            </a:endParaRPr>
          </a:p>
        </p:txBody>
      </p:sp>
      <p:pic>
        <p:nvPicPr>
          <p:cNvPr id="224" name="picture 224"/>
          <p:cNvPicPr>
            <a:picLocks noChangeAspect="1"/>
          </p:cNvPicPr>
          <p:nvPr/>
        </p:nvPicPr>
        <p:blipFill>
          <a:blip r:embed="rId2"/>
          <a:stretch>
            <a:fillRect/>
          </a:stretch>
        </p:blipFill>
        <p:spPr>
          <a:xfrm rot="21600000">
            <a:off x="740986" y="1329424"/>
            <a:ext cx="186080" cy="230885"/>
          </a:xfrm>
          <a:prstGeom prst="rect">
            <a:avLst/>
          </a:prstGeom>
        </p:spPr>
      </p:pic>
      <p:sp>
        <p:nvSpPr>
          <p:cNvPr id="226" name="textbox 226"/>
          <p:cNvSpPr/>
          <p:nvPr/>
        </p:nvSpPr>
        <p:spPr>
          <a:xfrm>
            <a:off x="6478589" y="1263649"/>
            <a:ext cx="1840229" cy="37084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717"/>
              </a:lnSpc>
              <a:tabLst>
                <a:tab pos="184150" algn="l"/>
              </a:tabLst>
            </a:pPr>
            <a:r>
              <a:rPr sz="1900" b="1" kern="0" spc="0" dirty="0">
                <a:solidFill>
                  <a:srgbClr val="19376D">
                    <a:alpha val="100000"/>
                  </a:srgbClr>
                </a:solidFill>
                <a:latin typeface="Tahoma"/>
                <a:ea typeface="Tahoma"/>
                <a:cs typeface="Tahoma"/>
              </a:rPr>
              <a:t>	</a:t>
            </a:r>
            <a:r>
              <a:rPr sz="1900" b="1" kern="0" spc="440" dirty="0">
                <a:solidFill>
                  <a:srgbClr val="19376D">
                    <a:alpha val="100000"/>
                  </a:srgbClr>
                </a:solidFill>
                <a:latin typeface="Tahoma"/>
                <a:ea typeface="Tahoma"/>
                <a:cs typeface="Tahoma"/>
              </a:rPr>
              <a:t> </a:t>
            </a:r>
            <a:r>
              <a:rPr sz="1900" b="1" kern="0" spc="-90" dirty="0">
                <a:solidFill>
                  <a:srgbClr val="19376D">
                    <a:alpha val="100000"/>
                  </a:srgbClr>
                </a:solidFill>
                <a:latin typeface="Tahoma"/>
                <a:ea typeface="Tahoma"/>
                <a:cs typeface="Tahoma"/>
              </a:rPr>
              <a:t>Acce</a:t>
            </a:r>
            <a:r>
              <a:rPr sz="1900" b="1" kern="0" spc="-80" dirty="0">
                <a:solidFill>
                  <a:srgbClr val="19376D">
                    <a:alpha val="100000"/>
                  </a:srgbClr>
                </a:solidFill>
                <a:latin typeface="Tahoma"/>
                <a:ea typeface="Tahoma"/>
                <a:cs typeface="Tahoma"/>
              </a:rPr>
              <a:t>ss Level</a:t>
            </a:r>
            <a:r>
              <a:rPr sz="1900" b="1" kern="0" spc="-40" dirty="0">
                <a:solidFill>
                  <a:srgbClr val="19376D">
                    <a:alpha val="100000"/>
                  </a:srgbClr>
                </a:solidFill>
                <a:latin typeface="Tahoma"/>
                <a:ea typeface="Tahoma"/>
                <a:cs typeface="Tahoma"/>
              </a:rPr>
              <a:t>s</a:t>
            </a:r>
            <a:endParaRPr sz="1900" dirty="0">
              <a:latin typeface="Tahoma"/>
              <a:ea typeface="Tahoma"/>
              <a:cs typeface="Tahoma"/>
            </a:endParaRPr>
          </a:p>
        </p:txBody>
      </p:sp>
      <p:pic>
        <p:nvPicPr>
          <p:cNvPr id="228" name="picture 228"/>
          <p:cNvPicPr>
            <a:picLocks noChangeAspect="1"/>
          </p:cNvPicPr>
          <p:nvPr/>
        </p:nvPicPr>
        <p:blipFill>
          <a:blip r:embed="rId3"/>
          <a:stretch>
            <a:fillRect/>
          </a:stretch>
        </p:blipFill>
        <p:spPr>
          <a:xfrm rot="21600000">
            <a:off x="6491289" y="1329423"/>
            <a:ext cx="171450" cy="230885"/>
          </a:xfrm>
          <a:prstGeom prst="rect">
            <a:avLst/>
          </a:prstGeom>
        </p:spPr>
      </p:pic>
      <p:grpSp>
        <p:nvGrpSpPr>
          <p:cNvPr id="20" name="group 20"/>
          <p:cNvGrpSpPr/>
          <p:nvPr/>
        </p:nvGrpSpPr>
        <p:grpSpPr>
          <a:xfrm rot="21600000">
            <a:off x="827616" y="1767281"/>
            <a:ext cx="419100" cy="419100"/>
            <a:chOff x="0" y="0"/>
            <a:chExt cx="419100" cy="419100"/>
          </a:xfrm>
        </p:grpSpPr>
        <p:pic>
          <p:nvPicPr>
            <p:cNvPr id="230" name="picture 230"/>
            <p:cNvPicPr>
              <a:picLocks noChangeAspect="1"/>
            </p:cNvPicPr>
            <p:nvPr/>
          </p:nvPicPr>
          <p:blipFill>
            <a:blip r:embed="rId4"/>
            <a:stretch>
              <a:fillRect/>
            </a:stretch>
          </p:blipFill>
          <p:spPr>
            <a:xfrm rot="21600000">
              <a:off x="0" y="0"/>
              <a:ext cx="419100" cy="419100"/>
            </a:xfrm>
            <a:prstGeom prst="rect">
              <a:avLst/>
            </a:prstGeom>
          </p:spPr>
        </p:pic>
        <p:sp>
          <p:nvSpPr>
            <p:cNvPr id="232" name="textbox 232"/>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44779" algn="l" rtl="0" eaLnBrk="0">
                <a:lnSpc>
                  <a:spcPct val="84000"/>
                </a:lnSpc>
                <a:spcBef>
                  <a:spcPts val="5"/>
                </a:spcBef>
                <a:tabLst>
                  <a:tab pos="298450"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234" name="picture 234"/>
            <p:cNvPicPr>
              <a:picLocks noChangeAspect="1"/>
            </p:cNvPicPr>
            <p:nvPr/>
          </p:nvPicPr>
          <p:blipFill>
            <a:blip r:embed="rId5"/>
            <a:stretch>
              <a:fillRect/>
            </a:stretch>
          </p:blipFill>
          <p:spPr>
            <a:xfrm rot="21600000">
              <a:off x="132283" y="94107"/>
              <a:ext cx="153619" cy="230885"/>
            </a:xfrm>
            <a:prstGeom prst="rect">
              <a:avLst/>
            </a:prstGeom>
          </p:spPr>
        </p:pic>
      </p:grpSp>
      <p:grpSp>
        <p:nvGrpSpPr>
          <p:cNvPr id="22" name="group 22"/>
          <p:cNvGrpSpPr/>
          <p:nvPr/>
        </p:nvGrpSpPr>
        <p:grpSpPr>
          <a:xfrm rot="21600000">
            <a:off x="827616" y="3196031"/>
            <a:ext cx="419100" cy="419100"/>
            <a:chOff x="0" y="0"/>
            <a:chExt cx="419100" cy="419100"/>
          </a:xfrm>
        </p:grpSpPr>
        <p:pic>
          <p:nvPicPr>
            <p:cNvPr id="236" name="picture 236"/>
            <p:cNvPicPr>
              <a:picLocks noChangeAspect="1"/>
            </p:cNvPicPr>
            <p:nvPr/>
          </p:nvPicPr>
          <p:blipFill>
            <a:blip r:embed="rId6"/>
            <a:stretch>
              <a:fillRect/>
            </a:stretch>
          </p:blipFill>
          <p:spPr>
            <a:xfrm rot="21600000">
              <a:off x="0" y="0"/>
              <a:ext cx="419100" cy="419100"/>
            </a:xfrm>
            <a:prstGeom prst="rect">
              <a:avLst/>
            </a:prstGeom>
          </p:spPr>
        </p:pic>
        <p:sp>
          <p:nvSpPr>
            <p:cNvPr id="238" name="textbox 238"/>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55575" algn="l" rtl="0" eaLnBrk="0">
                <a:lnSpc>
                  <a:spcPct val="84000"/>
                </a:lnSpc>
                <a:spcBef>
                  <a:spcPts val="5"/>
                </a:spcBef>
                <a:tabLst>
                  <a:tab pos="288290"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240" name="picture 240"/>
            <p:cNvPicPr>
              <a:picLocks noChangeAspect="1"/>
            </p:cNvPicPr>
            <p:nvPr/>
          </p:nvPicPr>
          <p:blipFill>
            <a:blip r:embed="rId7"/>
            <a:stretch>
              <a:fillRect/>
            </a:stretch>
          </p:blipFill>
          <p:spPr>
            <a:xfrm rot="21600000">
              <a:off x="143027" y="94107"/>
              <a:ext cx="133045" cy="230885"/>
            </a:xfrm>
            <a:prstGeom prst="rect">
              <a:avLst/>
            </a:prstGeom>
          </p:spPr>
        </p:pic>
      </p:grpSp>
      <p:grpSp>
        <p:nvGrpSpPr>
          <p:cNvPr id="24" name="group 24"/>
          <p:cNvGrpSpPr/>
          <p:nvPr/>
        </p:nvGrpSpPr>
        <p:grpSpPr>
          <a:xfrm rot="21600000">
            <a:off x="827158" y="5033365"/>
            <a:ext cx="419100" cy="419100"/>
            <a:chOff x="0" y="0"/>
            <a:chExt cx="419100" cy="419100"/>
          </a:xfrm>
        </p:grpSpPr>
        <p:pic>
          <p:nvPicPr>
            <p:cNvPr id="242" name="picture 242"/>
            <p:cNvPicPr>
              <a:picLocks noChangeAspect="1"/>
            </p:cNvPicPr>
            <p:nvPr/>
          </p:nvPicPr>
          <p:blipFill>
            <a:blip r:embed="rId6"/>
            <a:stretch>
              <a:fillRect/>
            </a:stretch>
          </p:blipFill>
          <p:spPr>
            <a:xfrm rot="21600000">
              <a:off x="0" y="0"/>
              <a:ext cx="419100" cy="419100"/>
            </a:xfrm>
            <a:prstGeom prst="rect">
              <a:avLst/>
            </a:prstGeom>
          </p:spPr>
        </p:pic>
        <p:sp>
          <p:nvSpPr>
            <p:cNvPr id="244" name="textbox 244"/>
            <p:cNvSpPr/>
            <p:nvPr/>
          </p:nvSpPr>
          <p:spPr>
            <a:xfrm>
              <a:off x="-12700" y="-12700"/>
              <a:ext cx="445134" cy="444500"/>
            </a:xfrm>
            <a:prstGeom prst="rect">
              <a:avLst/>
            </a:prstGeom>
            <a:no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07950" algn="l" rtl="0" eaLnBrk="0">
                <a:lnSpc>
                  <a:spcPct val="84000"/>
                </a:lnSpc>
                <a:spcBef>
                  <a:spcPts val="5"/>
                </a:spcBef>
                <a:tabLst>
                  <a:tab pos="336550" algn="l"/>
                </a:tabLst>
              </a:pPr>
              <a:r>
                <a:rPr sz="1800" kern="0" spc="0" dirty="0">
                  <a:solidFill>
                    <a:srgbClr val="000000">
                      <a:alpha val="100000"/>
                    </a:srgbClr>
                  </a:solidFill>
                  <a:latin typeface="Arial Unicode MS"/>
                  <a:ea typeface="Arial Unicode MS"/>
                  <a:cs typeface="Arial Unicode MS"/>
                </a:rPr>
                <a:t>	</a:t>
              </a:r>
              <a:endParaRPr sz="1800" dirty="0">
                <a:latin typeface="Arial Unicode MS"/>
                <a:ea typeface="Arial Unicode MS"/>
                <a:cs typeface="Arial Unicode MS"/>
              </a:endParaRPr>
            </a:p>
          </p:txBody>
        </p:sp>
        <p:pic>
          <p:nvPicPr>
            <p:cNvPr id="246" name="picture 246"/>
            <p:cNvPicPr>
              <a:picLocks noChangeAspect="1"/>
            </p:cNvPicPr>
            <p:nvPr/>
          </p:nvPicPr>
          <p:blipFill>
            <a:blip r:embed="rId8"/>
            <a:stretch>
              <a:fillRect/>
            </a:stretch>
          </p:blipFill>
          <p:spPr>
            <a:xfrm rot="21600000">
              <a:off x="95250" y="94107"/>
              <a:ext cx="228600" cy="230885"/>
            </a:xfrm>
            <a:prstGeom prst="rect">
              <a:avLst/>
            </a:prstGeom>
          </p:spPr>
        </p:pic>
      </p:grpSp>
      <p:pic>
        <p:nvPicPr>
          <p:cNvPr id="248" name="picture 248"/>
          <p:cNvPicPr>
            <a:picLocks noChangeAspect="1"/>
          </p:cNvPicPr>
          <p:nvPr/>
        </p:nvPicPr>
        <p:blipFill>
          <a:blip r:embed="rId9"/>
          <a:stretch>
            <a:fillRect/>
          </a:stretch>
        </p:blipFill>
        <p:spPr>
          <a:xfrm rot="21600000">
            <a:off x="6086475" y="1524000"/>
            <a:ext cx="19050" cy="5334000"/>
          </a:xfrm>
          <a:prstGeom prst="rect">
            <a:avLst/>
          </a:prstGeom>
        </p:spPr>
      </p:pic>
      <p:sp>
        <p:nvSpPr>
          <p:cNvPr id="2" name="TextBox 1">
            <a:extLst>
              <a:ext uri="{FF2B5EF4-FFF2-40B4-BE49-F238E27FC236}">
                <a16:creationId xmlns:a16="http://schemas.microsoft.com/office/drawing/2014/main" id="{D0F5DC30-110C-056F-8F18-DF3E71FE5596}"/>
              </a:ext>
            </a:extLst>
          </p:cNvPr>
          <p:cNvSpPr txBox="1"/>
          <p:nvPr/>
        </p:nvSpPr>
        <p:spPr>
          <a:xfrm>
            <a:off x="6529389" y="1726383"/>
            <a:ext cx="5289548" cy="4801314"/>
          </a:xfrm>
          <a:prstGeom prst="rect">
            <a:avLst/>
          </a:prstGeom>
          <a:noFill/>
        </p:spPr>
        <p:txBody>
          <a:bodyPr wrap="square" rtlCol="0">
            <a:spAutoFit/>
          </a:bodyPr>
          <a:lstStyle/>
          <a:p>
            <a:r>
              <a:rPr lang="en-US" dirty="0"/>
              <a:t>Levels of access are meant to protect and encourage our members. Protect them from others attempting to use them and encourage them to excel in their own unique path with a provided array of resources to do with as they see fit.</a:t>
            </a:r>
          </a:p>
          <a:p>
            <a:endParaRPr lang="en-US" dirty="0"/>
          </a:p>
          <a:p>
            <a:r>
              <a:rPr lang="en-US" dirty="0"/>
              <a:t>Yes, there will be certain technological advancements or variants that are only available after reaching certain Ranks within the Levels.</a:t>
            </a:r>
          </a:p>
          <a:p>
            <a:endParaRPr lang="en-US" dirty="0"/>
          </a:p>
          <a:p>
            <a:r>
              <a:rPr lang="en-US" dirty="0"/>
              <a:t>No, not every tech mine in Vonguul will follow this format, but the innovations from our foundational Tech mine will be. I don’t even know if other Vonguulian Tech mines will want to do something like this and we are always against imposing onto others without appropriate levels of consent.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18">
            <a:extLst>
              <a:ext uri="{FF2B5EF4-FFF2-40B4-BE49-F238E27FC236}">
                <a16:creationId xmlns:a16="http://schemas.microsoft.com/office/drawing/2014/main" id="{66DEF866-A1B9-2DD7-2539-09D11C5727C3}"/>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76275" algn="l" rtl="0" eaLnBrk="0">
              <a:lnSpc>
                <a:spcPts val="3881"/>
              </a:lnSpc>
              <a:tabLst/>
            </a:pPr>
            <a:r>
              <a:rPr sz="2800" b="1" kern="0" spc="-120" dirty="0">
                <a:solidFill>
                  <a:srgbClr val="FFFFFF">
                    <a:alpha val="100000"/>
                  </a:srgbClr>
                </a:solidFill>
                <a:latin typeface="Tahoma"/>
                <a:ea typeface="Tahoma"/>
                <a:cs typeface="Tahoma"/>
              </a:rPr>
              <a:t>Technology</a:t>
            </a:r>
            <a:endParaRPr sz="2800" dirty="0">
              <a:latin typeface="Tahoma"/>
              <a:ea typeface="Tahoma"/>
              <a:cs typeface="Tahoma"/>
            </a:endParaRPr>
          </a:p>
        </p:txBody>
      </p:sp>
      <p:sp>
        <p:nvSpPr>
          <p:cNvPr id="3" name="TextBox 2">
            <a:extLst>
              <a:ext uri="{FF2B5EF4-FFF2-40B4-BE49-F238E27FC236}">
                <a16:creationId xmlns:a16="http://schemas.microsoft.com/office/drawing/2014/main" id="{3EAAECF0-2192-D990-18C5-941D3B51E64B}"/>
              </a:ext>
            </a:extLst>
          </p:cNvPr>
          <p:cNvSpPr txBox="1"/>
          <p:nvPr/>
        </p:nvSpPr>
        <p:spPr>
          <a:xfrm>
            <a:off x="156633" y="1282700"/>
            <a:ext cx="11882967" cy="5078313"/>
          </a:xfrm>
          <a:prstGeom prst="rect">
            <a:avLst/>
          </a:prstGeom>
          <a:noFill/>
        </p:spPr>
        <p:txBody>
          <a:bodyPr wrap="square" rtlCol="0">
            <a:spAutoFit/>
          </a:bodyPr>
          <a:lstStyle/>
          <a:p>
            <a:r>
              <a:rPr lang="en-US" dirty="0"/>
              <a:t>I can understand the question of why does technology matter to creating an organized nation community. I would preface my answer with the understanding that technology doesn’t just mean cellphones and computers. It also encompasses irrigation/plumbing, travel and even quality of life enhancements. Though we may be able to live without these things, eventually we would have to at the very least dabble in it. We want security and architecture is a form of technological advancement.</a:t>
            </a:r>
          </a:p>
          <a:p>
            <a:endParaRPr lang="en-US" dirty="0"/>
          </a:p>
          <a:p>
            <a:r>
              <a:rPr lang="en-US" dirty="0"/>
              <a:t>In pertinence to our organized nations success, we never planned to completely start over from scratch, and we also don’t have any short-term plans for creating any townships. Long-term township plans or city building plans are more synonymous with Wonder building for us. Vonguul is meant to operate in a superimposed manner on top of what is already present. We don’t require a physical territory in the universe to be called Vonguul, for us to operate within it. Instead, we aim to cooperate with established rules wherever possible to facilitate harmonious interactions with foreign entities.</a:t>
            </a:r>
          </a:p>
          <a:p>
            <a:endParaRPr lang="en-US" dirty="0"/>
          </a:p>
          <a:p>
            <a:r>
              <a:rPr lang="en-US" dirty="0"/>
              <a:t>In summary, technology and innovation will become our bargaining chip for trade and foreign relation agreements. What kind of technology could we possibly create that would make foreign nations enter into formal agreements with us? We have many ideas, some of which are even gaining popularity with the public. I personally don’t feel comfortable talking about some of the ideas on a broadcasted platform, but I can mention some that aren’t that major.</a:t>
            </a:r>
          </a:p>
        </p:txBody>
      </p:sp>
    </p:spTree>
    <p:extLst>
      <p:ext uri="{BB962C8B-B14F-4D97-AF65-F5344CB8AC3E}">
        <p14:creationId xmlns:p14="http://schemas.microsoft.com/office/powerpoint/2010/main" val="2636637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ar with a blue fire coming out of the wheel&#10;&#10;AI-generated content may be incorrect.">
            <a:extLst>
              <a:ext uri="{FF2B5EF4-FFF2-40B4-BE49-F238E27FC236}">
                <a16:creationId xmlns:a16="http://schemas.microsoft.com/office/drawing/2014/main" id="{CE7B5AB9-E67D-2A18-7F6A-B636DB5AB8AE}"/>
              </a:ext>
            </a:extLst>
          </p:cNvPr>
          <p:cNvPicPr>
            <a:picLocks noChangeAspect="1"/>
          </p:cNvPicPr>
          <p:nvPr/>
        </p:nvPicPr>
        <p:blipFill>
          <a:blip r:embed="rId2">
            <a:extLst>
              <a:ext uri="{28A0092B-C50C-407E-A947-70E740481C1C}">
                <a14:useLocalDpi xmlns:a14="http://schemas.microsoft.com/office/drawing/2010/main" val="0"/>
              </a:ext>
            </a:extLst>
          </a:blip>
          <a:srcRect l="6418" r="14271"/>
          <a:stretch>
            <a:fillRect/>
          </a:stretch>
        </p:blipFill>
        <p:spPr>
          <a:xfrm>
            <a:off x="2522358" y="10"/>
            <a:ext cx="9669642" cy="6857990"/>
          </a:xfrm>
          <a:prstGeom prst="rect">
            <a:avLst/>
          </a:prstGeom>
        </p:spPr>
      </p:pic>
      <p:sp>
        <p:nvSpPr>
          <p:cNvPr id="18" name="Rectangle 17">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218">
            <a:extLst>
              <a:ext uri="{FF2B5EF4-FFF2-40B4-BE49-F238E27FC236}">
                <a16:creationId xmlns:a16="http://schemas.microsoft.com/office/drawing/2014/main" id="{3F24BED9-C2F2-B518-66FB-964839DAE898}"/>
              </a:ext>
            </a:extLst>
          </p:cNvPr>
          <p:cNvSpPr/>
          <p:nvPr/>
        </p:nvSpPr>
        <p:spPr>
          <a:xfrm>
            <a:off x="-431800" y="903760"/>
            <a:ext cx="2773754" cy="421667"/>
          </a:xfrm>
          <a:prstGeom prst="rect">
            <a:avLst/>
          </a:prstGeom>
          <a:noFill/>
        </p:spPr>
        <p:txBody>
          <a:bodyPr vert="horz" lIns="91440" tIns="45720" rIns="91440" bIns="45720" rtlCol="0" anchor="b">
            <a:normAutofit fontScale="55000" lnSpcReduction="20000"/>
          </a:bodyPr>
          <a:lstStyle/>
          <a:p>
            <a:pPr marL="676275">
              <a:lnSpc>
                <a:spcPct val="90000"/>
              </a:lnSpc>
              <a:spcBef>
                <a:spcPct val="0"/>
              </a:spcBef>
              <a:spcAft>
                <a:spcPts val="600"/>
              </a:spcAft>
              <a:tabLst/>
            </a:pPr>
            <a:r>
              <a:rPr lang="en-US" sz="5200" b="1" spc="-120" dirty="0">
                <a:latin typeface="+mj-lt"/>
                <a:ea typeface="+mj-ea"/>
                <a:cs typeface="+mj-cs"/>
              </a:rPr>
              <a:t>Hover Cars</a:t>
            </a:r>
            <a:endParaRPr lang="en-US" sz="5200" dirty="0">
              <a:latin typeface="+mj-lt"/>
              <a:ea typeface="+mj-ea"/>
              <a:cs typeface="+mj-cs"/>
            </a:endParaRPr>
          </a:p>
        </p:txBody>
      </p:sp>
      <p:sp>
        <p:nvSpPr>
          <p:cNvPr id="5" name="TextBox 4">
            <a:extLst>
              <a:ext uri="{FF2B5EF4-FFF2-40B4-BE49-F238E27FC236}">
                <a16:creationId xmlns:a16="http://schemas.microsoft.com/office/drawing/2014/main" id="{09133CC1-8E1E-F5DE-CC5F-18C3DACA21FA}"/>
              </a:ext>
            </a:extLst>
          </p:cNvPr>
          <p:cNvSpPr txBox="1"/>
          <p:nvPr/>
        </p:nvSpPr>
        <p:spPr>
          <a:xfrm>
            <a:off x="169333" y="1481667"/>
            <a:ext cx="3361267" cy="5355312"/>
          </a:xfrm>
          <a:prstGeom prst="rect">
            <a:avLst/>
          </a:prstGeom>
          <a:noFill/>
        </p:spPr>
        <p:txBody>
          <a:bodyPr wrap="square" rtlCol="0">
            <a:spAutoFit/>
          </a:bodyPr>
          <a:lstStyle/>
          <a:p>
            <a:r>
              <a:rPr lang="en-US" dirty="0"/>
              <a:t>More like a personal hover vehicle, flying cars aren’t really that hard to make. It is the security that is a main concern. </a:t>
            </a:r>
          </a:p>
          <a:p>
            <a:endParaRPr lang="en-US" dirty="0"/>
          </a:p>
          <a:p>
            <a:r>
              <a:rPr lang="en-US" dirty="0"/>
              <a:t>We can fix the problem of navigation and operation issues but fixing the problem of human and mechanical consistency errors is another challenge altogether.</a:t>
            </a:r>
          </a:p>
          <a:p>
            <a:endParaRPr lang="en-US" dirty="0"/>
          </a:p>
          <a:p>
            <a:r>
              <a:rPr lang="en-US" dirty="0"/>
              <a:t>Ultimately this is one of the projects we would make public for obvious reasons, but it wouldn’t be made capable of actual flight. It would just have unusual controls that people will quickly get used to.</a:t>
            </a:r>
          </a:p>
        </p:txBody>
      </p:sp>
    </p:spTree>
    <p:extLst>
      <p:ext uri="{BB962C8B-B14F-4D97-AF65-F5344CB8AC3E}">
        <p14:creationId xmlns:p14="http://schemas.microsoft.com/office/powerpoint/2010/main" val="21401487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pair of glasses&#10;&#10;AI-generated content may be incorrect.">
            <a:extLst>
              <a:ext uri="{FF2B5EF4-FFF2-40B4-BE49-F238E27FC236}">
                <a16:creationId xmlns:a16="http://schemas.microsoft.com/office/drawing/2014/main" id="{944D3E00-84CB-49BE-5B9E-6882467DA17D}"/>
              </a:ext>
            </a:extLst>
          </p:cNvPr>
          <p:cNvPicPr>
            <a:picLocks noChangeAspect="1"/>
          </p:cNvPicPr>
          <p:nvPr/>
        </p:nvPicPr>
        <p:blipFill>
          <a:blip r:embed="rId2">
            <a:extLst>
              <a:ext uri="{28A0092B-C50C-407E-A947-70E740481C1C}">
                <a14:useLocalDpi xmlns:a14="http://schemas.microsoft.com/office/drawing/2010/main" val="0"/>
              </a:ext>
            </a:extLst>
          </a:blip>
          <a:srcRect l="2877" r="18164"/>
          <a:stretch>
            <a:fillRect/>
          </a:stretch>
        </p:blipFill>
        <p:spPr>
          <a:xfrm>
            <a:off x="2522358"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218">
            <a:extLst>
              <a:ext uri="{FF2B5EF4-FFF2-40B4-BE49-F238E27FC236}">
                <a16:creationId xmlns:a16="http://schemas.microsoft.com/office/drawing/2014/main" id="{291E5057-3180-0538-E49B-E2CCCC10679A}"/>
              </a:ext>
            </a:extLst>
          </p:cNvPr>
          <p:cNvSpPr/>
          <p:nvPr/>
        </p:nvSpPr>
        <p:spPr>
          <a:xfrm>
            <a:off x="-165898" y="392848"/>
            <a:ext cx="3463423" cy="796346"/>
          </a:xfrm>
          <a:prstGeom prst="rect">
            <a:avLst/>
          </a:prstGeom>
          <a:noFill/>
        </p:spPr>
        <p:txBody>
          <a:bodyPr vert="horz" lIns="91440" tIns="45720" rIns="91440" bIns="45720" rtlCol="0" anchor="b">
            <a:normAutofit fontScale="55000" lnSpcReduction="20000"/>
          </a:bodyPr>
          <a:lstStyle/>
          <a:p>
            <a:pPr>
              <a:lnSpc>
                <a:spcPct val="90000"/>
              </a:lnSpc>
              <a:spcBef>
                <a:spcPct val="0"/>
              </a:spcBef>
              <a:spcAft>
                <a:spcPts val="600"/>
              </a:spcAft>
              <a:tabLst/>
            </a:pPr>
            <a:endParaRPr lang="en-US" sz="5200" dirty="0">
              <a:latin typeface="+mj-lt"/>
              <a:ea typeface="+mj-ea"/>
              <a:cs typeface="+mj-cs"/>
            </a:endParaRPr>
          </a:p>
          <a:p>
            <a:pPr marL="676275">
              <a:lnSpc>
                <a:spcPct val="90000"/>
              </a:lnSpc>
              <a:spcBef>
                <a:spcPct val="0"/>
              </a:spcBef>
              <a:spcAft>
                <a:spcPts val="600"/>
              </a:spcAft>
              <a:tabLst/>
            </a:pPr>
            <a:r>
              <a:rPr lang="en-US" sz="5200" b="1" spc="-120" dirty="0">
                <a:latin typeface="+mj-lt"/>
                <a:ea typeface="+mj-ea"/>
                <a:cs typeface="+mj-cs"/>
              </a:rPr>
              <a:t>Smart Glasses</a:t>
            </a:r>
            <a:endParaRPr lang="en-US" sz="5200" dirty="0">
              <a:latin typeface="+mj-lt"/>
              <a:ea typeface="+mj-ea"/>
              <a:cs typeface="+mj-cs"/>
            </a:endParaRPr>
          </a:p>
        </p:txBody>
      </p:sp>
      <p:sp>
        <p:nvSpPr>
          <p:cNvPr id="5" name="TextBox 4">
            <a:extLst>
              <a:ext uri="{FF2B5EF4-FFF2-40B4-BE49-F238E27FC236}">
                <a16:creationId xmlns:a16="http://schemas.microsoft.com/office/drawing/2014/main" id="{D8FAE492-C3E0-0B52-04C9-34FBA69BFCA5}"/>
              </a:ext>
            </a:extLst>
          </p:cNvPr>
          <p:cNvSpPr txBox="1"/>
          <p:nvPr/>
        </p:nvSpPr>
        <p:spPr>
          <a:xfrm>
            <a:off x="132659" y="1231834"/>
            <a:ext cx="4084004" cy="4524315"/>
          </a:xfrm>
          <a:prstGeom prst="rect">
            <a:avLst/>
          </a:prstGeom>
          <a:noFill/>
        </p:spPr>
        <p:txBody>
          <a:bodyPr wrap="square" rtlCol="0">
            <a:spAutoFit/>
          </a:bodyPr>
          <a:lstStyle/>
          <a:p>
            <a:r>
              <a:rPr lang="en-US" dirty="0"/>
              <a:t>Another piece of tech that is already in production outside of Vonguul would be smart glasses. Ranging from AR to VR.</a:t>
            </a:r>
          </a:p>
          <a:p>
            <a:endParaRPr lang="en-US" dirty="0"/>
          </a:p>
          <a:p>
            <a:r>
              <a:rPr lang="en-US" dirty="0"/>
              <a:t>Vonguulian Tech variants will mostly focus on Augmented Reality, at least initially. We would prefer your waking life to be optimized before introducing another near unconscious life experience.</a:t>
            </a:r>
          </a:p>
          <a:p>
            <a:endParaRPr lang="en-US" dirty="0"/>
          </a:p>
          <a:p>
            <a:r>
              <a:rPr lang="en-US" dirty="0"/>
              <a:t>Vonguulian variants would include navigation assistance, quick view analysis with prompt. To be coupled with a special Tech Glove.</a:t>
            </a:r>
          </a:p>
        </p:txBody>
      </p:sp>
    </p:spTree>
    <p:extLst>
      <p:ext uri="{BB962C8B-B14F-4D97-AF65-F5344CB8AC3E}">
        <p14:creationId xmlns:p14="http://schemas.microsoft.com/office/powerpoint/2010/main" val="3889970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ack robotic hand with blue lights&#10;&#10;AI-generated content may be incorrect.">
            <a:extLst>
              <a:ext uri="{FF2B5EF4-FFF2-40B4-BE49-F238E27FC236}">
                <a16:creationId xmlns:a16="http://schemas.microsoft.com/office/drawing/2014/main" id="{FC71C6CB-14D6-3117-7282-970DDC5FB991}"/>
              </a:ext>
            </a:extLst>
          </p:cNvPr>
          <p:cNvPicPr>
            <a:picLocks noChangeAspect="1"/>
          </p:cNvPicPr>
          <p:nvPr/>
        </p:nvPicPr>
        <p:blipFill>
          <a:blip r:embed="rId2">
            <a:extLst>
              <a:ext uri="{28A0092B-C50C-407E-A947-70E740481C1C}">
                <a14:useLocalDpi xmlns:a14="http://schemas.microsoft.com/office/drawing/2010/main" val="0"/>
              </a:ext>
            </a:extLst>
          </a:blip>
          <a:srcRect l="13748" r="7293"/>
          <a:stretch>
            <a:fillRect/>
          </a:stretch>
        </p:blipFill>
        <p:spPr>
          <a:xfrm>
            <a:off x="1" y="10"/>
            <a:ext cx="9669642" cy="6857990"/>
          </a:xfrm>
          <a:prstGeom prst="rect">
            <a:avLst/>
          </a:prstGeom>
        </p:spPr>
      </p:pic>
      <p:sp>
        <p:nvSpPr>
          <p:cNvPr id="20" name="Rectangle 1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218">
            <a:extLst>
              <a:ext uri="{FF2B5EF4-FFF2-40B4-BE49-F238E27FC236}">
                <a16:creationId xmlns:a16="http://schemas.microsoft.com/office/drawing/2014/main" id="{7AB38514-6C4A-A46F-FF2D-18BF37E2B6F5}"/>
              </a:ext>
            </a:extLst>
          </p:cNvPr>
          <p:cNvSpPr/>
          <p:nvPr/>
        </p:nvSpPr>
        <p:spPr>
          <a:xfrm>
            <a:off x="7531610" y="365125"/>
            <a:ext cx="3822189" cy="1899912"/>
          </a:xfrm>
          <a:prstGeom prst="rect">
            <a:avLst/>
          </a:prstGeom>
        </p:spPr>
        <p:txBody>
          <a:bodyPr vert="horz" lIns="91440" tIns="45720" rIns="91440" bIns="45720" rtlCol="0" anchor="ctr">
            <a:normAutofit/>
          </a:bodyPr>
          <a:lstStyle/>
          <a:p>
            <a:pPr>
              <a:lnSpc>
                <a:spcPct val="90000"/>
              </a:lnSpc>
              <a:spcBef>
                <a:spcPct val="0"/>
              </a:spcBef>
              <a:spcAft>
                <a:spcPts val="600"/>
              </a:spcAft>
              <a:tabLst/>
            </a:pPr>
            <a:endParaRPr lang="en-US" sz="4000">
              <a:latin typeface="+mj-lt"/>
              <a:ea typeface="+mj-ea"/>
              <a:cs typeface="+mj-cs"/>
            </a:endParaRPr>
          </a:p>
          <a:p>
            <a:pPr marL="676275">
              <a:lnSpc>
                <a:spcPct val="90000"/>
              </a:lnSpc>
              <a:spcBef>
                <a:spcPct val="0"/>
              </a:spcBef>
              <a:spcAft>
                <a:spcPts val="600"/>
              </a:spcAft>
              <a:tabLst/>
            </a:pPr>
            <a:r>
              <a:rPr lang="en-US" sz="4000" b="1" spc="-120">
                <a:latin typeface="+mj-lt"/>
                <a:ea typeface="+mj-ea"/>
                <a:cs typeface="+mj-cs"/>
              </a:rPr>
              <a:t>Tech Gloves</a:t>
            </a:r>
            <a:endParaRPr lang="en-US" sz="4000">
              <a:latin typeface="+mj-lt"/>
              <a:ea typeface="+mj-ea"/>
              <a:cs typeface="+mj-cs"/>
            </a:endParaRPr>
          </a:p>
        </p:txBody>
      </p:sp>
      <p:sp>
        <p:nvSpPr>
          <p:cNvPr id="7" name="TextBox 6">
            <a:extLst>
              <a:ext uri="{FF2B5EF4-FFF2-40B4-BE49-F238E27FC236}">
                <a16:creationId xmlns:a16="http://schemas.microsoft.com/office/drawing/2014/main" id="{CBBFC223-A0EA-D05B-4AA6-E3077137EADC}"/>
              </a:ext>
            </a:extLst>
          </p:cNvPr>
          <p:cNvSpPr txBox="1"/>
          <p:nvPr/>
        </p:nvSpPr>
        <p:spPr>
          <a:xfrm>
            <a:off x="7949186" y="2386823"/>
            <a:ext cx="3822189" cy="3742762"/>
          </a:xfrm>
          <a:prstGeom prst="rect">
            <a:avLst/>
          </a:prstGeom>
        </p:spPr>
        <p:txBody>
          <a:bodyPr vert="horz" lIns="91440" tIns="45720" rIns="91440" bIns="45720" rtlCol="0">
            <a:normAutofit/>
          </a:bodyPr>
          <a:lstStyle/>
          <a:p>
            <a:pPr>
              <a:lnSpc>
                <a:spcPct val="90000"/>
              </a:lnSpc>
              <a:spcAft>
                <a:spcPts val="600"/>
              </a:spcAft>
            </a:pPr>
            <a:r>
              <a:rPr lang="en-US" sz="1700" dirty="0"/>
              <a:t>It most likely will not look like the image and is intended to only be worn on one hand with minimal to no obstruction.</a:t>
            </a:r>
          </a:p>
          <a:p>
            <a:pPr indent="-228600">
              <a:lnSpc>
                <a:spcPct val="90000"/>
              </a:lnSpc>
              <a:spcAft>
                <a:spcPts val="600"/>
              </a:spcAft>
              <a:buFont typeface="Arial" panose="020B0604020202020204" pitchFamily="34" charset="0"/>
              <a:buChar char="•"/>
            </a:pPr>
            <a:endParaRPr lang="en-US" sz="1700" dirty="0"/>
          </a:p>
          <a:p>
            <a:pPr>
              <a:lnSpc>
                <a:spcPct val="90000"/>
              </a:lnSpc>
              <a:spcAft>
                <a:spcPts val="600"/>
              </a:spcAft>
            </a:pPr>
            <a:r>
              <a:rPr lang="en-US" sz="1700" dirty="0"/>
              <a:t>Initial prototypes will use mini electromagnetic fields created by completing a circuit to simulate inputs.</a:t>
            </a:r>
          </a:p>
          <a:p>
            <a:pPr indent="-228600">
              <a:lnSpc>
                <a:spcPct val="90000"/>
              </a:lnSpc>
              <a:spcAft>
                <a:spcPts val="600"/>
              </a:spcAft>
              <a:buFont typeface="Arial" panose="020B0604020202020204" pitchFamily="34" charset="0"/>
              <a:buChar char="•"/>
            </a:pPr>
            <a:endParaRPr lang="en-US" sz="1700" dirty="0"/>
          </a:p>
          <a:p>
            <a:pPr>
              <a:lnSpc>
                <a:spcPct val="90000"/>
              </a:lnSpc>
              <a:spcAft>
                <a:spcPts val="600"/>
              </a:spcAft>
            </a:pPr>
            <a:r>
              <a:rPr lang="en-US" sz="1700" dirty="0"/>
              <a:t>This would be a supplemental product in a family of products. Will be used with Smart Glasses as a user input device.</a:t>
            </a:r>
          </a:p>
        </p:txBody>
      </p:sp>
    </p:spTree>
    <p:extLst>
      <p:ext uri="{BB962C8B-B14F-4D97-AF65-F5344CB8AC3E}">
        <p14:creationId xmlns:p14="http://schemas.microsoft.com/office/powerpoint/2010/main" val="22721337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ack view of a person's skeleton&#10;&#10;AI-generated content may be incorrect.">
            <a:extLst>
              <a:ext uri="{FF2B5EF4-FFF2-40B4-BE49-F238E27FC236}">
                <a16:creationId xmlns:a16="http://schemas.microsoft.com/office/drawing/2014/main" id="{F43ABA43-D771-B2F8-9A9B-DF97D2DA20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18">
            <a:extLst>
              <a:ext uri="{FF2B5EF4-FFF2-40B4-BE49-F238E27FC236}">
                <a16:creationId xmlns:a16="http://schemas.microsoft.com/office/drawing/2014/main" id="{0AEE773D-B9CE-176E-3693-6640A56800D7}"/>
              </a:ext>
            </a:extLst>
          </p:cNvPr>
          <p:cNvSpPr/>
          <p:nvPr/>
        </p:nvSpPr>
        <p:spPr>
          <a:xfrm>
            <a:off x="523875" y="5317240"/>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tabLst/>
            </a:pPr>
            <a:endParaRPr lang="en-US" sz="2000" dirty="0">
              <a:solidFill>
                <a:schemeClr val="tx1">
                  <a:lumMod val="85000"/>
                  <a:lumOff val="15000"/>
                </a:schemeClr>
              </a:solidFill>
              <a:latin typeface="+mj-lt"/>
              <a:ea typeface="+mj-ea"/>
              <a:cs typeface="+mj-cs"/>
            </a:endParaRP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8126CD0-15B2-B17E-EF5C-7DDE94408F66}"/>
              </a:ext>
            </a:extLst>
          </p:cNvPr>
          <p:cNvSpPr txBox="1"/>
          <p:nvPr/>
        </p:nvSpPr>
        <p:spPr>
          <a:xfrm>
            <a:off x="4048186" y="1402439"/>
            <a:ext cx="3542181" cy="1077218"/>
          </a:xfrm>
          <a:prstGeom prst="rect">
            <a:avLst/>
          </a:prstGeom>
          <a:noFill/>
        </p:spPr>
        <p:txBody>
          <a:bodyPr wrap="square" rtlCol="0">
            <a:spAutoFit/>
          </a:bodyPr>
          <a:lstStyle/>
          <a:p>
            <a:pPr algn="ctr"/>
            <a:r>
              <a:rPr lang="en-US" sz="3200" b="1" spc="-120" dirty="0">
                <a:solidFill>
                  <a:schemeClr val="bg1"/>
                </a:solidFill>
              </a:rPr>
              <a:t>Bone Conduction Tech</a:t>
            </a:r>
            <a:endParaRPr lang="en-US" sz="3200" dirty="0">
              <a:solidFill>
                <a:schemeClr val="bg1"/>
              </a:solidFill>
            </a:endParaRPr>
          </a:p>
        </p:txBody>
      </p:sp>
      <p:sp>
        <p:nvSpPr>
          <p:cNvPr id="6" name="TextBox 5">
            <a:extLst>
              <a:ext uri="{FF2B5EF4-FFF2-40B4-BE49-F238E27FC236}">
                <a16:creationId xmlns:a16="http://schemas.microsoft.com/office/drawing/2014/main" id="{11434B21-F3D2-B788-4E20-5C142CD205C8}"/>
              </a:ext>
            </a:extLst>
          </p:cNvPr>
          <p:cNvSpPr txBox="1"/>
          <p:nvPr/>
        </p:nvSpPr>
        <p:spPr>
          <a:xfrm>
            <a:off x="1126067" y="5376333"/>
            <a:ext cx="9736666" cy="646331"/>
          </a:xfrm>
          <a:prstGeom prst="rect">
            <a:avLst/>
          </a:prstGeom>
          <a:noFill/>
        </p:spPr>
        <p:txBody>
          <a:bodyPr wrap="square" rtlCol="0">
            <a:spAutoFit/>
          </a:bodyPr>
          <a:lstStyle/>
          <a:p>
            <a:r>
              <a:rPr lang="en-US" dirty="0"/>
              <a:t>Bone conduction technology is another piece of tech that is currently used primarily for music/headphones, but we think there is a wider array of applications for this technology.</a:t>
            </a:r>
          </a:p>
        </p:txBody>
      </p:sp>
    </p:spTree>
    <p:extLst>
      <p:ext uri="{BB962C8B-B14F-4D97-AF65-F5344CB8AC3E}">
        <p14:creationId xmlns:p14="http://schemas.microsoft.com/office/powerpoint/2010/main" val="3444514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18">
            <a:extLst>
              <a:ext uri="{FF2B5EF4-FFF2-40B4-BE49-F238E27FC236}">
                <a16:creationId xmlns:a16="http://schemas.microsoft.com/office/drawing/2014/main" id="{C1016844-FAB3-FD60-67F6-0D1B15B391A4}"/>
              </a:ext>
            </a:extLst>
          </p:cNvPr>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76275" algn="l" rtl="0" eaLnBrk="0">
              <a:lnSpc>
                <a:spcPts val="3881"/>
              </a:lnSpc>
              <a:tabLst/>
            </a:pPr>
            <a:r>
              <a:rPr sz="2800" b="1" kern="0" spc="-120" dirty="0">
                <a:solidFill>
                  <a:srgbClr val="FFFFFF">
                    <a:alpha val="100000"/>
                  </a:srgbClr>
                </a:solidFill>
                <a:latin typeface="Tahoma"/>
                <a:ea typeface="Tahoma"/>
                <a:cs typeface="Tahoma"/>
              </a:rPr>
              <a:t>Technology</a:t>
            </a:r>
            <a:endParaRPr sz="2800" dirty="0">
              <a:latin typeface="Tahoma"/>
              <a:ea typeface="Tahoma"/>
              <a:cs typeface="Tahoma"/>
            </a:endParaRPr>
          </a:p>
        </p:txBody>
      </p:sp>
      <p:sp>
        <p:nvSpPr>
          <p:cNvPr id="5" name="TextBox 4">
            <a:extLst>
              <a:ext uri="{FF2B5EF4-FFF2-40B4-BE49-F238E27FC236}">
                <a16:creationId xmlns:a16="http://schemas.microsoft.com/office/drawing/2014/main" id="{E11A7CA3-57DF-F1D3-EA37-EABFE60AF3AC}"/>
              </a:ext>
            </a:extLst>
          </p:cNvPr>
          <p:cNvSpPr txBox="1"/>
          <p:nvPr/>
        </p:nvSpPr>
        <p:spPr>
          <a:xfrm>
            <a:off x="215900" y="1223433"/>
            <a:ext cx="11785600" cy="5355312"/>
          </a:xfrm>
          <a:prstGeom prst="rect">
            <a:avLst/>
          </a:prstGeom>
          <a:noFill/>
        </p:spPr>
        <p:txBody>
          <a:bodyPr wrap="square" rtlCol="0">
            <a:spAutoFit/>
          </a:bodyPr>
          <a:lstStyle/>
          <a:p>
            <a:r>
              <a:rPr lang="en-US" dirty="0"/>
              <a:t>Those are just some of the ideas we have for technological advances, this does not include the platform and spaces that we plan to create to synergize with the tech we create. For example, we plan to create our own extranet designed to provide our members with the most accurate information in as secure a location as possible. Free of advertisements and fluff designed to distract you from your goals.</a:t>
            </a:r>
          </a:p>
          <a:p>
            <a:endParaRPr lang="en-US" dirty="0"/>
          </a:p>
          <a:p>
            <a:r>
              <a:rPr lang="en-US" dirty="0"/>
              <a:t>Not only an extranet, but we also plan to superimpose complete experiences over the physical world designed to augment reality into a visual representation that reflects our community. Imagine walking into a restaurant and seeing information that other Vonguulians have left about the place from quality to moments shared or looking at an assuming house in the physical world that transforms into a completely new and fresh experience in the augmented world.</a:t>
            </a:r>
          </a:p>
          <a:p>
            <a:endParaRPr lang="en-US" dirty="0"/>
          </a:p>
          <a:p>
            <a:r>
              <a:rPr lang="en-US" dirty="0"/>
              <a:t>We are supposed to be the future, the pioneers of ideas that others can’t fathom the value of. It becomes a cultural recreation of the famous quote, “And those who were seen dancing were thought to be insane by those who could not hear the music.”</a:t>
            </a:r>
          </a:p>
          <a:p>
            <a:endParaRPr lang="en-US" dirty="0"/>
          </a:p>
          <a:p>
            <a:r>
              <a:rPr lang="en-US" dirty="0"/>
              <a:t>Our tech will be designed to create experiences that align with what makes sense. Instead of going against the natural way of doing things we take an approach that considers the whole. We acknowledge the differences and the importance of each side while trying to create harmony from the opposing forces. We aim to move with confidence.</a:t>
            </a:r>
          </a:p>
        </p:txBody>
      </p:sp>
    </p:spTree>
    <p:extLst>
      <p:ext uri="{BB962C8B-B14F-4D97-AF65-F5344CB8AC3E}">
        <p14:creationId xmlns:p14="http://schemas.microsoft.com/office/powerpoint/2010/main" val="21307181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extbox 288"/>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endParaRPr sz="2700" dirty="0">
              <a:latin typeface="Tahoma"/>
              <a:ea typeface="Tahoma"/>
              <a:cs typeface="Tahoma"/>
            </a:endParaRPr>
          </a:p>
        </p:txBody>
      </p:sp>
      <p:sp>
        <p:nvSpPr>
          <p:cNvPr id="2" name="TextBox 1">
            <a:extLst>
              <a:ext uri="{FF2B5EF4-FFF2-40B4-BE49-F238E27FC236}">
                <a16:creationId xmlns:a16="http://schemas.microsoft.com/office/drawing/2014/main" id="{785FD499-E6EF-A1E4-C836-B2D02758E113}"/>
              </a:ext>
            </a:extLst>
          </p:cNvPr>
          <p:cNvSpPr txBox="1"/>
          <p:nvPr/>
        </p:nvSpPr>
        <p:spPr>
          <a:xfrm>
            <a:off x="135467" y="1299633"/>
            <a:ext cx="11908366" cy="5355312"/>
          </a:xfrm>
          <a:prstGeom prst="rect">
            <a:avLst/>
          </a:prstGeom>
          <a:noFill/>
        </p:spPr>
        <p:txBody>
          <a:bodyPr wrap="square" rtlCol="0">
            <a:spAutoFit/>
          </a:bodyPr>
          <a:lstStyle/>
          <a:p>
            <a:r>
              <a:rPr lang="en-US" dirty="0"/>
              <a:t>Maybe except for the tech section, I have been told that many of the concepts and ideas that Vonguul promotes have been attempted before, and the question becomes what is Vonguul doing different? What is the secret sauce that we bring to the table? </a:t>
            </a:r>
          </a:p>
          <a:p>
            <a:endParaRPr lang="en-US" dirty="0"/>
          </a:p>
          <a:p>
            <a:r>
              <a:rPr lang="en-US" dirty="0"/>
              <a:t>Respect to our predecessors, our X-Factor comes from the abundant history we have of their accolades, their victories and challenges faced. With that history we can learn from what worked, what didn’t work, and how we can go further this time. From Malcolm X and Martin Luther King Jr to Huey P Newton and Bobby Seale. We are talking about civil rights movements, self defense initiatives, and community outreach programs. We are talking about equipping ourselves with the adequate amount of knowledge needed, to justify the necessary amount of action we will be required to apply.</a:t>
            </a:r>
          </a:p>
          <a:p>
            <a:endParaRPr lang="en-US" dirty="0"/>
          </a:p>
          <a:p>
            <a:r>
              <a:rPr lang="en-US" dirty="0"/>
              <a:t>We are not creating a new black panther party, we are bringing Vonguul to the forefront of activism for the betterment of our collective. Where others choose to protest and boycott, we have chosen to draw a clear distinction between us and them. Infiltration and betrayal have been key factors keeping us from our full potential, and we can’t depend on what our physical eyes see to determine who our allies and opponents are. </a:t>
            </a:r>
          </a:p>
          <a:p>
            <a:endParaRPr lang="en-US" dirty="0"/>
          </a:p>
          <a:p>
            <a:r>
              <a:rPr lang="en-US" dirty="0"/>
              <a:t>We have had the blueprint for a while, and all we need is the right plan to navigate the obstacles we will face. I can’t in good conscious, give all the details of what our X-Factor is, but what I can do is share a bit of history that, though we won’t reenact, we have drawn inspiration from.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88">
            <a:extLst>
              <a:ext uri="{FF2B5EF4-FFF2-40B4-BE49-F238E27FC236}">
                <a16:creationId xmlns:a16="http://schemas.microsoft.com/office/drawing/2014/main" id="{62D3F18F-62F4-59D7-0C12-323337ECC4D9}"/>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a:t>
            </a:r>
            <a:endParaRPr sz="2700" dirty="0">
              <a:latin typeface="Tahoma"/>
              <a:ea typeface="Tahoma"/>
              <a:cs typeface="Tahoma"/>
            </a:endParaRPr>
          </a:p>
        </p:txBody>
      </p:sp>
      <p:sp>
        <p:nvSpPr>
          <p:cNvPr id="3" name="TextBox 2">
            <a:extLst>
              <a:ext uri="{FF2B5EF4-FFF2-40B4-BE49-F238E27FC236}">
                <a16:creationId xmlns:a16="http://schemas.microsoft.com/office/drawing/2014/main" id="{0C14C2CD-3B53-8C49-3298-466180F0DBEC}"/>
              </a:ext>
            </a:extLst>
          </p:cNvPr>
          <p:cNvSpPr txBox="1"/>
          <p:nvPr/>
        </p:nvSpPr>
        <p:spPr>
          <a:xfrm>
            <a:off x="177799" y="1358901"/>
            <a:ext cx="11836400" cy="5078313"/>
          </a:xfrm>
          <a:prstGeom prst="rect">
            <a:avLst/>
          </a:prstGeom>
          <a:noFill/>
        </p:spPr>
        <p:txBody>
          <a:bodyPr wrap="square" rtlCol="0">
            <a:spAutoFit/>
          </a:bodyPr>
          <a:lstStyle/>
          <a:p>
            <a:pPr fontAlgn="base"/>
            <a:r>
              <a:rPr lang="en-US" dirty="0"/>
              <a:t>The party was founded in </a:t>
            </a:r>
            <a:r>
              <a:rPr lang="en-US" b="1" dirty="0"/>
              <a:t>October 1966</a:t>
            </a:r>
            <a:r>
              <a:rPr lang="en-US" dirty="0"/>
              <a:t> in </a:t>
            </a:r>
            <a:r>
              <a:rPr lang="en-US" b="1" dirty="0"/>
              <a:t>Oakland, California</a:t>
            </a:r>
            <a:r>
              <a:rPr lang="en-US" dirty="0"/>
              <a:t>, by two young activists, </a:t>
            </a:r>
            <a:r>
              <a:rPr lang="en-US" b="1" dirty="0"/>
              <a:t>Huey P. Newton</a:t>
            </a:r>
            <a:r>
              <a:rPr lang="en-US" dirty="0"/>
              <a:t> and </a:t>
            </a:r>
            <a:r>
              <a:rPr lang="en-US" b="1" dirty="0"/>
              <a:t>Bobby Seale</a:t>
            </a:r>
            <a:r>
              <a:rPr lang="en-US" dirty="0"/>
              <a:t>. They met while they were students at Merritt College.</a:t>
            </a:r>
          </a:p>
          <a:p>
            <a:pPr fontAlgn="base"/>
            <a:endParaRPr lang="en-US" dirty="0"/>
          </a:p>
          <a:p>
            <a:pPr fontAlgn="base"/>
            <a:r>
              <a:rPr lang="en-US" b="1" dirty="0"/>
              <a:t>The Context:</a:t>
            </a:r>
            <a:r>
              <a:rPr lang="en-US" dirty="0"/>
              <a:t> By the mid-1960s, the Civil Rights Movement had achieved major legislative victories like the Civil Rights Act of 1964 and the Voting Rights Act of 1965. However, for many Black Americans in urban centers like Oakland, these legal changes did not translate into an improved daily reality. They still faced rampant poverty, substandard housing, unemployment, and, most critically, frequent and often violent harassment by the police.</a:t>
            </a:r>
          </a:p>
          <a:p>
            <a:pPr fontAlgn="base"/>
            <a:endParaRPr lang="en-US" dirty="0"/>
          </a:p>
          <a:p>
            <a:pPr fontAlgn="base"/>
            <a:r>
              <a:rPr lang="en-US" b="1" dirty="0"/>
              <a:t>Influence of Malcolm X:</a:t>
            </a:r>
            <a:r>
              <a:rPr lang="en-US" dirty="0"/>
              <a:t> Newton and Seale were deeply influenced by the more radical teachings of Malcolm X, who had advocated for Black self-defense, self-determination, and Black nationalism, in contrast to the non-violent approach of Dr. Martin Luther King Jr.</a:t>
            </a:r>
          </a:p>
          <a:p>
            <a:pPr fontAlgn="base"/>
            <a:endParaRPr lang="en-US" b="1" dirty="0"/>
          </a:p>
          <a:p>
            <a:pPr fontAlgn="base"/>
            <a:r>
              <a:rPr lang="en-US" b="1" dirty="0"/>
              <a:t>The Catalyst: Police Brutality</a:t>
            </a:r>
          </a:p>
          <a:p>
            <a:pPr fontAlgn="base"/>
            <a:endParaRPr lang="en-US" b="1" dirty="0"/>
          </a:p>
          <a:p>
            <a:pPr fontAlgn="base"/>
            <a:r>
              <a:rPr lang="en-US" dirty="0"/>
              <a:t>The immediate catalyst for the party’s formation was the </a:t>
            </a:r>
            <a:r>
              <a:rPr lang="en-US" b="1" dirty="0"/>
              <a:t>killing of an unarmed 16-year-old Black youth, Matthew Johnson, by Oakland police in July 1966</a:t>
            </a:r>
            <a:r>
              <a:rPr lang="en-US" dirty="0"/>
              <a:t>. The shooting sparked days of protests and unrest in the city. For Newton and Seale, this event was the final proof that the system was not going to protect Black people and that they had to protect themselves.</a:t>
            </a:r>
          </a:p>
        </p:txBody>
      </p:sp>
    </p:spTree>
    <p:extLst>
      <p:ext uri="{BB962C8B-B14F-4D97-AF65-F5344CB8AC3E}">
        <p14:creationId xmlns:p14="http://schemas.microsoft.com/office/powerpoint/2010/main" val="3763983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0D97F2-1AD9-C3C0-E980-DBC5E0F85B8E}"/>
              </a:ext>
            </a:extLst>
          </p:cNvPr>
          <p:cNvSpPr txBox="1"/>
          <p:nvPr/>
        </p:nvSpPr>
        <p:spPr>
          <a:xfrm>
            <a:off x="262465" y="1418166"/>
            <a:ext cx="11667067" cy="4524315"/>
          </a:xfrm>
          <a:prstGeom prst="rect">
            <a:avLst/>
          </a:prstGeom>
          <a:noFill/>
        </p:spPr>
        <p:txBody>
          <a:bodyPr wrap="square" rtlCol="0">
            <a:spAutoFit/>
          </a:bodyPr>
          <a:lstStyle/>
          <a:p>
            <a:pPr fontAlgn="base"/>
            <a:r>
              <a:rPr lang="en-US" b="1" dirty="0"/>
              <a:t>The Founding and Initial Strategy</a:t>
            </a:r>
          </a:p>
          <a:p>
            <a:pPr fontAlgn="base"/>
            <a:endParaRPr lang="en-US" b="1" dirty="0"/>
          </a:p>
          <a:p>
            <a:pPr fontAlgn="base"/>
            <a:r>
              <a:rPr lang="en-US" dirty="0"/>
              <a:t>Newton and Seale drafted the </a:t>
            </a:r>
            <a:r>
              <a:rPr lang="en-US" b="1" dirty="0"/>
              <a:t>Ten-Point Program</a:t>
            </a:r>
            <a:r>
              <a:rPr lang="en-US" dirty="0"/>
              <a:t>, which outlined the party’s goals and demands. It called for things like freedom, full employment, decent housing, education that taught Black history, and an immediate end to police brutality and the murder of Black people.</a:t>
            </a:r>
          </a:p>
          <a:p>
            <a:pPr fontAlgn="base"/>
            <a:endParaRPr lang="en-US" dirty="0"/>
          </a:p>
          <a:p>
            <a:pPr fontAlgn="base"/>
            <a:r>
              <a:rPr lang="en-US" dirty="0"/>
              <a:t>Their first and most famous action was the creation of </a:t>
            </a:r>
            <a:r>
              <a:rPr lang="en-US" b="1" dirty="0"/>
              <a:t>armed citizen patrols</a:t>
            </a:r>
            <a:r>
              <a:rPr lang="en-US" dirty="0"/>
              <a:t> to monitor the Oakland Police Department.</a:t>
            </a:r>
          </a:p>
          <a:p>
            <a:pPr fontAlgn="base"/>
            <a:endParaRPr lang="en-US" dirty="0"/>
          </a:p>
          <a:p>
            <a:pPr fontAlgn="base"/>
            <a:r>
              <a:rPr lang="en-US" b="1" dirty="0"/>
              <a:t>How it worked:</a:t>
            </a:r>
            <a:r>
              <a:rPr lang="en-US" dirty="0"/>
              <a:t> Panther members, who were legally armed, would follow police cars at a safe distance. When the police stopped a Black civilian, the Panthers would emerge from their cars, stand at a legal distance with their shotguns (often slung over their shoulders), and observe the interaction to ensure no brutality occurred.</a:t>
            </a:r>
          </a:p>
          <a:p>
            <a:pPr fontAlgn="base"/>
            <a:endParaRPr lang="en-US" b="1" dirty="0"/>
          </a:p>
          <a:p>
            <a:pPr fontAlgn="base"/>
            <a:r>
              <a:rPr lang="en-US" b="1" dirty="0"/>
              <a:t>The Impact:</a:t>
            </a:r>
            <a:r>
              <a:rPr lang="en-US" dirty="0"/>
              <a:t> This tactic was revolutionary. It was a direct, visible challenge to police authority and empowered the local Black community. The image of armed, disciplined Black Panthers in leather jackets and berets standing up to the police quickly gained national attention.</a:t>
            </a:r>
          </a:p>
        </p:txBody>
      </p:sp>
      <p:sp>
        <p:nvSpPr>
          <p:cNvPr id="3" name="textbox 288">
            <a:extLst>
              <a:ext uri="{FF2B5EF4-FFF2-40B4-BE49-F238E27FC236}">
                <a16:creationId xmlns:a16="http://schemas.microsoft.com/office/drawing/2014/main" id="{C6F2A8DB-44C3-22DE-7FB0-5E7922A2D518}"/>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a:t>
            </a:r>
            <a:endParaRPr sz="2700" dirty="0">
              <a:latin typeface="Tahoma"/>
              <a:ea typeface="Tahoma"/>
              <a:cs typeface="Tahoma"/>
            </a:endParaRPr>
          </a:p>
        </p:txBody>
      </p:sp>
    </p:spTree>
    <p:extLst>
      <p:ext uri="{BB962C8B-B14F-4D97-AF65-F5344CB8AC3E}">
        <p14:creationId xmlns:p14="http://schemas.microsoft.com/office/powerpoint/2010/main" val="19639003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BE838-8D2E-2304-0F0A-22EB481AA4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512CDC-A423-F316-99AD-97D809E093E4}"/>
              </a:ext>
            </a:extLst>
          </p:cNvPr>
          <p:cNvSpPr txBox="1"/>
          <p:nvPr/>
        </p:nvSpPr>
        <p:spPr>
          <a:xfrm>
            <a:off x="262465" y="1257300"/>
            <a:ext cx="11667067" cy="5078313"/>
          </a:xfrm>
          <a:prstGeom prst="rect">
            <a:avLst/>
          </a:prstGeom>
          <a:noFill/>
        </p:spPr>
        <p:txBody>
          <a:bodyPr wrap="square" rtlCol="0">
            <a:spAutoFit/>
          </a:bodyPr>
          <a:lstStyle/>
          <a:p>
            <a:pPr fontAlgn="base"/>
            <a:r>
              <a:rPr lang="en-US" b="1" dirty="0"/>
              <a:t>The Name</a:t>
            </a:r>
          </a:p>
          <a:p>
            <a:pPr fontAlgn="base"/>
            <a:endParaRPr lang="en-US" b="1" dirty="0"/>
          </a:p>
          <a:p>
            <a:pPr fontAlgn="base"/>
            <a:r>
              <a:rPr lang="en-US" dirty="0"/>
              <a:t>The name “Black Panther” was chosen because it was powerful and symbolized strength. It was inspired by the </a:t>
            </a:r>
            <a:r>
              <a:rPr lang="en-US" b="1" dirty="0"/>
              <a:t>Lowndes County Freedom Organization (LCFO)</a:t>
            </a:r>
            <a:r>
              <a:rPr lang="en-US" dirty="0"/>
              <a:t> in Alabama, an independent Black political party that had adopted a black panther as its mascot for the 1966 elections. Newton and Seale adopted the symbol and the name for their new organization.</a:t>
            </a:r>
          </a:p>
          <a:p>
            <a:pPr fontAlgn="base"/>
            <a:endParaRPr lang="en-US" dirty="0"/>
          </a:p>
          <a:p>
            <a:pPr fontAlgn="base"/>
            <a:r>
              <a:rPr lang="en-US" b="1" dirty="0"/>
              <a:t>Evolution Beyond Self-Defense</a:t>
            </a:r>
          </a:p>
          <a:p>
            <a:pPr fontAlgn="base"/>
            <a:endParaRPr lang="en-US" b="1" dirty="0"/>
          </a:p>
          <a:p>
            <a:pPr fontAlgn="base"/>
            <a:r>
              <a:rPr lang="en-US" dirty="0"/>
              <a:t>While initially focused on armed self-defense, the party quickly evolved. They recognized that true liberation also required meeting the community’s immediate needs. This led to the creation of over </a:t>
            </a:r>
            <a:r>
              <a:rPr lang="en-US" b="1" dirty="0"/>
              <a:t>60 “Survival Programs,”</a:t>
            </a:r>
            <a:r>
              <a:rPr lang="en-US" dirty="0"/>
              <a:t> the most famous of which was the </a:t>
            </a:r>
            <a:r>
              <a:rPr lang="en-US" b="1" dirty="0"/>
              <a:t>Free Breakfast for Children Program</a:t>
            </a:r>
            <a:r>
              <a:rPr lang="en-US" dirty="0"/>
              <a:t>. Other programs included free health clinics, food drives, legal aid, and clothing drives.</a:t>
            </a:r>
          </a:p>
          <a:p>
            <a:pPr fontAlgn="base"/>
            <a:endParaRPr lang="en-US" dirty="0"/>
          </a:p>
          <a:p>
            <a:pPr fontAlgn="base"/>
            <a:r>
              <a:rPr lang="en-US" b="1" dirty="0"/>
              <a:t>In conclusion</a:t>
            </a:r>
          </a:p>
          <a:p>
            <a:pPr fontAlgn="base"/>
            <a:endParaRPr lang="en-US" b="1" dirty="0"/>
          </a:p>
          <a:p>
            <a:pPr fontAlgn="base"/>
            <a:r>
              <a:rPr lang="en-US" dirty="0"/>
              <a:t>They combined militant self-defense with community-based social programs, creating a model of Black empowerment that was both revolutionary and practical.</a:t>
            </a:r>
            <a:endParaRPr lang="en-US" b="1" dirty="0"/>
          </a:p>
        </p:txBody>
      </p:sp>
      <p:sp>
        <p:nvSpPr>
          <p:cNvPr id="3" name="textbox 288">
            <a:extLst>
              <a:ext uri="{FF2B5EF4-FFF2-40B4-BE49-F238E27FC236}">
                <a16:creationId xmlns:a16="http://schemas.microsoft.com/office/drawing/2014/main" id="{3ACBC797-05A0-2A07-68D1-EBB7936546A4}"/>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a:t>
            </a:r>
            <a:endParaRPr sz="2700" dirty="0">
              <a:latin typeface="Tahoma"/>
              <a:ea typeface="Tahoma"/>
              <a:cs typeface="Tahoma"/>
            </a:endParaRPr>
          </a:p>
        </p:txBody>
      </p:sp>
    </p:spTree>
    <p:extLst>
      <p:ext uri="{BB962C8B-B14F-4D97-AF65-F5344CB8AC3E}">
        <p14:creationId xmlns:p14="http://schemas.microsoft.com/office/powerpoint/2010/main" val="4203482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842FD-D563-8607-6473-41A9AA56E9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239B63-CA2A-A76D-557E-73659AAC49C6}"/>
              </a:ext>
            </a:extLst>
          </p:cNvPr>
          <p:cNvSpPr txBox="1"/>
          <p:nvPr/>
        </p:nvSpPr>
        <p:spPr>
          <a:xfrm>
            <a:off x="262465" y="1257300"/>
            <a:ext cx="11667067" cy="5170646"/>
          </a:xfrm>
          <a:prstGeom prst="rect">
            <a:avLst/>
          </a:prstGeom>
          <a:noFill/>
        </p:spPr>
        <p:txBody>
          <a:bodyPr wrap="square" rtlCol="0">
            <a:spAutoFit/>
          </a:bodyPr>
          <a:lstStyle/>
          <a:p>
            <a:pPr algn="l" fontAlgn="base">
              <a:lnSpc>
                <a:spcPts val="1950"/>
              </a:lnSpc>
              <a:spcBef>
                <a:spcPts val="1200"/>
              </a:spcBef>
              <a:buNone/>
            </a:pPr>
            <a:r>
              <a:rPr lang="en-US" b="1" i="0" dirty="0">
                <a:solidFill>
                  <a:srgbClr val="1A2029"/>
                </a:solidFill>
                <a:effectLst/>
                <a:latin typeface="-apple-system"/>
              </a:rPr>
              <a:t>External Pressure: The FBI’s COINTELPRO Program</a:t>
            </a:r>
          </a:p>
          <a:p>
            <a:pPr algn="l" fontAlgn="base">
              <a:lnSpc>
                <a:spcPts val="2025"/>
              </a:lnSpc>
              <a:spcBef>
                <a:spcPts val="600"/>
              </a:spcBef>
              <a:buNone/>
            </a:pPr>
            <a:r>
              <a:rPr lang="en-US" b="0" i="0" dirty="0">
                <a:solidFill>
                  <a:srgbClr val="1A2029"/>
                </a:solidFill>
                <a:effectLst/>
                <a:latin typeface="-apple-system"/>
              </a:rPr>
              <a:t>The single most significant external factor for the Black Panther Party’s fall, was the FBI’s covert and illegal </a:t>
            </a:r>
            <a:r>
              <a:rPr lang="en-US" b="1" i="0" dirty="0">
                <a:solidFill>
                  <a:srgbClr val="1A2029"/>
                </a:solidFill>
                <a:effectLst/>
                <a:latin typeface="-apple-system"/>
              </a:rPr>
              <a:t>COINTELPRO (Counterintelligence Program)</a:t>
            </a:r>
            <a:r>
              <a:rPr lang="en-US" b="0" i="0" dirty="0">
                <a:solidFill>
                  <a:srgbClr val="1A2029"/>
                </a:solidFill>
                <a:effectLst/>
                <a:latin typeface="-apple-system"/>
              </a:rPr>
              <a:t>. Directed by J. Edgar Hoover, the FBI declared the Black Panther Party “the greatest threat to the internal security of the country” and set out to “neutralize” it by any means necessary.</a:t>
            </a:r>
          </a:p>
          <a:p>
            <a:pPr algn="l" fontAlgn="base">
              <a:lnSpc>
                <a:spcPts val="2025"/>
              </a:lnSpc>
              <a:spcBef>
                <a:spcPts val="600"/>
              </a:spcBef>
              <a:buNone/>
            </a:pPr>
            <a:r>
              <a:rPr lang="en-US" b="0" i="0" dirty="0">
                <a:solidFill>
                  <a:srgbClr val="1A2029"/>
                </a:solidFill>
                <a:effectLst/>
                <a:latin typeface="-apple-system"/>
              </a:rPr>
              <a:t>Their tactics were ruthless and effective:</a:t>
            </a:r>
          </a:p>
          <a:p>
            <a:pPr algn="l" fontAlgn="base">
              <a:lnSpc>
                <a:spcPts val="2025"/>
              </a:lnSpc>
              <a:spcBef>
                <a:spcPts val="600"/>
              </a:spcBef>
            </a:pPr>
            <a:r>
              <a:rPr lang="en-US" b="1" i="0" dirty="0">
                <a:solidFill>
                  <a:srgbClr val="1A2029"/>
                </a:solidFill>
                <a:effectLst/>
                <a:latin typeface="-apple-system"/>
              </a:rPr>
              <a:t>Psychological Warfare:</a:t>
            </a:r>
            <a:r>
              <a:rPr lang="en-US" b="0" i="0" dirty="0">
                <a:solidFill>
                  <a:srgbClr val="1A2029"/>
                </a:solidFill>
                <a:effectLst/>
                <a:latin typeface="-apple-system"/>
              </a:rPr>
              <a:t> The FBI forged letters, spread false rumors in the media, and sent anonymous pamphlets to create paranoia and distrust within the party. They would forge letters between members to make it seem like others were planning to betray them.</a:t>
            </a:r>
          </a:p>
          <a:p>
            <a:pPr algn="l" fontAlgn="base">
              <a:lnSpc>
                <a:spcPts val="2025"/>
              </a:lnSpc>
              <a:spcBef>
                <a:spcPts val="600"/>
              </a:spcBef>
            </a:pPr>
            <a:r>
              <a:rPr lang="en-US" b="1" i="0" dirty="0">
                <a:solidFill>
                  <a:srgbClr val="1A2029"/>
                </a:solidFill>
                <a:effectLst/>
                <a:latin typeface="-apple-system"/>
              </a:rPr>
              <a:t>Instigating Violence:</a:t>
            </a:r>
            <a:r>
              <a:rPr lang="en-US" b="0" i="0" dirty="0">
                <a:solidFill>
                  <a:srgbClr val="1A2029"/>
                </a:solidFill>
                <a:effectLst/>
                <a:latin typeface="-apple-system"/>
              </a:rPr>
              <a:t> A primary goal was to pit the Panthers against other Black nationalist groups. The FBI’s most successful and deadly operation was instigating a feud between the Black Panthers and a rival group called the </a:t>
            </a:r>
            <a:r>
              <a:rPr lang="en-US" b="1" i="0" dirty="0">
                <a:solidFill>
                  <a:srgbClr val="1A2029"/>
                </a:solidFill>
                <a:effectLst/>
                <a:latin typeface="-apple-system"/>
              </a:rPr>
              <a:t>US Organization</a:t>
            </a:r>
            <a:r>
              <a:rPr lang="en-US" b="0" i="0" dirty="0">
                <a:solidFill>
                  <a:srgbClr val="1A2029"/>
                </a:solidFill>
                <a:effectLst/>
                <a:latin typeface="-apple-system"/>
              </a:rPr>
              <a:t>, leading to a series of deadly shootouts on both sides.</a:t>
            </a:r>
          </a:p>
          <a:p>
            <a:pPr algn="l" fontAlgn="base">
              <a:lnSpc>
                <a:spcPts val="2025"/>
              </a:lnSpc>
              <a:spcBef>
                <a:spcPts val="600"/>
              </a:spcBef>
            </a:pPr>
            <a:r>
              <a:rPr lang="en-US" b="1" i="0" dirty="0">
                <a:solidFill>
                  <a:srgbClr val="1A2029"/>
                </a:solidFill>
                <a:effectLst/>
                <a:latin typeface="-apple-system"/>
              </a:rPr>
              <a:t>Illegal Surveillance and Harassment:</a:t>
            </a:r>
            <a:r>
              <a:rPr lang="en-US" b="0" i="0" dirty="0">
                <a:solidFill>
                  <a:srgbClr val="1A2029"/>
                </a:solidFill>
                <a:effectLst/>
                <a:latin typeface="-apple-system"/>
              </a:rPr>
              <a:t> The FBI wiretapped phones, bugged homes, and conducted illegal break-ins to gather intelligence. They worked with local police to arrest Panther members on flimsy charges, draining the party’s resources with legal fees.</a:t>
            </a:r>
          </a:p>
          <a:p>
            <a:pPr algn="l" fontAlgn="base">
              <a:lnSpc>
                <a:spcPts val="2025"/>
              </a:lnSpc>
              <a:spcBef>
                <a:spcPts val="600"/>
              </a:spcBef>
            </a:pPr>
            <a:r>
              <a:rPr lang="en-US" b="1" i="0" dirty="0">
                <a:solidFill>
                  <a:srgbClr val="1A2029"/>
                </a:solidFill>
                <a:effectLst/>
                <a:latin typeface="-apple-system"/>
              </a:rPr>
              <a:t>Direct Violence and Extrajudicial Killings:</a:t>
            </a:r>
            <a:r>
              <a:rPr lang="en-US" b="0" i="0" dirty="0">
                <a:solidFill>
                  <a:srgbClr val="1A2029"/>
                </a:solidFill>
                <a:effectLst/>
                <a:latin typeface="-apple-system"/>
              </a:rPr>
              <a:t> COINTELPRO’s tactics culminated in direct police violence. The most infamous example is the </a:t>
            </a:r>
            <a:r>
              <a:rPr lang="en-US" b="1" i="0" dirty="0">
                <a:solidFill>
                  <a:srgbClr val="1A2029"/>
                </a:solidFill>
                <a:effectLst/>
                <a:latin typeface="-apple-system"/>
              </a:rPr>
              <a:t>1969 Chicago police raid</a:t>
            </a:r>
            <a:r>
              <a:rPr lang="en-US" b="0" i="0" dirty="0">
                <a:solidFill>
                  <a:srgbClr val="1A2029"/>
                </a:solidFill>
                <a:effectLst/>
                <a:latin typeface="-apple-system"/>
              </a:rPr>
              <a:t> that resulted in the assassination of </a:t>
            </a:r>
            <a:r>
              <a:rPr lang="en-US" b="1" i="0" dirty="0">
                <a:solidFill>
                  <a:srgbClr val="1A2029"/>
                </a:solidFill>
                <a:effectLst/>
                <a:latin typeface="-apple-system"/>
              </a:rPr>
              <a:t>Fred Hampton</a:t>
            </a:r>
            <a:r>
              <a:rPr lang="en-US" b="0" i="0" dirty="0">
                <a:solidFill>
                  <a:srgbClr val="1A2029"/>
                </a:solidFill>
                <a:effectLst/>
                <a:latin typeface="-apple-system"/>
              </a:rPr>
              <a:t>, a charismatic and highly effective Black Panther Party leader, while he was asleep in his bed. The raid was guided by an FBI informant who had drugged Hampton’s guard.</a:t>
            </a:r>
          </a:p>
        </p:txBody>
      </p:sp>
      <p:sp>
        <p:nvSpPr>
          <p:cNvPr id="3" name="textbox 288">
            <a:extLst>
              <a:ext uri="{FF2B5EF4-FFF2-40B4-BE49-F238E27FC236}">
                <a16:creationId xmlns:a16="http://schemas.microsoft.com/office/drawing/2014/main" id="{2C179A4D-64B1-5839-C2B1-320C38F10C06}"/>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 – The Fall</a:t>
            </a:r>
            <a:endParaRPr sz="2700" dirty="0">
              <a:latin typeface="Tahoma"/>
              <a:ea typeface="Tahoma"/>
              <a:cs typeface="Tahoma"/>
            </a:endParaRPr>
          </a:p>
        </p:txBody>
      </p:sp>
    </p:spTree>
    <p:extLst>
      <p:ext uri="{BB962C8B-B14F-4D97-AF65-F5344CB8AC3E}">
        <p14:creationId xmlns:p14="http://schemas.microsoft.com/office/powerpoint/2010/main" val="25215022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926C-0FCA-A3C7-CA77-A6A3164569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4E3F5D-587D-65A4-535F-54350FD6EFB0}"/>
              </a:ext>
            </a:extLst>
          </p:cNvPr>
          <p:cNvSpPr txBox="1"/>
          <p:nvPr/>
        </p:nvSpPr>
        <p:spPr>
          <a:xfrm>
            <a:off x="262465" y="1257300"/>
            <a:ext cx="11667067" cy="5350183"/>
          </a:xfrm>
          <a:prstGeom prst="rect">
            <a:avLst/>
          </a:prstGeom>
          <a:noFill/>
        </p:spPr>
        <p:txBody>
          <a:bodyPr wrap="square" rtlCol="0">
            <a:spAutoFit/>
          </a:bodyPr>
          <a:lstStyle/>
          <a:p>
            <a:pPr fontAlgn="base">
              <a:lnSpc>
                <a:spcPts val="1950"/>
              </a:lnSpc>
              <a:spcBef>
                <a:spcPts val="1200"/>
              </a:spcBef>
            </a:pPr>
            <a:r>
              <a:rPr lang="en-US" b="1" dirty="0">
                <a:solidFill>
                  <a:srgbClr val="1A2029"/>
                </a:solidFill>
                <a:latin typeface="-apple-system"/>
              </a:rPr>
              <a:t>Internal Conflicts and Ideological Splits</a:t>
            </a:r>
          </a:p>
          <a:p>
            <a:pPr fontAlgn="base">
              <a:lnSpc>
                <a:spcPts val="2025"/>
              </a:lnSpc>
              <a:spcBef>
                <a:spcPts val="600"/>
              </a:spcBef>
            </a:pPr>
            <a:r>
              <a:rPr lang="en-US" dirty="0">
                <a:solidFill>
                  <a:srgbClr val="1A2029"/>
                </a:solidFill>
                <a:latin typeface="-apple-system"/>
              </a:rPr>
              <a:t>While the government’s assault was relentless, the party was also tearing itself apart from within.</a:t>
            </a:r>
          </a:p>
          <a:p>
            <a:pPr fontAlgn="base">
              <a:lnSpc>
                <a:spcPts val="2025"/>
              </a:lnSpc>
              <a:spcBef>
                <a:spcPts val="1200"/>
              </a:spcBef>
              <a:spcAft>
                <a:spcPts val="450"/>
              </a:spcAft>
            </a:pPr>
            <a:r>
              <a:rPr lang="en-US" b="1" dirty="0">
                <a:solidFill>
                  <a:srgbClr val="1A2029"/>
                </a:solidFill>
                <a:latin typeface="-apple-system"/>
              </a:rPr>
              <a:t>Factionalism:</a:t>
            </a:r>
            <a:r>
              <a:rPr lang="en-US" dirty="0">
                <a:solidFill>
                  <a:srgbClr val="1A2029"/>
                </a:solidFill>
                <a:latin typeface="-apple-system"/>
              </a:rPr>
              <a:t> A major ideological rift developed between the party’s leadership in Oakland and the more militant, internationalist faction that had developed, largely around </a:t>
            </a:r>
            <a:r>
              <a:rPr lang="en-US" b="1" dirty="0">
                <a:solidFill>
                  <a:srgbClr val="1A2029"/>
                </a:solidFill>
                <a:latin typeface="-apple-system"/>
              </a:rPr>
              <a:t>Eldridge Cleaver</a:t>
            </a:r>
            <a:r>
              <a:rPr lang="en-US" dirty="0">
                <a:solidFill>
                  <a:srgbClr val="1A2029"/>
                </a:solidFill>
                <a:latin typeface="-apple-system"/>
              </a:rPr>
              <a:t>, who was in exile in Algeria.</a:t>
            </a:r>
          </a:p>
          <a:p>
            <a:pPr marL="742950" lvl="1" indent="-285750" fontAlgn="base">
              <a:lnSpc>
                <a:spcPts val="2025"/>
              </a:lnSpc>
              <a:spcBef>
                <a:spcPts val="600"/>
              </a:spcBef>
              <a:buFont typeface="Arial" panose="020B0604020202020204" pitchFamily="34" charset="0"/>
              <a:buChar char="•"/>
            </a:pPr>
            <a:r>
              <a:rPr lang="en-US" b="1" dirty="0">
                <a:solidFill>
                  <a:srgbClr val="1A2029"/>
                </a:solidFill>
                <a:latin typeface="-apple-system"/>
              </a:rPr>
              <a:t>The Oakland Faction (led by Huey Newton):</a:t>
            </a:r>
            <a:r>
              <a:rPr lang="en-US" dirty="0">
                <a:solidFill>
                  <a:srgbClr val="1A2029"/>
                </a:solidFill>
                <a:latin typeface="-apple-system"/>
              </a:rPr>
              <a:t> After his release from prison in 1970, Newton began to emphasize community programs (“Survival Programs”) over armed confrontation.</a:t>
            </a:r>
          </a:p>
          <a:p>
            <a:pPr marL="742950" lvl="1" indent="-285750" fontAlgn="base">
              <a:lnSpc>
                <a:spcPts val="2025"/>
              </a:lnSpc>
              <a:spcBef>
                <a:spcPts val="600"/>
              </a:spcBef>
              <a:buFont typeface="Arial" panose="020B0604020202020204" pitchFamily="34" charset="0"/>
              <a:buChar char="•"/>
            </a:pPr>
            <a:r>
              <a:rPr lang="en-US" b="1" dirty="0">
                <a:solidFill>
                  <a:srgbClr val="1A2029"/>
                </a:solidFill>
                <a:latin typeface="-apple-system"/>
              </a:rPr>
              <a:t>The “Revolutionary” Faction (led by Cleaver):</a:t>
            </a:r>
            <a:r>
              <a:rPr lang="en-US" dirty="0">
                <a:solidFill>
                  <a:srgbClr val="1A2029"/>
                </a:solidFill>
                <a:latin typeface="-apple-system"/>
              </a:rPr>
              <a:t> Cleaver and his followers advocated for a more immediate, violent, urban guerrilla warfare strategy.</a:t>
            </a:r>
          </a:p>
          <a:p>
            <a:pPr marL="742950" lvl="1" indent="-285750" fontAlgn="base">
              <a:lnSpc>
                <a:spcPts val="2025"/>
              </a:lnSpc>
              <a:spcBef>
                <a:spcPts val="600"/>
              </a:spcBef>
              <a:buFont typeface="Arial" panose="020B0604020202020204" pitchFamily="34" charset="0"/>
              <a:buChar char="•"/>
            </a:pPr>
            <a:r>
              <a:rPr lang="en-US" dirty="0">
                <a:solidFill>
                  <a:srgbClr val="1A2029"/>
                </a:solidFill>
                <a:latin typeface="-apple-system"/>
              </a:rPr>
              <a:t>This split led to purges, expulsions, and even violent clashes between former comrades, severely weakening the party’s unity.</a:t>
            </a:r>
          </a:p>
          <a:p>
            <a:pPr fontAlgn="base">
              <a:lnSpc>
                <a:spcPts val="2025"/>
              </a:lnSpc>
              <a:spcBef>
                <a:spcPts val="1200"/>
              </a:spcBef>
              <a:spcAft>
                <a:spcPts val="450"/>
              </a:spcAft>
            </a:pPr>
            <a:r>
              <a:rPr lang="en-US" b="1" dirty="0">
                <a:solidFill>
                  <a:srgbClr val="1A2029"/>
                </a:solidFill>
                <a:latin typeface="-apple-system"/>
              </a:rPr>
              <a:t>Leadership Issues and Centralization of Power:</a:t>
            </a:r>
            <a:r>
              <a:rPr lang="en-US" dirty="0">
                <a:solidFill>
                  <a:srgbClr val="1A2029"/>
                </a:solidFill>
                <a:latin typeface="-apple-system"/>
              </a:rPr>
              <a:t> As the party faced increasing pressure, Huey Newton’s leadership became more autocratic and erratic. He developed a deep paranoia, fueled by COINTELPRO’s psychological warfare and his own drug use. He ordered purges of members he suspected of disloyalty, and some of his enforcers were accused of torture and murder within the party. This created a climate of fear and alienated many dedicated members.</a:t>
            </a:r>
          </a:p>
          <a:p>
            <a:pPr fontAlgn="base">
              <a:lnSpc>
                <a:spcPts val="2025"/>
              </a:lnSpc>
              <a:spcBef>
                <a:spcPts val="1200"/>
              </a:spcBef>
              <a:spcAft>
                <a:spcPts val="450"/>
              </a:spcAft>
            </a:pPr>
            <a:r>
              <a:rPr lang="en-US" b="1" dirty="0">
                <a:solidFill>
                  <a:srgbClr val="1A2029"/>
                </a:solidFill>
                <a:latin typeface="-apple-system"/>
              </a:rPr>
              <a:t>Criminal Activity:</a:t>
            </a:r>
            <a:r>
              <a:rPr lang="en-US" dirty="0">
                <a:solidFill>
                  <a:srgbClr val="1A2029"/>
                </a:solidFill>
                <a:latin typeface="-apple-system"/>
              </a:rPr>
              <a:t> While the party’s official mission was community service, some members and chapters became involved in criminal activities like extortion and drug dealing to raise money. This not only violated the party’s principles but also tarnished its public image and gave the government a pretext for its crackdown.</a:t>
            </a:r>
          </a:p>
        </p:txBody>
      </p:sp>
      <p:sp>
        <p:nvSpPr>
          <p:cNvPr id="3" name="textbox 288">
            <a:extLst>
              <a:ext uri="{FF2B5EF4-FFF2-40B4-BE49-F238E27FC236}">
                <a16:creationId xmlns:a16="http://schemas.microsoft.com/office/drawing/2014/main" id="{E63591F5-B7B0-4143-A733-6C6BBCACB45E}"/>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 – The Fall</a:t>
            </a:r>
            <a:endParaRPr sz="2700" dirty="0">
              <a:latin typeface="Tahoma"/>
              <a:ea typeface="Tahoma"/>
              <a:cs typeface="Tahoma"/>
            </a:endParaRPr>
          </a:p>
        </p:txBody>
      </p:sp>
    </p:spTree>
    <p:extLst>
      <p:ext uri="{BB962C8B-B14F-4D97-AF65-F5344CB8AC3E}">
        <p14:creationId xmlns:p14="http://schemas.microsoft.com/office/powerpoint/2010/main" val="28037729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69DA-6E35-3D79-6C57-7D7C751D06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67D148-A506-B65C-35CA-FB9586B23055}"/>
              </a:ext>
            </a:extLst>
          </p:cNvPr>
          <p:cNvSpPr txBox="1"/>
          <p:nvPr/>
        </p:nvSpPr>
        <p:spPr>
          <a:xfrm>
            <a:off x="262465" y="1257300"/>
            <a:ext cx="11667067" cy="5042406"/>
          </a:xfrm>
          <a:prstGeom prst="rect">
            <a:avLst/>
          </a:prstGeom>
          <a:noFill/>
        </p:spPr>
        <p:txBody>
          <a:bodyPr wrap="square" rtlCol="0">
            <a:spAutoFit/>
          </a:bodyPr>
          <a:lstStyle/>
          <a:p>
            <a:pPr fontAlgn="base">
              <a:lnSpc>
                <a:spcPts val="1950"/>
              </a:lnSpc>
              <a:spcBef>
                <a:spcPts val="1200"/>
              </a:spcBef>
            </a:pPr>
            <a:r>
              <a:rPr lang="en-US" b="1" dirty="0">
                <a:solidFill>
                  <a:srgbClr val="1A2029"/>
                </a:solidFill>
                <a:latin typeface="-apple-system"/>
              </a:rPr>
              <a:t>The Shift in Focus and Resource Drain</a:t>
            </a:r>
          </a:p>
          <a:p>
            <a:pPr fontAlgn="base">
              <a:lnSpc>
                <a:spcPts val="2025"/>
              </a:lnSpc>
              <a:spcBef>
                <a:spcPts val="600"/>
              </a:spcBef>
            </a:pPr>
            <a:r>
              <a:rPr lang="en-US" dirty="0">
                <a:solidFill>
                  <a:srgbClr val="1A2029"/>
                </a:solidFill>
                <a:latin typeface="-apple-system"/>
              </a:rPr>
              <a:t>The constant state of siege forced the party to shift its focus away from its original goals.</a:t>
            </a:r>
          </a:p>
          <a:p>
            <a:pPr fontAlgn="base">
              <a:lnSpc>
                <a:spcPts val="2025"/>
              </a:lnSpc>
              <a:spcBef>
                <a:spcPts val="600"/>
              </a:spcBef>
            </a:pPr>
            <a:r>
              <a:rPr lang="en-US" b="1" dirty="0">
                <a:solidFill>
                  <a:srgbClr val="1A2029"/>
                </a:solidFill>
                <a:latin typeface="-apple-system"/>
              </a:rPr>
              <a:t>Legal Battles:</a:t>
            </a:r>
            <a:r>
              <a:rPr lang="en-US" dirty="0">
                <a:solidFill>
                  <a:srgbClr val="1A2029"/>
                </a:solidFill>
                <a:latin typeface="-apple-system"/>
              </a:rPr>
              <a:t> Defending members in court consumed enormous amounts of time and money. Resources that once went to the Free Breakfast for Children Program and free health clinics were diverted to legal fees.</a:t>
            </a:r>
          </a:p>
          <a:p>
            <a:pPr fontAlgn="base">
              <a:lnSpc>
                <a:spcPts val="2025"/>
              </a:lnSpc>
              <a:spcBef>
                <a:spcPts val="600"/>
              </a:spcBef>
            </a:pPr>
            <a:r>
              <a:rPr lang="en-US" b="1" dirty="0">
                <a:solidFill>
                  <a:srgbClr val="1A2029"/>
                </a:solidFill>
                <a:latin typeface="-apple-system"/>
              </a:rPr>
              <a:t>Military Confrontations:</a:t>
            </a:r>
            <a:r>
              <a:rPr lang="en-US" dirty="0">
                <a:solidFill>
                  <a:srgbClr val="1A2029"/>
                </a:solidFill>
                <a:latin typeface="-apple-system"/>
              </a:rPr>
              <a:t> Repeated shootouts with police led to the deaths and arrests of key members, depleting the party’s ranks and leadership. The focus shifted from building community to simple survival.</a:t>
            </a:r>
          </a:p>
          <a:p>
            <a:pPr algn="l" fontAlgn="base">
              <a:lnSpc>
                <a:spcPts val="1950"/>
              </a:lnSpc>
              <a:spcBef>
                <a:spcPts val="1200"/>
              </a:spcBef>
              <a:buNone/>
            </a:pPr>
            <a:endParaRPr lang="en-US" b="1" dirty="0">
              <a:solidFill>
                <a:srgbClr val="1A2029"/>
              </a:solidFill>
              <a:latin typeface="-apple-system"/>
            </a:endParaRPr>
          </a:p>
          <a:p>
            <a:pPr algn="l" fontAlgn="base">
              <a:lnSpc>
                <a:spcPts val="1950"/>
              </a:lnSpc>
              <a:spcBef>
                <a:spcPts val="1200"/>
              </a:spcBef>
              <a:buNone/>
            </a:pPr>
            <a:r>
              <a:rPr lang="en-US" b="1" i="0" dirty="0">
                <a:solidFill>
                  <a:srgbClr val="1A2029"/>
                </a:solidFill>
                <a:effectLst/>
                <a:latin typeface="-apple-system"/>
              </a:rPr>
              <a:t>The Final Years and Dissolution</a:t>
            </a:r>
          </a:p>
          <a:p>
            <a:pPr algn="l" fontAlgn="base">
              <a:lnSpc>
                <a:spcPts val="2025"/>
              </a:lnSpc>
              <a:spcBef>
                <a:spcPts val="600"/>
              </a:spcBef>
              <a:buNone/>
            </a:pPr>
            <a:r>
              <a:rPr lang="en-US" b="0" i="0" dirty="0">
                <a:solidFill>
                  <a:srgbClr val="1A2029"/>
                </a:solidFill>
                <a:effectLst/>
                <a:latin typeface="-apple-system"/>
              </a:rPr>
              <a:t>By the mid-1970s, the party was a shadow of its former self.</a:t>
            </a:r>
          </a:p>
          <a:p>
            <a:pPr algn="l" fontAlgn="base">
              <a:lnSpc>
                <a:spcPts val="2025"/>
              </a:lnSpc>
              <a:spcBef>
                <a:spcPts val="600"/>
              </a:spcBef>
            </a:pPr>
            <a:r>
              <a:rPr lang="en-US" b="1" i="0" dirty="0">
                <a:solidFill>
                  <a:srgbClr val="1A2029"/>
                </a:solidFill>
                <a:effectLst/>
                <a:latin typeface="-apple-system"/>
              </a:rPr>
              <a:t>Huey Newton’s Decline:</a:t>
            </a:r>
            <a:r>
              <a:rPr lang="en-US" b="0" i="0" dirty="0">
                <a:solidFill>
                  <a:srgbClr val="1A2029"/>
                </a:solidFill>
                <a:effectLst/>
                <a:latin typeface="-apple-system"/>
              </a:rPr>
              <a:t> In 1974, facing murder charges, Newton fled to Cuba. He returned in 1977, but his problems with drug addiction and internal power struggles intensified.</a:t>
            </a:r>
          </a:p>
          <a:p>
            <a:pPr algn="l" fontAlgn="base">
              <a:lnSpc>
                <a:spcPts val="2025"/>
              </a:lnSpc>
              <a:spcBef>
                <a:spcPts val="600"/>
              </a:spcBef>
            </a:pPr>
            <a:r>
              <a:rPr lang="en-US" b="1" i="0" dirty="0">
                <a:solidFill>
                  <a:srgbClr val="1A2029"/>
                </a:solidFill>
                <a:effectLst/>
                <a:latin typeface="-apple-system"/>
              </a:rPr>
              <a:t>Elaine Brown’s Leadership:</a:t>
            </a:r>
            <a:r>
              <a:rPr lang="en-US" b="0" i="0" dirty="0">
                <a:solidFill>
                  <a:srgbClr val="1A2029"/>
                </a:solidFill>
                <a:effectLst/>
                <a:latin typeface="-apple-system"/>
              </a:rPr>
              <a:t> In Newton’s absence, </a:t>
            </a:r>
            <a:r>
              <a:rPr lang="en-US" b="1" i="0" dirty="0">
                <a:solidFill>
                  <a:srgbClr val="1A2029"/>
                </a:solidFill>
                <a:effectLst/>
                <a:latin typeface="-apple-system"/>
              </a:rPr>
              <a:t>Elaine Brown</a:t>
            </a:r>
            <a:r>
              <a:rPr lang="en-US" b="0" i="0" dirty="0">
                <a:solidFill>
                  <a:srgbClr val="1A2029"/>
                </a:solidFill>
                <a:effectLst/>
                <a:latin typeface="-apple-system"/>
              </a:rPr>
              <a:t> chaired the party. She focused on electoral politics and community programs but later left the party, disillusioned by the pervasive sexism and violence she encountered, particularly from Newton.</a:t>
            </a:r>
          </a:p>
          <a:p>
            <a:pPr algn="l" fontAlgn="base">
              <a:lnSpc>
                <a:spcPts val="2025"/>
              </a:lnSpc>
              <a:spcBef>
                <a:spcPts val="600"/>
              </a:spcBef>
            </a:pPr>
            <a:r>
              <a:rPr lang="en-US" b="1" i="0" dirty="0">
                <a:solidFill>
                  <a:srgbClr val="1A2029"/>
                </a:solidFill>
                <a:effectLst/>
                <a:latin typeface="-apple-system"/>
              </a:rPr>
              <a:t>Official Dissolution:</a:t>
            </a:r>
            <a:r>
              <a:rPr lang="en-US" b="0" i="0" dirty="0">
                <a:solidFill>
                  <a:srgbClr val="1A2029"/>
                </a:solidFill>
                <a:effectLst/>
                <a:latin typeface="-apple-system"/>
              </a:rPr>
              <a:t> The party’s membership had dwindled, and its community programs had largely collapsed. In </a:t>
            </a:r>
            <a:r>
              <a:rPr lang="en-US" b="1" i="0" dirty="0">
                <a:solidFill>
                  <a:srgbClr val="1A2029"/>
                </a:solidFill>
                <a:effectLst/>
                <a:latin typeface="-apple-system"/>
              </a:rPr>
              <a:t>1982</a:t>
            </a:r>
            <a:r>
              <a:rPr lang="en-US" b="0" i="0" dirty="0">
                <a:solidFill>
                  <a:srgbClr val="1A2029"/>
                </a:solidFill>
                <a:effectLst/>
                <a:latin typeface="-apple-system"/>
              </a:rPr>
              <a:t>, the Black Panther Party was officially dissolved.</a:t>
            </a:r>
          </a:p>
        </p:txBody>
      </p:sp>
      <p:sp>
        <p:nvSpPr>
          <p:cNvPr id="3" name="textbox 288">
            <a:extLst>
              <a:ext uri="{FF2B5EF4-FFF2-40B4-BE49-F238E27FC236}">
                <a16:creationId xmlns:a16="http://schemas.microsoft.com/office/drawing/2014/main" id="{37436524-0592-2DF8-FC3C-725936714942}"/>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 – The Fall</a:t>
            </a:r>
            <a:endParaRPr sz="2700" dirty="0">
              <a:latin typeface="Tahoma"/>
              <a:ea typeface="Tahoma"/>
              <a:cs typeface="Tahoma"/>
            </a:endParaRPr>
          </a:p>
        </p:txBody>
      </p:sp>
    </p:spTree>
    <p:extLst>
      <p:ext uri="{BB962C8B-B14F-4D97-AF65-F5344CB8AC3E}">
        <p14:creationId xmlns:p14="http://schemas.microsoft.com/office/powerpoint/2010/main" val="2361118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D1CEA-9B4D-B0CA-9617-0EF1FA7E52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D1ED36-1206-914B-E085-42C458B6257B}"/>
              </a:ext>
            </a:extLst>
          </p:cNvPr>
          <p:cNvSpPr txBox="1"/>
          <p:nvPr/>
        </p:nvSpPr>
        <p:spPr>
          <a:xfrm>
            <a:off x="262465" y="1816100"/>
            <a:ext cx="11667067" cy="3888244"/>
          </a:xfrm>
          <a:prstGeom prst="rect">
            <a:avLst/>
          </a:prstGeom>
          <a:noFill/>
        </p:spPr>
        <p:txBody>
          <a:bodyPr wrap="square" rtlCol="0">
            <a:spAutoFit/>
          </a:bodyPr>
          <a:lstStyle/>
          <a:p>
            <a:pPr fontAlgn="base">
              <a:lnSpc>
                <a:spcPts val="1950"/>
              </a:lnSpc>
              <a:spcBef>
                <a:spcPts val="1200"/>
              </a:spcBef>
            </a:pPr>
            <a:r>
              <a:rPr lang="en-US" b="0" i="0" dirty="0">
                <a:solidFill>
                  <a:srgbClr val="1A2029"/>
                </a:solidFill>
                <a:effectLst/>
                <a:latin typeface="-apple-system"/>
              </a:rPr>
              <a:t>In conclusion, the Black Panther Party fell because the government’s illegal and violent campaign of repression successfully exploited and amplified the party’s own internal weaknesses in addition to creating new problems for their organization. The combination of external sabotage and internal decay proved too much for the organization to overcome, bringing a tragic end to one of the most complex and influential movements of the 20th century.</a:t>
            </a:r>
            <a:endParaRPr lang="en-US" b="1" dirty="0">
              <a:solidFill>
                <a:srgbClr val="1A2029"/>
              </a:solidFill>
              <a:latin typeface="-apple-system"/>
            </a:endParaRPr>
          </a:p>
          <a:p>
            <a:pPr fontAlgn="base">
              <a:lnSpc>
                <a:spcPts val="1950"/>
              </a:lnSpc>
              <a:spcBef>
                <a:spcPts val="1200"/>
              </a:spcBef>
            </a:pPr>
            <a:r>
              <a:rPr lang="en-US" i="0" dirty="0">
                <a:solidFill>
                  <a:srgbClr val="1A2029"/>
                </a:solidFill>
                <a:effectLst/>
                <a:latin typeface="-apple-system"/>
              </a:rPr>
              <a:t>History will be our best friend until we allow it to hold us back from our future. Failure can feel like the end of the world, but it is also the beginning of a new experience. The quicker we can process where we are in our plan, the quicker we can get to our next milestone.</a:t>
            </a:r>
          </a:p>
          <a:p>
            <a:pPr fontAlgn="base">
              <a:lnSpc>
                <a:spcPts val="1950"/>
              </a:lnSpc>
              <a:spcBef>
                <a:spcPts val="1200"/>
              </a:spcBef>
            </a:pPr>
            <a:r>
              <a:rPr lang="en-US" dirty="0">
                <a:solidFill>
                  <a:srgbClr val="1A2029"/>
                </a:solidFill>
                <a:latin typeface="-apple-system"/>
              </a:rPr>
              <a:t>Let’s look at more history that we can learn from. It would be noteworthy to understand, we are not picky about the details and knowledge is knowledge. Any and everything that has been said or done, can and will be used for our benefit, as if it were prepared to defend itself in a court of law. I should express that the sentiment is to always aim for peace, when peace is difficult to maintain we still aim for peace, when peace can not be sustained, we choose life. </a:t>
            </a:r>
          </a:p>
          <a:p>
            <a:pPr fontAlgn="base">
              <a:lnSpc>
                <a:spcPts val="1950"/>
              </a:lnSpc>
              <a:spcBef>
                <a:spcPts val="1200"/>
              </a:spcBef>
            </a:pPr>
            <a:r>
              <a:rPr lang="en-US" dirty="0">
                <a:solidFill>
                  <a:srgbClr val="1A2029"/>
                </a:solidFill>
                <a:latin typeface="-apple-system"/>
              </a:rPr>
              <a:t>The message there is bound to be lost in translation, but it is my desire that everyone receives clarity from my choice of words. Let’s continue, as it may be clarified with more details.</a:t>
            </a:r>
          </a:p>
        </p:txBody>
      </p:sp>
      <p:sp>
        <p:nvSpPr>
          <p:cNvPr id="3" name="textbox 288">
            <a:extLst>
              <a:ext uri="{FF2B5EF4-FFF2-40B4-BE49-F238E27FC236}">
                <a16:creationId xmlns:a16="http://schemas.microsoft.com/office/drawing/2014/main" id="{4DC421A0-2BB4-6E5C-EA9D-32A824044C93}"/>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Panther Party – The Fall</a:t>
            </a:r>
            <a:endParaRPr sz="2700" dirty="0">
              <a:latin typeface="Tahoma"/>
              <a:ea typeface="Tahoma"/>
              <a:cs typeface="Tahoma"/>
            </a:endParaRPr>
          </a:p>
        </p:txBody>
      </p:sp>
    </p:spTree>
    <p:extLst>
      <p:ext uri="{BB962C8B-B14F-4D97-AF65-F5344CB8AC3E}">
        <p14:creationId xmlns:p14="http://schemas.microsoft.com/office/powerpoint/2010/main" val="102310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F981-4607-2B4D-8F1A-EBC4D4A067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D05735-4DA2-E894-B114-DD6443DC0633}"/>
              </a:ext>
            </a:extLst>
          </p:cNvPr>
          <p:cNvSpPr txBox="1"/>
          <p:nvPr/>
        </p:nvSpPr>
        <p:spPr>
          <a:xfrm>
            <a:off x="262465" y="1257300"/>
            <a:ext cx="11667067" cy="5388655"/>
          </a:xfrm>
          <a:prstGeom prst="rect">
            <a:avLst/>
          </a:prstGeom>
          <a:noFill/>
        </p:spPr>
        <p:txBody>
          <a:bodyPr wrap="square" rtlCol="0">
            <a:spAutoFit/>
          </a:bodyPr>
          <a:lstStyle/>
          <a:p>
            <a:pPr algn="l" fontAlgn="base">
              <a:lnSpc>
                <a:spcPts val="2025"/>
              </a:lnSpc>
              <a:spcBef>
                <a:spcPts val="1200"/>
              </a:spcBef>
              <a:spcAft>
                <a:spcPts val="450"/>
              </a:spcAft>
            </a:pPr>
            <a:r>
              <a:rPr lang="en-US" b="1" i="0" dirty="0">
                <a:solidFill>
                  <a:srgbClr val="1A2029"/>
                </a:solidFill>
                <a:effectLst/>
                <a:latin typeface="-apple-system"/>
              </a:rPr>
              <a:t>Core Philosophy: Nonviolent Civil Disobedience</a:t>
            </a:r>
            <a:endParaRPr lang="en-US"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b="0" i="0" dirty="0">
                <a:solidFill>
                  <a:srgbClr val="1A2029"/>
                </a:solidFill>
                <a:effectLst/>
                <a:latin typeface="-apple-system"/>
              </a:rPr>
              <a:t>King was deeply influenced by his Christian faith and the teachings of Mahatma Gandhi.</a:t>
            </a:r>
          </a:p>
          <a:p>
            <a:pPr marL="742950" lvl="1" indent="-285750" algn="l" fontAlgn="base">
              <a:lnSpc>
                <a:spcPts val="2025"/>
              </a:lnSpc>
              <a:spcBef>
                <a:spcPts val="600"/>
              </a:spcBef>
              <a:buFont typeface="Arial" panose="020B0604020202020204" pitchFamily="34" charset="0"/>
              <a:buChar char="•"/>
            </a:pPr>
            <a:r>
              <a:rPr lang="en-US" b="0" i="0" dirty="0">
                <a:solidFill>
                  <a:srgbClr val="1A2029"/>
                </a:solidFill>
                <a:effectLst/>
                <a:latin typeface="-apple-system"/>
              </a:rPr>
              <a:t>He believed that nonviolence was not a sign of weakness but the most powerful weapon for an oppressed people.</a:t>
            </a:r>
          </a:p>
          <a:p>
            <a:pPr marL="742950" lvl="1" indent="-285750" algn="l" fontAlgn="base">
              <a:lnSpc>
                <a:spcPts val="2025"/>
              </a:lnSpc>
              <a:spcBef>
                <a:spcPts val="600"/>
              </a:spcBef>
              <a:buFont typeface="Arial" panose="020B0604020202020204" pitchFamily="34" charset="0"/>
              <a:buChar char="•"/>
            </a:pPr>
            <a:r>
              <a:rPr lang="en-US" b="0" i="0" dirty="0">
                <a:solidFill>
                  <a:srgbClr val="1A2029"/>
                </a:solidFill>
                <a:effectLst/>
                <a:latin typeface="-apple-system"/>
              </a:rPr>
              <a:t>The goal was to use love, passive resistance, and peaceful protest (marches, boycotts, sit-ins) to create a “constructive nonviolent tension” that would force society to confront its own injustice and appeal to the moral conscience of white America.</a:t>
            </a:r>
          </a:p>
          <a:p>
            <a:pPr algn="l" fontAlgn="base">
              <a:lnSpc>
                <a:spcPts val="2025"/>
              </a:lnSpc>
              <a:spcBef>
                <a:spcPts val="1200"/>
              </a:spcBef>
              <a:spcAft>
                <a:spcPts val="450"/>
              </a:spcAft>
            </a:pPr>
            <a:r>
              <a:rPr lang="en-US" b="1" i="0" dirty="0">
                <a:solidFill>
                  <a:srgbClr val="1A2029"/>
                </a:solidFill>
                <a:effectLst/>
                <a:latin typeface="-apple-system"/>
              </a:rPr>
              <a:t>Ultimate Goal: Integration and the “Beloved Community”</a:t>
            </a:r>
            <a:endParaRPr lang="en-US"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b="0" i="0" dirty="0">
                <a:solidFill>
                  <a:srgbClr val="1A2029"/>
                </a:solidFill>
                <a:effectLst/>
                <a:latin typeface="-apple-system"/>
              </a:rPr>
              <a:t>King envisioned a fully integrated, multiracial American society where people were judged by the “content of their character, not the color of their skin.”</a:t>
            </a:r>
          </a:p>
          <a:p>
            <a:pPr marL="742950" lvl="1" indent="-285750" algn="l" fontAlgn="base">
              <a:lnSpc>
                <a:spcPts val="2025"/>
              </a:lnSpc>
              <a:spcBef>
                <a:spcPts val="600"/>
              </a:spcBef>
              <a:buFont typeface="Arial" panose="020B0604020202020204" pitchFamily="34" charset="0"/>
              <a:buChar char="•"/>
            </a:pPr>
            <a:r>
              <a:rPr lang="en-US" b="0" i="0" dirty="0">
                <a:solidFill>
                  <a:srgbClr val="1A2029"/>
                </a:solidFill>
                <a:effectLst/>
                <a:latin typeface="-apple-system"/>
              </a:rPr>
              <a:t>His dream was the “Beloved Community,” a society based on justice, equal opportunity, and love of one’s fellow human beings. He fought to dismantle segregation and bring Black and white people together.</a:t>
            </a:r>
          </a:p>
          <a:p>
            <a:pPr algn="l" fontAlgn="base">
              <a:lnSpc>
                <a:spcPts val="2025"/>
              </a:lnSpc>
              <a:spcBef>
                <a:spcPts val="1200"/>
              </a:spcBef>
              <a:spcAft>
                <a:spcPts val="450"/>
              </a:spcAft>
            </a:pPr>
            <a:r>
              <a:rPr lang="en-US" b="1" i="0" dirty="0">
                <a:solidFill>
                  <a:srgbClr val="1A2029"/>
                </a:solidFill>
                <a:effectLst/>
                <a:latin typeface="-apple-system"/>
              </a:rPr>
              <a:t>Key Organizations &amp; Events:</a:t>
            </a:r>
            <a:endParaRPr lang="en-US"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Southern Christian Leadership Conference (SCLC):</a:t>
            </a:r>
            <a:r>
              <a:rPr lang="en-US" b="0" i="0" dirty="0">
                <a:solidFill>
                  <a:srgbClr val="1A2029"/>
                </a:solidFill>
                <a:effectLst/>
                <a:latin typeface="-apple-system"/>
              </a:rPr>
              <a:t> The organization he co-founded and led.</a:t>
            </a: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Montgomery Bus Boycott (1955-1956):</a:t>
            </a:r>
            <a:r>
              <a:rPr lang="en-US" b="0" i="0" dirty="0">
                <a:solidFill>
                  <a:srgbClr val="1A2029"/>
                </a:solidFill>
                <a:effectLst/>
                <a:latin typeface="-apple-system"/>
              </a:rPr>
              <a:t> His first major leadership role.</a:t>
            </a: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March on Washington (1963):</a:t>
            </a:r>
            <a:r>
              <a:rPr lang="en-US" b="0" i="0" dirty="0">
                <a:solidFill>
                  <a:srgbClr val="1A2029"/>
                </a:solidFill>
                <a:effectLst/>
                <a:latin typeface="-apple-system"/>
              </a:rPr>
              <a:t> Where he delivered his iconic “I Have a Dream” speech.</a:t>
            </a: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Nobel Peace Prize (1964):</a:t>
            </a:r>
            <a:r>
              <a:rPr lang="en-US" b="0" i="0" dirty="0">
                <a:solidFill>
                  <a:srgbClr val="1A2029"/>
                </a:solidFill>
                <a:effectLst/>
                <a:latin typeface="-apple-system"/>
              </a:rPr>
              <a:t> Awarded for his nonviolent struggle against racial segregation.</a:t>
            </a:r>
          </a:p>
        </p:txBody>
      </p:sp>
      <p:sp>
        <p:nvSpPr>
          <p:cNvPr id="3" name="textbox 288">
            <a:extLst>
              <a:ext uri="{FF2B5EF4-FFF2-40B4-BE49-F238E27FC236}">
                <a16:creationId xmlns:a16="http://schemas.microsoft.com/office/drawing/2014/main" id="{DA726A89-4755-136D-A246-5D23EA40F6E5}"/>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Martin Luther King Jr.</a:t>
            </a:r>
            <a:endParaRPr sz="2700" dirty="0">
              <a:latin typeface="Tahoma"/>
              <a:ea typeface="Tahoma"/>
              <a:cs typeface="Tahoma"/>
            </a:endParaRPr>
          </a:p>
        </p:txBody>
      </p:sp>
    </p:spTree>
    <p:extLst>
      <p:ext uri="{BB962C8B-B14F-4D97-AF65-F5344CB8AC3E}">
        <p14:creationId xmlns:p14="http://schemas.microsoft.com/office/powerpoint/2010/main" val="13267480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380AE-1ED9-2EEE-BCF3-7597D93C32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FE7221-CF95-7A5E-35CD-AECFE0D306F5}"/>
              </a:ext>
            </a:extLst>
          </p:cNvPr>
          <p:cNvSpPr txBox="1"/>
          <p:nvPr/>
        </p:nvSpPr>
        <p:spPr>
          <a:xfrm>
            <a:off x="122764" y="1320800"/>
            <a:ext cx="11667067" cy="5311711"/>
          </a:xfrm>
          <a:prstGeom prst="rect">
            <a:avLst/>
          </a:prstGeom>
          <a:noFill/>
        </p:spPr>
        <p:txBody>
          <a:bodyPr wrap="square" rtlCol="0">
            <a:spAutoFit/>
          </a:bodyPr>
          <a:lstStyle/>
          <a:p>
            <a:pPr algn="l" fontAlgn="base">
              <a:lnSpc>
                <a:spcPts val="2025"/>
              </a:lnSpc>
              <a:spcBef>
                <a:spcPts val="1200"/>
              </a:spcBef>
              <a:spcAft>
                <a:spcPts val="450"/>
              </a:spcAft>
            </a:pPr>
            <a:r>
              <a:rPr lang="en-US" sz="1600" b="1" i="0" dirty="0">
                <a:solidFill>
                  <a:srgbClr val="1A2029"/>
                </a:solidFill>
                <a:effectLst/>
                <a:latin typeface="-apple-system"/>
              </a:rPr>
              <a:t>Core Philosophy: Black Nationalism and Self-Defense “By Any Means Necessary”</a:t>
            </a:r>
            <a:endParaRPr lang="en-US" sz="1600"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As the national spokesman for the </a:t>
            </a:r>
            <a:r>
              <a:rPr lang="en-US" sz="1600" b="1" i="0" dirty="0">
                <a:solidFill>
                  <a:srgbClr val="1A2029"/>
                </a:solidFill>
                <a:effectLst/>
                <a:latin typeface="-apple-system"/>
              </a:rPr>
              <a:t>Nation of Islam (NOI)</a:t>
            </a:r>
            <a:r>
              <a:rPr lang="en-US" sz="1600" b="0" i="0" dirty="0">
                <a:solidFill>
                  <a:srgbClr val="1A2029"/>
                </a:solidFill>
                <a:effectLst/>
                <a:latin typeface="-apple-system"/>
              </a:rPr>
              <a:t> for most of his public career, Malcolm advocated for Black political, economic, and social independence.</a:t>
            </a: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He was deeply critical of King’s nonviolent approach, arguing that Black people had the right and responsibility to defend themselves “by any means necessary” against violent white aggression. He called it “intelligence” to protect oneself.</a:t>
            </a: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He preached Black pride, self-reliance, and was unafraid to identify the root of America’s racial problem as systemic and institutional.</a:t>
            </a:r>
          </a:p>
          <a:p>
            <a:pPr algn="l" fontAlgn="base">
              <a:lnSpc>
                <a:spcPts val="2025"/>
              </a:lnSpc>
              <a:spcBef>
                <a:spcPts val="1200"/>
              </a:spcBef>
              <a:spcAft>
                <a:spcPts val="450"/>
              </a:spcAft>
            </a:pPr>
            <a:r>
              <a:rPr lang="en-US" sz="1600" b="1" i="0" dirty="0">
                <a:solidFill>
                  <a:srgbClr val="1A2029"/>
                </a:solidFill>
                <a:effectLst/>
                <a:latin typeface="-apple-system"/>
              </a:rPr>
              <a:t>Ultimate Goal: Separation and Independence (Early Years)</a:t>
            </a:r>
            <a:endParaRPr lang="en-US" sz="1600"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Initially, Malcolm and the NOI did not seek integration. They believed it was impossible and undesirable. Instead, they advocated for a separate Black nation or state in America.</a:t>
            </a: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He viewed white people as a collective enemy and was highly skeptical of their ability to ever grant true freedom and equality to Black people.</a:t>
            </a:r>
          </a:p>
          <a:p>
            <a:pPr algn="l" fontAlgn="base">
              <a:lnSpc>
                <a:spcPts val="2025"/>
              </a:lnSpc>
              <a:spcBef>
                <a:spcPts val="1200"/>
              </a:spcBef>
              <a:spcAft>
                <a:spcPts val="450"/>
              </a:spcAft>
            </a:pPr>
            <a:r>
              <a:rPr lang="en-US" sz="1600" b="1" i="0" dirty="0">
                <a:solidFill>
                  <a:srgbClr val="1A2029"/>
                </a:solidFill>
                <a:effectLst/>
                <a:latin typeface="-apple-system"/>
              </a:rPr>
              <a:t>Key Organizations &amp; Events:</a:t>
            </a:r>
            <a:endParaRPr lang="en-US" sz="1600"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Nation of Islam (NOI):</a:t>
            </a:r>
            <a:r>
              <a:rPr lang="en-US" sz="1600" b="0" i="0" dirty="0">
                <a:solidFill>
                  <a:srgbClr val="1A2029"/>
                </a:solidFill>
                <a:effectLst/>
                <a:latin typeface="-apple-system"/>
              </a:rPr>
              <a:t> Where he rose to prominence.</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“The Ballot or the Bullet” Speech (1964):</a:t>
            </a:r>
            <a:r>
              <a:rPr lang="en-US" sz="1600" b="0" i="0" dirty="0">
                <a:solidFill>
                  <a:srgbClr val="1A2029"/>
                </a:solidFill>
                <a:effectLst/>
                <a:latin typeface="-apple-system"/>
              </a:rPr>
              <a:t> A powerful speech arguing for Black political empowerment and self-defense.</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Autobiography of Malcolm X:</a:t>
            </a:r>
            <a:r>
              <a:rPr lang="en-US" sz="1600" b="0" i="0" dirty="0">
                <a:solidFill>
                  <a:srgbClr val="1A2029"/>
                </a:solidFill>
                <a:effectLst/>
                <a:latin typeface="-apple-system"/>
              </a:rPr>
              <a:t> A seminal book that detailed his life and evolving philosophy.</a:t>
            </a:r>
          </a:p>
        </p:txBody>
      </p:sp>
      <p:sp>
        <p:nvSpPr>
          <p:cNvPr id="3" name="textbox 288">
            <a:extLst>
              <a:ext uri="{FF2B5EF4-FFF2-40B4-BE49-F238E27FC236}">
                <a16:creationId xmlns:a16="http://schemas.microsoft.com/office/drawing/2014/main" id="{5E2869F9-E3F0-0260-92DB-747F3C354F2E}"/>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Malcolm X</a:t>
            </a:r>
            <a:endParaRPr sz="2700" dirty="0">
              <a:latin typeface="Tahoma"/>
              <a:ea typeface="Tahoma"/>
              <a:cs typeface="Tahoma"/>
            </a:endParaRPr>
          </a:p>
        </p:txBody>
      </p:sp>
    </p:spTree>
    <p:extLst>
      <p:ext uri="{BB962C8B-B14F-4D97-AF65-F5344CB8AC3E}">
        <p14:creationId xmlns:p14="http://schemas.microsoft.com/office/powerpoint/2010/main" val="38670987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8DEB2-F26F-8ED5-284C-8A4B31581A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00BB4A-056B-DD42-1400-06995DF9F9B9}"/>
              </a:ext>
            </a:extLst>
          </p:cNvPr>
          <p:cNvSpPr txBox="1"/>
          <p:nvPr/>
        </p:nvSpPr>
        <p:spPr>
          <a:xfrm>
            <a:off x="122764" y="1320800"/>
            <a:ext cx="11667067" cy="5311711"/>
          </a:xfrm>
          <a:prstGeom prst="rect">
            <a:avLst/>
          </a:prstGeom>
          <a:noFill/>
        </p:spPr>
        <p:txBody>
          <a:bodyPr wrap="square" rtlCol="0">
            <a:spAutoFit/>
          </a:bodyPr>
          <a:lstStyle/>
          <a:p>
            <a:pPr algn="l" fontAlgn="base">
              <a:lnSpc>
                <a:spcPts val="2025"/>
              </a:lnSpc>
              <a:spcBef>
                <a:spcPts val="1200"/>
              </a:spcBef>
              <a:spcAft>
                <a:spcPts val="450"/>
              </a:spcAft>
            </a:pPr>
            <a:r>
              <a:rPr lang="en-US" sz="1600" b="1" i="0" dirty="0">
                <a:solidFill>
                  <a:srgbClr val="1A2029"/>
                </a:solidFill>
                <a:effectLst/>
                <a:latin typeface="-apple-system"/>
              </a:rPr>
              <a:t>Core Philosophy: Black Nationalism and Self-Defense “By Any Means Necessary”</a:t>
            </a:r>
            <a:endParaRPr lang="en-US" sz="1600"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As the national spokesman for the </a:t>
            </a:r>
            <a:r>
              <a:rPr lang="en-US" sz="1600" b="1" i="0" dirty="0">
                <a:solidFill>
                  <a:srgbClr val="1A2029"/>
                </a:solidFill>
                <a:effectLst/>
                <a:latin typeface="-apple-system"/>
              </a:rPr>
              <a:t>Nation of Islam (NOI)</a:t>
            </a:r>
            <a:r>
              <a:rPr lang="en-US" sz="1600" b="0" i="0" dirty="0">
                <a:solidFill>
                  <a:srgbClr val="1A2029"/>
                </a:solidFill>
                <a:effectLst/>
                <a:latin typeface="-apple-system"/>
              </a:rPr>
              <a:t> for most of his public career, Malcolm advocated for Black political, economic, and social independence.</a:t>
            </a: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He was deeply critical of King’s nonviolent approach, arguing that Black people had the right and responsibility to defend themselves “by any means necessary” against violent white aggression. He called it “intelligence” to protect oneself.</a:t>
            </a: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He preached Black pride, self-reliance, and was unafraid to identify the root of America’s racial problem as systemic and institutional.</a:t>
            </a:r>
          </a:p>
          <a:p>
            <a:pPr algn="l" fontAlgn="base">
              <a:lnSpc>
                <a:spcPts val="2025"/>
              </a:lnSpc>
              <a:spcBef>
                <a:spcPts val="1200"/>
              </a:spcBef>
              <a:spcAft>
                <a:spcPts val="450"/>
              </a:spcAft>
            </a:pPr>
            <a:r>
              <a:rPr lang="en-US" sz="1600" b="1" i="0" dirty="0">
                <a:solidFill>
                  <a:srgbClr val="1A2029"/>
                </a:solidFill>
                <a:effectLst/>
                <a:latin typeface="-apple-system"/>
              </a:rPr>
              <a:t>Ultimate Goal: Separation and Independence (Early Years)</a:t>
            </a:r>
            <a:endParaRPr lang="en-US" sz="1600"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Initially, Malcolm and the NOI did not seek integration. They believed it was impossible and undesirable. Instead, they advocated for a separate Black nation or state in America.</a:t>
            </a:r>
          </a:p>
          <a:p>
            <a:pPr marL="742950" lvl="1" indent="-285750" algn="l" fontAlgn="base">
              <a:lnSpc>
                <a:spcPts val="2025"/>
              </a:lnSpc>
              <a:spcBef>
                <a:spcPts val="600"/>
              </a:spcBef>
              <a:buFont typeface="Arial" panose="020B0604020202020204" pitchFamily="34" charset="0"/>
              <a:buChar char="•"/>
            </a:pPr>
            <a:r>
              <a:rPr lang="en-US" sz="1600" b="0" i="0" dirty="0">
                <a:solidFill>
                  <a:srgbClr val="1A2029"/>
                </a:solidFill>
                <a:effectLst/>
                <a:latin typeface="-apple-system"/>
              </a:rPr>
              <a:t>He viewed white people as a collective enemy and was highly skeptical of their ability to ever grant true freedom and equality to Black people.</a:t>
            </a:r>
          </a:p>
          <a:p>
            <a:pPr algn="l" fontAlgn="base">
              <a:lnSpc>
                <a:spcPts val="2025"/>
              </a:lnSpc>
              <a:spcBef>
                <a:spcPts val="1200"/>
              </a:spcBef>
              <a:spcAft>
                <a:spcPts val="450"/>
              </a:spcAft>
            </a:pPr>
            <a:r>
              <a:rPr lang="en-US" sz="1600" b="1" i="0" dirty="0">
                <a:solidFill>
                  <a:srgbClr val="1A2029"/>
                </a:solidFill>
                <a:effectLst/>
                <a:latin typeface="-apple-system"/>
              </a:rPr>
              <a:t>Key Organizations &amp; Events:</a:t>
            </a:r>
            <a:endParaRPr lang="en-US" sz="1600"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Nation of Islam (NOI):</a:t>
            </a:r>
            <a:r>
              <a:rPr lang="en-US" sz="1600" b="0" i="0" dirty="0">
                <a:solidFill>
                  <a:srgbClr val="1A2029"/>
                </a:solidFill>
                <a:effectLst/>
                <a:latin typeface="-apple-system"/>
              </a:rPr>
              <a:t> Where he rose to prominence.</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“The Ballot or the Bullet” Speech (1964):</a:t>
            </a:r>
            <a:r>
              <a:rPr lang="en-US" sz="1600" b="0" i="0" dirty="0">
                <a:solidFill>
                  <a:srgbClr val="1A2029"/>
                </a:solidFill>
                <a:effectLst/>
                <a:latin typeface="-apple-system"/>
              </a:rPr>
              <a:t> A powerful speech arguing for Black political empowerment and self-defense.</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Autobiography of Malcolm X:</a:t>
            </a:r>
            <a:r>
              <a:rPr lang="en-US" sz="1600" b="0" i="0" dirty="0">
                <a:solidFill>
                  <a:srgbClr val="1A2029"/>
                </a:solidFill>
                <a:effectLst/>
                <a:latin typeface="-apple-system"/>
              </a:rPr>
              <a:t> A seminal book that detailed his life and evolving philosophy.</a:t>
            </a:r>
          </a:p>
        </p:txBody>
      </p:sp>
      <p:sp>
        <p:nvSpPr>
          <p:cNvPr id="3" name="textbox 288">
            <a:extLst>
              <a:ext uri="{FF2B5EF4-FFF2-40B4-BE49-F238E27FC236}">
                <a16:creationId xmlns:a16="http://schemas.microsoft.com/office/drawing/2014/main" id="{1D667C34-D8AB-D1E9-7290-9301BB9FAD2B}"/>
              </a:ext>
            </a:extLst>
          </p:cNvPr>
          <p:cNvSpPr/>
          <p:nvPr/>
        </p:nvSpPr>
        <p:spPr>
          <a:xfrm>
            <a:off x="-1"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Malcolm X</a:t>
            </a:r>
            <a:endParaRPr sz="2700" dirty="0">
              <a:latin typeface="Tahoma"/>
              <a:ea typeface="Tahoma"/>
              <a:cs typeface="Tahoma"/>
            </a:endParaRPr>
          </a:p>
        </p:txBody>
      </p:sp>
    </p:spTree>
    <p:extLst>
      <p:ext uri="{BB962C8B-B14F-4D97-AF65-F5344CB8AC3E}">
        <p14:creationId xmlns:p14="http://schemas.microsoft.com/office/powerpoint/2010/main" val="3338826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08AA0-6BE4-32DB-B824-A49A7F44C810}"/>
            </a:ext>
          </a:extLst>
        </p:cNvPr>
        <p:cNvGrpSpPr/>
        <p:nvPr/>
      </p:nvGrpSpPr>
      <p:grpSpPr>
        <a:xfrm>
          <a:off x="0" y="0"/>
          <a:ext cx="0" cy="0"/>
          <a:chOff x="0" y="0"/>
          <a:chExt cx="0" cy="0"/>
        </a:xfrm>
      </p:grpSpPr>
      <p:sp>
        <p:nvSpPr>
          <p:cNvPr id="3" name="textbox 288">
            <a:extLst>
              <a:ext uri="{FF2B5EF4-FFF2-40B4-BE49-F238E27FC236}">
                <a16:creationId xmlns:a16="http://schemas.microsoft.com/office/drawing/2014/main" id="{F48D9C56-4300-940D-3AE5-B936C9C13804}"/>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MLK Jr vs Malcolm X</a:t>
            </a:r>
            <a:endParaRPr sz="2700" dirty="0">
              <a:latin typeface="Tahoma"/>
              <a:ea typeface="Tahoma"/>
              <a:cs typeface="Tahoma"/>
            </a:endParaRPr>
          </a:p>
        </p:txBody>
      </p:sp>
      <p:graphicFrame>
        <p:nvGraphicFramePr>
          <p:cNvPr id="12" name="Table 11">
            <a:extLst>
              <a:ext uri="{FF2B5EF4-FFF2-40B4-BE49-F238E27FC236}">
                <a16:creationId xmlns:a16="http://schemas.microsoft.com/office/drawing/2014/main" id="{F890BA42-1416-0DAD-3D5A-CA2250ED5A5B}"/>
              </a:ext>
            </a:extLst>
          </p:cNvPr>
          <p:cNvGraphicFramePr>
            <a:graphicFrameLocks noGrp="1"/>
          </p:cNvGraphicFramePr>
          <p:nvPr>
            <p:extLst>
              <p:ext uri="{D42A27DB-BD31-4B8C-83A1-F6EECF244321}">
                <p14:modId xmlns:p14="http://schemas.microsoft.com/office/powerpoint/2010/main" val="2770967460"/>
              </p:ext>
            </p:extLst>
          </p:nvPr>
        </p:nvGraphicFramePr>
        <p:xfrm>
          <a:off x="774700" y="1199674"/>
          <a:ext cx="10515600" cy="2240280"/>
        </p:xfrm>
        <a:graphic>
          <a:graphicData uri="http://schemas.openxmlformats.org/drawingml/2006/table">
            <a:tbl>
              <a:tblPr/>
              <a:tblGrid>
                <a:gridCol w="2239433">
                  <a:extLst>
                    <a:ext uri="{9D8B030D-6E8A-4147-A177-3AD203B41FA5}">
                      <a16:colId xmlns:a16="http://schemas.microsoft.com/office/drawing/2014/main" val="1638832140"/>
                    </a:ext>
                  </a:extLst>
                </a:gridCol>
                <a:gridCol w="3865034">
                  <a:extLst>
                    <a:ext uri="{9D8B030D-6E8A-4147-A177-3AD203B41FA5}">
                      <a16:colId xmlns:a16="http://schemas.microsoft.com/office/drawing/2014/main" val="3704728711"/>
                    </a:ext>
                  </a:extLst>
                </a:gridCol>
                <a:gridCol w="4411133">
                  <a:extLst>
                    <a:ext uri="{9D8B030D-6E8A-4147-A177-3AD203B41FA5}">
                      <a16:colId xmlns:a16="http://schemas.microsoft.com/office/drawing/2014/main" val="3569660437"/>
                    </a:ext>
                  </a:extLst>
                </a:gridCol>
              </a:tblGrid>
              <a:tr h="0">
                <a:tc>
                  <a:txBody>
                    <a:bodyPr/>
                    <a:lstStyle/>
                    <a:p>
                      <a:pPr algn="l" fontAlgn="ctr">
                        <a:lnSpc>
                          <a:spcPts val="2025"/>
                        </a:lnSpc>
                        <a:buNone/>
                      </a:pPr>
                      <a:r>
                        <a:rPr lang="en-US" b="1" i="0">
                          <a:solidFill>
                            <a:srgbClr val="1A2029"/>
                          </a:solidFill>
                          <a:effectLst/>
                          <a:latin typeface="PingFang SC"/>
                        </a:rPr>
                        <a:t>Feature</a:t>
                      </a:r>
                    </a:p>
                  </a:txBody>
                  <a:tcPr marL="95250" marR="95250" marT="57150" marB="57150" anchor="ctr">
                    <a:lnL>
                      <a:noFill/>
                    </a:lnL>
                    <a:lnR w="4763" cap="flat" cmpd="sng" algn="ctr">
                      <a:solidFill>
                        <a:srgbClr val="EEEEEE"/>
                      </a:solidFill>
                      <a:prstDash val="solid"/>
                      <a:round/>
                      <a:headEnd type="none" w="med" len="med"/>
                      <a:tailEnd type="none" w="med" len="med"/>
                    </a:lnR>
                    <a:lnT>
                      <a:noFill/>
                    </a:lnT>
                    <a:lnB w="4763" cap="flat" cmpd="sng" algn="ctr">
                      <a:solidFill>
                        <a:srgbClr val="EEEEEE"/>
                      </a:solidFill>
                      <a:prstDash val="solid"/>
                      <a:round/>
                      <a:headEnd type="none" w="med" len="med"/>
                      <a:tailEnd type="none" w="med" len="med"/>
                    </a:lnB>
                    <a:solidFill>
                      <a:srgbClr val="FFFFFF"/>
                    </a:solidFill>
                  </a:tcPr>
                </a:tc>
                <a:tc>
                  <a:txBody>
                    <a:bodyPr/>
                    <a:lstStyle/>
                    <a:p>
                      <a:pPr algn="l" fontAlgn="ctr">
                        <a:lnSpc>
                          <a:spcPts val="2025"/>
                        </a:lnSpc>
                        <a:buNone/>
                      </a:pPr>
                      <a:r>
                        <a:rPr lang="en-US" b="1" i="0">
                          <a:solidFill>
                            <a:srgbClr val="1A2029"/>
                          </a:solidFill>
                          <a:effectLst/>
                          <a:latin typeface="PingFang SC"/>
                        </a:rPr>
                        <a:t>Martin Luther King Jr.</a:t>
                      </a:r>
                    </a:p>
                  </a:txBody>
                  <a:tcPr marL="95250" marR="95250" marT="57150" marB="57150" anchor="ctr">
                    <a:lnL w="4763" cap="flat" cmpd="sng" algn="ctr">
                      <a:solidFill>
                        <a:srgbClr val="EEEEEE"/>
                      </a:solidFill>
                      <a:prstDash val="solid"/>
                      <a:round/>
                      <a:headEnd type="none" w="med" len="med"/>
                      <a:tailEnd type="none" w="med" len="med"/>
                    </a:lnL>
                    <a:lnR w="4763" cap="flat" cmpd="sng" algn="ctr">
                      <a:solidFill>
                        <a:srgbClr val="EEEEEE"/>
                      </a:solidFill>
                      <a:prstDash val="solid"/>
                      <a:round/>
                      <a:headEnd type="none" w="med" len="med"/>
                      <a:tailEnd type="none" w="med" len="med"/>
                    </a:lnR>
                    <a:lnT>
                      <a:noFill/>
                    </a:lnT>
                    <a:lnB w="4763" cap="flat" cmpd="sng" algn="ctr">
                      <a:solidFill>
                        <a:srgbClr val="EEEEEE"/>
                      </a:solidFill>
                      <a:prstDash val="solid"/>
                      <a:round/>
                      <a:headEnd type="none" w="med" len="med"/>
                      <a:tailEnd type="none" w="med" len="med"/>
                    </a:lnB>
                    <a:solidFill>
                      <a:srgbClr val="FFFFFF"/>
                    </a:solidFill>
                  </a:tcPr>
                </a:tc>
                <a:tc>
                  <a:txBody>
                    <a:bodyPr/>
                    <a:lstStyle/>
                    <a:p>
                      <a:pPr algn="l" fontAlgn="ctr">
                        <a:lnSpc>
                          <a:spcPts val="2025"/>
                        </a:lnSpc>
                        <a:buNone/>
                      </a:pPr>
                      <a:r>
                        <a:rPr lang="en-US" b="1" i="0">
                          <a:solidFill>
                            <a:srgbClr val="1A2029"/>
                          </a:solidFill>
                          <a:effectLst/>
                          <a:latin typeface="PingFang SC"/>
                        </a:rPr>
                        <a:t>Malcolm X</a:t>
                      </a:r>
                    </a:p>
                  </a:txBody>
                  <a:tcPr marL="95250" marR="95250" marT="57150" marB="57150" anchor="ctr">
                    <a:lnL w="4763" cap="flat" cmpd="sng" algn="ctr">
                      <a:solidFill>
                        <a:srgbClr val="EEEEEE"/>
                      </a:solidFill>
                      <a:prstDash val="solid"/>
                      <a:round/>
                      <a:headEnd type="none" w="med" len="med"/>
                      <a:tailEnd type="none" w="med" len="med"/>
                    </a:lnL>
                    <a:lnR>
                      <a:noFill/>
                    </a:lnR>
                    <a:lnT>
                      <a:noFill/>
                    </a:lnT>
                    <a:lnB w="4763"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470279212"/>
                  </a:ext>
                </a:extLst>
              </a:tr>
              <a:tr h="0">
                <a:tc>
                  <a:txBody>
                    <a:bodyPr/>
                    <a:lstStyle/>
                    <a:p>
                      <a:pPr algn="l" fontAlgn="ctr">
                        <a:lnSpc>
                          <a:spcPts val="2025"/>
                        </a:lnSpc>
                        <a:buNone/>
                      </a:pPr>
                      <a:r>
                        <a:rPr lang="en-US" b="1" i="0">
                          <a:solidFill>
                            <a:srgbClr val="1A2029"/>
                          </a:solidFill>
                          <a:effectLst/>
                          <a:latin typeface="PingFang SC"/>
                        </a:rPr>
                        <a:t>Philosophy</a:t>
                      </a:r>
                      <a:endParaRPr lang="en-US" b="0" i="0">
                        <a:solidFill>
                          <a:srgbClr val="1A2029"/>
                        </a:solidFill>
                        <a:effectLst/>
                        <a:latin typeface="PingFang SC"/>
                      </a:endParaRPr>
                    </a:p>
                  </a:txBody>
                  <a:tcPr marL="95250" marR="95250" marT="57150" marB="57150" anchor="ctr">
                    <a:lnL>
                      <a:noFill/>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FFFFF"/>
                    </a:solidFill>
                  </a:tcPr>
                </a:tc>
                <a:tc>
                  <a:txBody>
                    <a:bodyPr/>
                    <a:lstStyle/>
                    <a:p>
                      <a:pPr algn="l" fontAlgn="ctr">
                        <a:lnSpc>
                          <a:spcPts val="2025"/>
                        </a:lnSpc>
                        <a:buNone/>
                      </a:pPr>
                      <a:r>
                        <a:rPr lang="en-US" b="0" i="0">
                          <a:solidFill>
                            <a:srgbClr val="1A2029"/>
                          </a:solidFill>
                          <a:effectLst/>
                          <a:latin typeface="PingFang SC"/>
                        </a:rPr>
                        <a:t>Nonviolent Civil Disobedience</a:t>
                      </a:r>
                    </a:p>
                  </a:txBody>
                  <a:tcPr marL="95250" marR="95250" marT="57150" marB="57150" anchor="ctr">
                    <a:lnL w="4763" cap="flat" cmpd="sng" algn="ctr">
                      <a:solidFill>
                        <a:srgbClr val="EEEEEE"/>
                      </a:solidFill>
                      <a:prstDash val="solid"/>
                      <a:round/>
                      <a:headEnd type="none" w="med" len="med"/>
                      <a:tailEnd type="none" w="med" len="med"/>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FFFFF"/>
                    </a:solidFill>
                  </a:tcPr>
                </a:tc>
                <a:tc>
                  <a:txBody>
                    <a:bodyPr/>
                    <a:lstStyle/>
                    <a:p>
                      <a:pPr algn="l" fontAlgn="ctr">
                        <a:lnSpc>
                          <a:spcPts val="2025"/>
                        </a:lnSpc>
                        <a:buNone/>
                      </a:pPr>
                      <a:r>
                        <a:rPr lang="en-US" b="0" i="0">
                          <a:solidFill>
                            <a:srgbClr val="1A2029"/>
                          </a:solidFill>
                          <a:effectLst/>
                          <a:latin typeface="PingFang SC"/>
                        </a:rPr>
                        <a:t>Self-Defense “By Any Means Necessary”</a:t>
                      </a:r>
                    </a:p>
                  </a:txBody>
                  <a:tcPr marL="95250" marR="95250" marT="57150" marB="57150" anchor="ctr">
                    <a:lnL w="4763" cap="flat" cmpd="sng" algn="ctr">
                      <a:solidFill>
                        <a:srgbClr val="EEEEEE"/>
                      </a:solidFill>
                      <a:prstDash val="solid"/>
                      <a:round/>
                      <a:headEnd type="none" w="med" len="med"/>
                      <a:tailEnd type="none" w="med" len="med"/>
                    </a:lnL>
                    <a:lnR>
                      <a:noFill/>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2352777"/>
                  </a:ext>
                </a:extLst>
              </a:tr>
              <a:tr h="0">
                <a:tc>
                  <a:txBody>
                    <a:bodyPr/>
                    <a:lstStyle/>
                    <a:p>
                      <a:pPr algn="l" fontAlgn="ctr">
                        <a:lnSpc>
                          <a:spcPts val="2025"/>
                        </a:lnSpc>
                        <a:buNone/>
                      </a:pPr>
                      <a:r>
                        <a:rPr lang="en-US" b="1" i="0">
                          <a:solidFill>
                            <a:srgbClr val="1A2029"/>
                          </a:solidFill>
                          <a:effectLst/>
                          <a:latin typeface="PingFang SC"/>
                        </a:rPr>
                        <a:t>Goal</a:t>
                      </a:r>
                      <a:endParaRPr lang="en-US" b="0" i="0">
                        <a:solidFill>
                          <a:srgbClr val="1A2029"/>
                        </a:solidFill>
                        <a:effectLst/>
                        <a:latin typeface="PingFang SC"/>
                      </a:endParaRPr>
                    </a:p>
                  </a:txBody>
                  <a:tcPr marL="95250" marR="95250" marT="57150" marB="57150" anchor="ctr">
                    <a:lnL>
                      <a:noFill/>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6F8FA"/>
                    </a:solidFill>
                  </a:tcPr>
                </a:tc>
                <a:tc>
                  <a:txBody>
                    <a:bodyPr/>
                    <a:lstStyle/>
                    <a:p>
                      <a:pPr algn="l" fontAlgn="ctr">
                        <a:lnSpc>
                          <a:spcPts val="2025"/>
                        </a:lnSpc>
                        <a:buNone/>
                      </a:pPr>
                      <a:r>
                        <a:rPr lang="en-US" b="0" i="0">
                          <a:solidFill>
                            <a:srgbClr val="1A2029"/>
                          </a:solidFill>
                          <a:effectLst/>
                          <a:latin typeface="PingFang SC"/>
                        </a:rPr>
                        <a:t>Integration into a multiracial society</a:t>
                      </a:r>
                    </a:p>
                  </a:txBody>
                  <a:tcPr marL="95250" marR="95250" marT="57150" marB="57150" anchor="ctr">
                    <a:lnL w="4763" cap="flat" cmpd="sng" algn="ctr">
                      <a:solidFill>
                        <a:srgbClr val="EEEEEE"/>
                      </a:solidFill>
                      <a:prstDash val="solid"/>
                      <a:round/>
                      <a:headEnd type="none" w="med" len="med"/>
                      <a:tailEnd type="none" w="med" len="med"/>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6F8FA"/>
                    </a:solidFill>
                  </a:tcPr>
                </a:tc>
                <a:tc>
                  <a:txBody>
                    <a:bodyPr/>
                    <a:lstStyle/>
                    <a:p>
                      <a:pPr algn="l" fontAlgn="ctr">
                        <a:lnSpc>
                          <a:spcPts val="2025"/>
                        </a:lnSpc>
                        <a:buNone/>
                      </a:pPr>
                      <a:r>
                        <a:rPr lang="en-US" b="0" i="0">
                          <a:solidFill>
                            <a:srgbClr val="1A2029"/>
                          </a:solidFill>
                          <a:effectLst/>
                          <a:latin typeface="PingFang SC"/>
                        </a:rPr>
                        <a:t>Black Nationalism, Separation (initially)</a:t>
                      </a:r>
                    </a:p>
                  </a:txBody>
                  <a:tcPr marL="95250" marR="95250" marT="57150" marB="57150" anchor="ctr">
                    <a:lnL w="4763" cap="flat" cmpd="sng" algn="ctr">
                      <a:solidFill>
                        <a:srgbClr val="EEEEEE"/>
                      </a:solidFill>
                      <a:prstDash val="solid"/>
                      <a:round/>
                      <a:headEnd type="none" w="med" len="med"/>
                      <a:tailEnd type="none" w="med" len="med"/>
                    </a:lnL>
                    <a:lnR>
                      <a:noFill/>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6F8FA"/>
                    </a:solidFill>
                  </a:tcPr>
                </a:tc>
                <a:extLst>
                  <a:ext uri="{0D108BD9-81ED-4DB2-BD59-A6C34878D82A}">
                    <a16:rowId xmlns:a16="http://schemas.microsoft.com/office/drawing/2014/main" val="3771772310"/>
                  </a:ext>
                </a:extLst>
              </a:tr>
              <a:tr h="0">
                <a:tc>
                  <a:txBody>
                    <a:bodyPr/>
                    <a:lstStyle/>
                    <a:p>
                      <a:pPr algn="l" fontAlgn="ctr">
                        <a:lnSpc>
                          <a:spcPts val="2025"/>
                        </a:lnSpc>
                        <a:buNone/>
                      </a:pPr>
                      <a:r>
                        <a:rPr lang="en-US" b="1" i="0">
                          <a:solidFill>
                            <a:srgbClr val="1A2029"/>
                          </a:solidFill>
                          <a:effectLst/>
                          <a:latin typeface="PingFang SC"/>
                        </a:rPr>
                        <a:t>View of Whites</a:t>
                      </a:r>
                      <a:endParaRPr lang="en-US" b="0" i="0">
                        <a:solidFill>
                          <a:srgbClr val="1A2029"/>
                        </a:solidFill>
                        <a:effectLst/>
                        <a:latin typeface="PingFang SC"/>
                      </a:endParaRPr>
                    </a:p>
                  </a:txBody>
                  <a:tcPr marL="95250" marR="95250" marT="57150" marB="57150" anchor="ctr">
                    <a:lnL>
                      <a:noFill/>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FFFFF"/>
                    </a:solidFill>
                  </a:tcPr>
                </a:tc>
                <a:tc>
                  <a:txBody>
                    <a:bodyPr/>
                    <a:lstStyle/>
                    <a:p>
                      <a:pPr algn="l" fontAlgn="ctr">
                        <a:lnSpc>
                          <a:spcPts val="2025"/>
                        </a:lnSpc>
                        <a:buNone/>
                      </a:pPr>
                      <a:r>
                        <a:rPr lang="en-US" b="0" i="0" dirty="0">
                          <a:solidFill>
                            <a:srgbClr val="1A2029"/>
                          </a:solidFill>
                          <a:effectLst/>
                          <a:latin typeface="PingFang SC"/>
                        </a:rPr>
                        <a:t>Saw potential for allies and change</a:t>
                      </a:r>
                    </a:p>
                  </a:txBody>
                  <a:tcPr marL="95250" marR="95250" marT="57150" marB="57150" anchor="ctr">
                    <a:lnL w="4763" cap="flat" cmpd="sng" algn="ctr">
                      <a:solidFill>
                        <a:srgbClr val="EEEEEE"/>
                      </a:solidFill>
                      <a:prstDash val="solid"/>
                      <a:round/>
                      <a:headEnd type="none" w="med" len="med"/>
                      <a:tailEnd type="none" w="med" len="med"/>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FFFFF"/>
                    </a:solidFill>
                  </a:tcPr>
                </a:tc>
                <a:tc>
                  <a:txBody>
                    <a:bodyPr/>
                    <a:lstStyle/>
                    <a:p>
                      <a:pPr algn="l" fontAlgn="ctr">
                        <a:lnSpc>
                          <a:spcPts val="2025"/>
                        </a:lnSpc>
                        <a:buNone/>
                      </a:pPr>
                      <a:r>
                        <a:rPr lang="en-US" b="0" i="0">
                          <a:solidFill>
                            <a:srgbClr val="1A2029"/>
                          </a:solidFill>
                          <a:effectLst/>
                          <a:latin typeface="PingFang SC"/>
                        </a:rPr>
                        <a:t>Viewed as the historical oppressor</a:t>
                      </a:r>
                    </a:p>
                  </a:txBody>
                  <a:tcPr marL="95250" marR="95250" marT="57150" marB="57150" anchor="ctr">
                    <a:lnL w="4763" cap="flat" cmpd="sng" algn="ctr">
                      <a:solidFill>
                        <a:srgbClr val="EEEEEE"/>
                      </a:solidFill>
                      <a:prstDash val="solid"/>
                      <a:round/>
                      <a:headEnd type="none" w="med" len="med"/>
                      <a:tailEnd type="none" w="med" len="med"/>
                    </a:lnL>
                    <a:lnR>
                      <a:noFill/>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166674387"/>
                  </a:ext>
                </a:extLst>
              </a:tr>
              <a:tr h="0">
                <a:tc>
                  <a:txBody>
                    <a:bodyPr/>
                    <a:lstStyle/>
                    <a:p>
                      <a:pPr algn="l" fontAlgn="ctr">
                        <a:lnSpc>
                          <a:spcPts val="2025"/>
                        </a:lnSpc>
                        <a:buNone/>
                      </a:pPr>
                      <a:r>
                        <a:rPr lang="en-US" b="1" i="0">
                          <a:solidFill>
                            <a:srgbClr val="1A2029"/>
                          </a:solidFill>
                          <a:effectLst/>
                          <a:latin typeface="PingFang SC"/>
                        </a:rPr>
                        <a:t>Religious Influence</a:t>
                      </a:r>
                      <a:endParaRPr lang="en-US" b="0" i="0">
                        <a:solidFill>
                          <a:srgbClr val="1A2029"/>
                        </a:solidFill>
                        <a:effectLst/>
                        <a:latin typeface="PingFang SC"/>
                      </a:endParaRPr>
                    </a:p>
                  </a:txBody>
                  <a:tcPr marL="95250" marR="95250" marT="57150" marB="57150" anchor="ctr">
                    <a:lnL>
                      <a:noFill/>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6F8FA"/>
                    </a:solidFill>
                  </a:tcPr>
                </a:tc>
                <a:tc>
                  <a:txBody>
                    <a:bodyPr/>
                    <a:lstStyle/>
                    <a:p>
                      <a:pPr algn="l" fontAlgn="ctr">
                        <a:lnSpc>
                          <a:spcPts val="2025"/>
                        </a:lnSpc>
                        <a:buNone/>
                      </a:pPr>
                      <a:r>
                        <a:rPr lang="en-US" b="0" i="0">
                          <a:solidFill>
                            <a:srgbClr val="1A2029"/>
                          </a:solidFill>
                          <a:effectLst/>
                          <a:latin typeface="PingFang SC"/>
                        </a:rPr>
                        <a:t>Protestant Christianity</a:t>
                      </a:r>
                    </a:p>
                  </a:txBody>
                  <a:tcPr marL="95250" marR="95250" marT="57150" marB="57150" anchor="ctr">
                    <a:lnL w="4763" cap="flat" cmpd="sng" algn="ctr">
                      <a:solidFill>
                        <a:srgbClr val="EEEEEE"/>
                      </a:solidFill>
                      <a:prstDash val="solid"/>
                      <a:round/>
                      <a:headEnd type="none" w="med" len="med"/>
                      <a:tailEnd type="none" w="med" len="med"/>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6F8FA"/>
                    </a:solidFill>
                  </a:tcPr>
                </a:tc>
                <a:tc>
                  <a:txBody>
                    <a:bodyPr/>
                    <a:lstStyle/>
                    <a:p>
                      <a:pPr algn="l" fontAlgn="ctr">
                        <a:lnSpc>
                          <a:spcPts val="2025"/>
                        </a:lnSpc>
                        <a:buNone/>
                      </a:pPr>
                      <a:r>
                        <a:rPr lang="en-US" b="0" i="0">
                          <a:solidFill>
                            <a:srgbClr val="1A2029"/>
                          </a:solidFill>
                          <a:effectLst/>
                          <a:latin typeface="PingFang SC"/>
                        </a:rPr>
                        <a:t>Nation of Islam (later Sunni Islam)</a:t>
                      </a:r>
                    </a:p>
                  </a:txBody>
                  <a:tcPr marL="95250" marR="95250" marT="57150" marB="57150" anchor="ctr">
                    <a:lnL w="4763" cap="flat" cmpd="sng" algn="ctr">
                      <a:solidFill>
                        <a:srgbClr val="EEEEEE"/>
                      </a:solidFill>
                      <a:prstDash val="solid"/>
                      <a:round/>
                      <a:headEnd type="none" w="med" len="med"/>
                      <a:tailEnd type="none" w="med" len="med"/>
                    </a:lnL>
                    <a:lnR>
                      <a:noFill/>
                    </a:lnR>
                    <a:lnT w="4763" cap="flat" cmpd="sng" algn="ctr">
                      <a:solidFill>
                        <a:srgbClr val="EEEEEE"/>
                      </a:solidFill>
                      <a:prstDash val="solid"/>
                      <a:round/>
                      <a:headEnd type="none" w="med" len="med"/>
                      <a:tailEnd type="none" w="med" len="med"/>
                    </a:lnT>
                    <a:lnB w="4763" cap="flat" cmpd="sng" algn="ctr">
                      <a:solidFill>
                        <a:srgbClr val="EEEEEE"/>
                      </a:solidFill>
                      <a:prstDash val="solid"/>
                      <a:round/>
                      <a:headEnd type="none" w="med" len="med"/>
                      <a:tailEnd type="none" w="med" len="med"/>
                    </a:lnB>
                    <a:solidFill>
                      <a:srgbClr val="F6F8FA"/>
                    </a:solidFill>
                  </a:tcPr>
                </a:tc>
                <a:extLst>
                  <a:ext uri="{0D108BD9-81ED-4DB2-BD59-A6C34878D82A}">
                    <a16:rowId xmlns:a16="http://schemas.microsoft.com/office/drawing/2014/main" val="1931033317"/>
                  </a:ext>
                </a:extLst>
              </a:tr>
              <a:tr h="0">
                <a:tc>
                  <a:txBody>
                    <a:bodyPr/>
                    <a:lstStyle/>
                    <a:p>
                      <a:pPr algn="l" fontAlgn="ctr">
                        <a:lnSpc>
                          <a:spcPts val="2025"/>
                        </a:lnSpc>
                        <a:buNone/>
                      </a:pPr>
                      <a:r>
                        <a:rPr lang="en-US" b="1" i="0">
                          <a:solidFill>
                            <a:srgbClr val="1A2029"/>
                          </a:solidFill>
                          <a:effectLst/>
                          <a:latin typeface="PingFang SC"/>
                        </a:rPr>
                        <a:t>Primary Base</a:t>
                      </a:r>
                      <a:endParaRPr lang="en-US" b="0" i="0">
                        <a:solidFill>
                          <a:srgbClr val="1A2029"/>
                        </a:solidFill>
                        <a:effectLst/>
                        <a:latin typeface="PingFang SC"/>
                      </a:endParaRPr>
                    </a:p>
                  </a:txBody>
                  <a:tcPr marL="95250" marR="95250" marT="57150" marB="57150" anchor="ctr">
                    <a:lnL>
                      <a:noFill/>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a:noFill/>
                    </a:lnB>
                    <a:solidFill>
                      <a:srgbClr val="FFFFFF"/>
                    </a:solidFill>
                  </a:tcPr>
                </a:tc>
                <a:tc>
                  <a:txBody>
                    <a:bodyPr/>
                    <a:lstStyle/>
                    <a:p>
                      <a:pPr algn="l" fontAlgn="ctr">
                        <a:lnSpc>
                          <a:spcPts val="2025"/>
                        </a:lnSpc>
                        <a:buNone/>
                      </a:pPr>
                      <a:r>
                        <a:rPr lang="en-US" b="0" i="0">
                          <a:solidFill>
                            <a:srgbClr val="1A2029"/>
                          </a:solidFill>
                          <a:effectLst/>
                          <a:latin typeface="PingFang SC"/>
                        </a:rPr>
                        <a:t>The Black church and the rural South</a:t>
                      </a:r>
                    </a:p>
                  </a:txBody>
                  <a:tcPr marL="95250" marR="95250" marT="57150" marB="57150" anchor="ctr">
                    <a:lnL w="4763" cap="flat" cmpd="sng" algn="ctr">
                      <a:solidFill>
                        <a:srgbClr val="EEEEEE"/>
                      </a:solidFill>
                      <a:prstDash val="solid"/>
                      <a:round/>
                      <a:headEnd type="none" w="med" len="med"/>
                      <a:tailEnd type="none" w="med" len="med"/>
                    </a:lnL>
                    <a:lnR w="4763" cap="flat" cmpd="sng" algn="ctr">
                      <a:solidFill>
                        <a:srgbClr val="EEEEEE"/>
                      </a:solidFill>
                      <a:prstDash val="solid"/>
                      <a:round/>
                      <a:headEnd type="none" w="med" len="med"/>
                      <a:tailEnd type="none" w="med" len="med"/>
                    </a:lnR>
                    <a:lnT w="4763" cap="flat" cmpd="sng" algn="ctr">
                      <a:solidFill>
                        <a:srgbClr val="EEEEEE"/>
                      </a:solidFill>
                      <a:prstDash val="solid"/>
                      <a:round/>
                      <a:headEnd type="none" w="med" len="med"/>
                      <a:tailEnd type="none" w="med" len="med"/>
                    </a:lnT>
                    <a:lnB>
                      <a:noFill/>
                    </a:lnB>
                    <a:solidFill>
                      <a:srgbClr val="FFFFFF"/>
                    </a:solidFill>
                  </a:tcPr>
                </a:tc>
                <a:tc>
                  <a:txBody>
                    <a:bodyPr/>
                    <a:lstStyle/>
                    <a:p>
                      <a:pPr algn="l" fontAlgn="ctr">
                        <a:lnSpc>
                          <a:spcPts val="2025"/>
                        </a:lnSpc>
                        <a:buNone/>
                      </a:pPr>
                      <a:r>
                        <a:rPr lang="en-US" b="0" i="0" dirty="0">
                          <a:solidFill>
                            <a:srgbClr val="1A2029"/>
                          </a:solidFill>
                          <a:effectLst/>
                          <a:latin typeface="PingFang SC"/>
                        </a:rPr>
                        <a:t>Urban youth and Northern ghettos</a:t>
                      </a:r>
                    </a:p>
                  </a:txBody>
                  <a:tcPr marL="95250" marR="95250" marT="57150" marB="57150" anchor="ctr">
                    <a:lnL w="4763" cap="flat" cmpd="sng" algn="ctr">
                      <a:solidFill>
                        <a:srgbClr val="EEEEEE"/>
                      </a:solidFill>
                      <a:prstDash val="solid"/>
                      <a:round/>
                      <a:headEnd type="none" w="med" len="med"/>
                      <a:tailEnd type="none" w="med" len="med"/>
                    </a:lnL>
                    <a:lnR>
                      <a:noFill/>
                    </a:lnR>
                    <a:lnT w="4763"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424499720"/>
                  </a:ext>
                </a:extLst>
              </a:tr>
            </a:tbl>
          </a:graphicData>
        </a:graphic>
      </p:graphicFrame>
      <p:sp>
        <p:nvSpPr>
          <p:cNvPr id="14" name="TextBox 13">
            <a:extLst>
              <a:ext uri="{FF2B5EF4-FFF2-40B4-BE49-F238E27FC236}">
                <a16:creationId xmlns:a16="http://schemas.microsoft.com/office/drawing/2014/main" id="{4FC13761-AE0E-BD1F-CA06-E2A48E843143}"/>
              </a:ext>
            </a:extLst>
          </p:cNvPr>
          <p:cNvSpPr txBox="1"/>
          <p:nvPr/>
        </p:nvSpPr>
        <p:spPr>
          <a:xfrm>
            <a:off x="146049" y="3494168"/>
            <a:ext cx="11899900" cy="3323987"/>
          </a:xfrm>
          <a:prstGeom prst="rect">
            <a:avLst/>
          </a:prstGeom>
          <a:noFill/>
        </p:spPr>
        <p:txBody>
          <a:bodyPr wrap="square" rtlCol="0">
            <a:spAutoFit/>
          </a:bodyPr>
          <a:lstStyle/>
          <a:p>
            <a:pPr algn="l" fontAlgn="base">
              <a:lnSpc>
                <a:spcPts val="2025"/>
              </a:lnSpc>
              <a:spcBef>
                <a:spcPts val="600"/>
              </a:spcBef>
              <a:buNone/>
            </a:pPr>
            <a:r>
              <a:rPr lang="en-US" b="1" i="0" dirty="0">
                <a:solidFill>
                  <a:srgbClr val="1A2029"/>
                </a:solidFill>
                <a:effectLst/>
                <a:latin typeface="-apple-system"/>
              </a:rPr>
              <a:t>Malcolm X’s Transformation:</a:t>
            </a:r>
            <a:br>
              <a:rPr lang="en-US" b="0" i="0" dirty="0">
                <a:solidFill>
                  <a:srgbClr val="1A2029"/>
                </a:solidFill>
                <a:effectLst/>
                <a:latin typeface="-apple-system"/>
              </a:rPr>
            </a:br>
            <a:r>
              <a:rPr lang="en-US" b="0" i="0" dirty="0">
                <a:solidFill>
                  <a:srgbClr val="1A2029"/>
                </a:solidFill>
                <a:effectLst/>
                <a:latin typeface="-apple-system"/>
              </a:rPr>
              <a:t>After leaving the Nation of Islam in 1964, Malcolm made the Hajj pilgrimage to Mecca. There, he saw Muslims of all colors—white, Black, brown—praying and living together as equals. This experience shattered his belief that all white people were inherently evil. He returned to America with a new, more inclusive outlook. He began to speak of international human rights and expressed a willingness to work with other civil rights leaders, including Dr. King. He was no longer strictly a separatist but a revolutionary humanist.</a:t>
            </a:r>
          </a:p>
          <a:p>
            <a:pPr algn="l" fontAlgn="base">
              <a:lnSpc>
                <a:spcPts val="2025"/>
              </a:lnSpc>
              <a:spcBef>
                <a:spcPts val="600"/>
              </a:spcBef>
              <a:buNone/>
            </a:pPr>
            <a:endParaRPr lang="en-US" b="0" i="0" dirty="0">
              <a:solidFill>
                <a:srgbClr val="1A2029"/>
              </a:solidFill>
              <a:effectLst/>
              <a:latin typeface="-apple-system"/>
            </a:endParaRPr>
          </a:p>
          <a:p>
            <a:pPr algn="l" fontAlgn="base">
              <a:lnSpc>
                <a:spcPts val="2025"/>
              </a:lnSpc>
              <a:spcBef>
                <a:spcPts val="600"/>
              </a:spcBef>
              <a:buNone/>
            </a:pPr>
            <a:r>
              <a:rPr lang="en-US" b="1" i="0" dirty="0">
                <a:solidFill>
                  <a:srgbClr val="1A2029"/>
                </a:solidFill>
                <a:effectLst/>
                <a:latin typeface="-apple-system"/>
              </a:rPr>
              <a:t>Martin Luther King Jr.'s Radicalization:</a:t>
            </a:r>
            <a:br>
              <a:rPr lang="en-US" b="0" i="0" dirty="0">
                <a:solidFill>
                  <a:srgbClr val="1A2029"/>
                </a:solidFill>
                <a:effectLst/>
                <a:latin typeface="-apple-system"/>
              </a:rPr>
            </a:br>
            <a:r>
              <a:rPr lang="en-US" b="0" i="0" dirty="0">
                <a:solidFill>
                  <a:srgbClr val="1A2029"/>
                </a:solidFill>
                <a:effectLst/>
                <a:latin typeface="-apple-system"/>
              </a:rPr>
              <a:t>In his final years, King also became more radical. He saw that passing laws wasn’t enough. He began to connect racism with economic inequality and launched the </a:t>
            </a:r>
            <a:r>
              <a:rPr lang="en-US" b="1" i="0" dirty="0">
                <a:solidFill>
                  <a:srgbClr val="1A2029"/>
                </a:solidFill>
                <a:effectLst/>
                <a:latin typeface="-apple-system"/>
              </a:rPr>
              <a:t>Poor People’s Campaign</a:t>
            </a:r>
            <a:r>
              <a:rPr lang="en-US" b="0" i="0" dirty="0">
                <a:solidFill>
                  <a:srgbClr val="1A2029"/>
                </a:solidFill>
                <a:effectLst/>
                <a:latin typeface="-apple-system"/>
              </a:rPr>
              <a:t>, a multiracial coalition to fight poverty. He also became one of the most prominent opponents of the Vietnam War, understanding that militarism abroad was linked to violence and poverty at home. He was moving from a focus on civil rights to a broader critique of the entire American system.</a:t>
            </a:r>
          </a:p>
        </p:txBody>
      </p:sp>
    </p:spTree>
    <p:extLst>
      <p:ext uri="{BB962C8B-B14F-4D97-AF65-F5344CB8AC3E}">
        <p14:creationId xmlns:p14="http://schemas.microsoft.com/office/powerpoint/2010/main" val="10254765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88">
            <a:extLst>
              <a:ext uri="{FF2B5EF4-FFF2-40B4-BE49-F238E27FC236}">
                <a16:creationId xmlns:a16="http://schemas.microsoft.com/office/drawing/2014/main" id="{D35DA383-4D19-0C53-91E5-BD3EFD75F1D3}"/>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The Venus Project</a:t>
            </a:r>
            <a:endParaRPr sz="2700" dirty="0">
              <a:latin typeface="Tahoma"/>
              <a:ea typeface="Tahoma"/>
              <a:cs typeface="Tahoma"/>
            </a:endParaRPr>
          </a:p>
        </p:txBody>
      </p:sp>
      <p:sp>
        <p:nvSpPr>
          <p:cNvPr id="3" name="TextBox 2">
            <a:extLst>
              <a:ext uri="{FF2B5EF4-FFF2-40B4-BE49-F238E27FC236}">
                <a16:creationId xmlns:a16="http://schemas.microsoft.com/office/drawing/2014/main" id="{413FA3DB-29DF-8FE4-CFE1-F7CC0F2E3077}"/>
              </a:ext>
            </a:extLst>
          </p:cNvPr>
          <p:cNvSpPr txBox="1"/>
          <p:nvPr/>
        </p:nvSpPr>
        <p:spPr>
          <a:xfrm>
            <a:off x="186267" y="1274233"/>
            <a:ext cx="11827933" cy="5478423"/>
          </a:xfrm>
          <a:prstGeom prst="rect">
            <a:avLst/>
          </a:prstGeom>
          <a:noFill/>
        </p:spPr>
        <p:txBody>
          <a:bodyPr wrap="square" rtlCol="0">
            <a:spAutoFit/>
          </a:bodyPr>
          <a:lstStyle/>
          <a:p>
            <a:pPr algn="l" fontAlgn="base">
              <a:lnSpc>
                <a:spcPts val="1950"/>
              </a:lnSpc>
              <a:spcBef>
                <a:spcPts val="1200"/>
              </a:spcBef>
              <a:buNone/>
            </a:pPr>
            <a:r>
              <a:rPr lang="en-US" b="1" i="0">
                <a:solidFill>
                  <a:srgbClr val="1A2029"/>
                </a:solidFill>
                <a:effectLst/>
                <a:latin typeface="-apple-system"/>
              </a:rPr>
              <a:t>What is The Venus Project?</a:t>
            </a:r>
          </a:p>
          <a:p>
            <a:pPr algn="l" fontAlgn="base">
              <a:lnSpc>
                <a:spcPts val="2025"/>
              </a:lnSpc>
              <a:spcBef>
                <a:spcPts val="600"/>
              </a:spcBef>
              <a:buNone/>
            </a:pPr>
            <a:r>
              <a:rPr lang="en-US" b="0" i="0">
                <a:solidFill>
                  <a:srgbClr val="1A2029"/>
                </a:solidFill>
                <a:effectLst/>
                <a:latin typeface="-apple-system"/>
              </a:rPr>
              <a:t>The Venus Project is an organization founded by </a:t>
            </a:r>
            <a:r>
              <a:rPr lang="en-US" b="1" i="0">
                <a:solidFill>
                  <a:srgbClr val="1A2029"/>
                </a:solidFill>
                <a:effectLst/>
                <a:latin typeface="-apple-system"/>
              </a:rPr>
              <a:t>Jacque Fresco</a:t>
            </a:r>
            <a:r>
              <a:rPr lang="en-US" b="0" i="0">
                <a:solidFill>
                  <a:srgbClr val="1A2029"/>
                </a:solidFill>
                <a:effectLst/>
                <a:latin typeface="-apple-system"/>
              </a:rPr>
              <a:t> (1916-2017), a self-taught industrial designer, social engineer, and futurist. It operates as a research and educational center located in Venus, Florida.</a:t>
            </a:r>
          </a:p>
          <a:p>
            <a:pPr algn="l" fontAlgn="base">
              <a:lnSpc>
                <a:spcPts val="2025"/>
              </a:lnSpc>
              <a:spcBef>
                <a:spcPts val="600"/>
              </a:spcBef>
              <a:buNone/>
            </a:pPr>
            <a:r>
              <a:rPr lang="en-US" b="0" i="0">
                <a:solidFill>
                  <a:srgbClr val="1A2029"/>
                </a:solidFill>
                <a:effectLst/>
                <a:latin typeface="-apple-system"/>
              </a:rPr>
              <a:t>At its core, The Venus Project advocates for a </a:t>
            </a:r>
            <a:r>
              <a:rPr lang="en-US" b="1" i="0">
                <a:solidFill>
                  <a:srgbClr val="1A2029"/>
                </a:solidFill>
                <a:effectLst/>
                <a:latin typeface="-apple-system"/>
              </a:rPr>
              <a:t>Resource-Based Economy (RBE)</a:t>
            </a:r>
            <a:r>
              <a:rPr lang="en-US" b="0" i="0">
                <a:solidFill>
                  <a:srgbClr val="1A2029"/>
                </a:solidFill>
                <a:effectLst/>
                <a:latin typeface="-apple-system"/>
              </a:rPr>
              <a:t>. This is the central pillar of its philosophy.</a:t>
            </a:r>
          </a:p>
          <a:p>
            <a:pPr algn="l" fontAlgn="base">
              <a:lnSpc>
                <a:spcPts val="1950"/>
              </a:lnSpc>
              <a:spcBef>
                <a:spcPts val="1200"/>
              </a:spcBef>
              <a:buNone/>
            </a:pPr>
            <a:r>
              <a:rPr lang="en-US" b="1" i="0">
                <a:solidFill>
                  <a:srgbClr val="1A2029"/>
                </a:solidFill>
                <a:effectLst/>
                <a:latin typeface="-apple-system"/>
              </a:rPr>
              <a:t>The Core Concept: A Resource-Based Economy (RBE)</a:t>
            </a:r>
          </a:p>
          <a:p>
            <a:pPr algn="l" fontAlgn="base">
              <a:lnSpc>
                <a:spcPts val="2025"/>
              </a:lnSpc>
              <a:spcBef>
                <a:spcPts val="600"/>
              </a:spcBef>
              <a:buNone/>
            </a:pPr>
            <a:r>
              <a:rPr lang="en-US" b="0" i="0">
                <a:solidFill>
                  <a:srgbClr val="1A2029"/>
                </a:solidFill>
                <a:effectLst/>
                <a:latin typeface="-apple-system"/>
              </a:rPr>
              <a:t>An RBE is a system where all goods and services are available to everyone without the use of money, credit, barter, or any form of debt or servitude. Instead of being driven by profit, the economy is managed by the automated monitoring of the planet’s resources.</a:t>
            </a:r>
          </a:p>
          <a:p>
            <a:pPr algn="l" fontAlgn="base">
              <a:lnSpc>
                <a:spcPts val="2025"/>
              </a:lnSpc>
              <a:spcBef>
                <a:spcPts val="600"/>
              </a:spcBef>
              <a:buNone/>
            </a:pPr>
            <a:r>
              <a:rPr lang="en-US" b="0" i="0">
                <a:solidFill>
                  <a:srgbClr val="1A2029"/>
                </a:solidFill>
                <a:effectLst/>
                <a:latin typeface="-apple-system"/>
              </a:rPr>
              <a:t>Key features of an RBE include:</a:t>
            </a:r>
          </a:p>
          <a:p>
            <a:pPr algn="l" fontAlgn="base">
              <a:lnSpc>
                <a:spcPts val="2025"/>
              </a:lnSpc>
              <a:spcBef>
                <a:spcPts val="600"/>
              </a:spcBef>
              <a:buFont typeface="Arial" panose="020B0604020202020204" pitchFamily="34" charset="0"/>
              <a:buChar char="•"/>
            </a:pPr>
            <a:r>
              <a:rPr lang="en-US" b="1" i="0">
                <a:solidFill>
                  <a:srgbClr val="1A2029"/>
                </a:solidFill>
                <a:effectLst/>
                <a:latin typeface="-apple-system"/>
              </a:rPr>
              <a:t>No Money or Property:</a:t>
            </a:r>
            <a:r>
              <a:rPr lang="en-US" b="0" i="0">
                <a:solidFill>
                  <a:srgbClr val="1A2029"/>
                </a:solidFill>
                <a:effectLst/>
                <a:latin typeface="-apple-system"/>
              </a:rPr>
              <a:t> Money, credit, and the concept of private property (as we know it) are eliminated. Instead, the world’s resources are declared the </a:t>
            </a:r>
            <a:r>
              <a:rPr lang="en-US" b="1" i="0">
                <a:solidFill>
                  <a:srgbClr val="1A2029"/>
                </a:solidFill>
                <a:effectLst/>
                <a:latin typeface="-apple-system"/>
              </a:rPr>
              <a:t>common heritage of all people</a:t>
            </a:r>
            <a:r>
              <a:rPr lang="en-US" b="0" i="0">
                <a:solidFill>
                  <a:srgbClr val="1A2029"/>
                </a:solidFill>
                <a:effectLst/>
                <a:latin typeface="-apple-system"/>
              </a:rPr>
              <a:t>.</a:t>
            </a:r>
          </a:p>
          <a:p>
            <a:pPr algn="l" fontAlgn="base">
              <a:lnSpc>
                <a:spcPts val="2025"/>
              </a:lnSpc>
              <a:spcBef>
                <a:spcPts val="600"/>
              </a:spcBef>
              <a:buFont typeface="Arial" panose="020B0604020202020204" pitchFamily="34" charset="0"/>
              <a:buChar char="•"/>
            </a:pPr>
            <a:r>
              <a:rPr lang="en-US" b="1" i="0">
                <a:solidFill>
                  <a:srgbClr val="1A2029"/>
                </a:solidFill>
                <a:effectLst/>
                <a:latin typeface="-apple-system"/>
              </a:rPr>
              <a:t>Automation and Cybernation:</a:t>
            </a:r>
            <a:r>
              <a:rPr lang="en-US" b="0" i="0">
                <a:solidFill>
                  <a:srgbClr val="1A2029"/>
                </a:solidFill>
                <a:effectLst/>
                <a:latin typeface="-apple-system"/>
              </a:rPr>
              <a:t> The majority of labor, including mundane and dangerous jobs, is automated. This frees humanity from repetitive toil and allows for a higher standard of living for everyone.</a:t>
            </a:r>
          </a:p>
          <a:p>
            <a:pPr algn="l" fontAlgn="base">
              <a:lnSpc>
                <a:spcPts val="2025"/>
              </a:lnSpc>
              <a:spcBef>
                <a:spcPts val="600"/>
              </a:spcBef>
              <a:buFont typeface="Arial" panose="020B0604020202020204" pitchFamily="34" charset="0"/>
              <a:buChar char="•"/>
            </a:pPr>
            <a:r>
              <a:rPr lang="en-US" b="1" i="0">
                <a:solidFill>
                  <a:srgbClr val="1A2029"/>
                </a:solidFill>
                <a:effectLst/>
                <a:latin typeface="-apple-system"/>
              </a:rPr>
              <a:t>Scientific Management of Resources:</a:t>
            </a:r>
            <a:r>
              <a:rPr lang="en-US" b="0" i="0">
                <a:solidFill>
                  <a:srgbClr val="1A2029"/>
                </a:solidFill>
                <a:effectLst/>
                <a:latin typeface="-apple-system"/>
              </a:rPr>
              <a:t> A centralized, AI-driven system would survey the planet’s resources (minerals, water, energy, etc.) and manage their use in the most sustainable and efficient way possible. Decisions are not made by politicians or corporations, but by scientific data and the carrying capacity of the Earth.</a:t>
            </a:r>
          </a:p>
          <a:p>
            <a:pPr algn="l" fontAlgn="base">
              <a:lnSpc>
                <a:spcPts val="2025"/>
              </a:lnSpc>
              <a:spcBef>
                <a:spcPts val="600"/>
              </a:spcBef>
              <a:buFont typeface="Arial" panose="020B0604020202020204" pitchFamily="34" charset="0"/>
              <a:buChar char="•"/>
            </a:pPr>
            <a:r>
              <a:rPr lang="en-US" b="1" i="0">
                <a:solidFill>
                  <a:srgbClr val="1A2029"/>
                </a:solidFill>
                <a:effectLst/>
                <a:latin typeface="-apple-system"/>
              </a:rPr>
              <a:t>Focus on Needs, Not Wants:</a:t>
            </a:r>
            <a:r>
              <a:rPr lang="en-US" b="0" i="0">
                <a:solidFill>
                  <a:srgbClr val="1A2029"/>
                </a:solidFill>
                <a:effectLst/>
                <a:latin typeface="-apple-system"/>
              </a:rPr>
              <a:t> The system’s primary goal is to meet the needs of every human being—clean air, water, food, housing, healthcare, and education—while preserving the environment.</a:t>
            </a:r>
          </a:p>
        </p:txBody>
      </p:sp>
    </p:spTree>
    <p:extLst>
      <p:ext uri="{BB962C8B-B14F-4D97-AF65-F5344CB8AC3E}">
        <p14:creationId xmlns:p14="http://schemas.microsoft.com/office/powerpoint/2010/main" val="11784551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9FCA-BDB8-9B4A-E939-4A6ADB90B5C2}"/>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ACC9969C-29FE-CA84-2111-1EAFB6240E33}"/>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The Venus Project</a:t>
            </a:r>
            <a:endParaRPr sz="2700" dirty="0">
              <a:latin typeface="Tahoma"/>
              <a:ea typeface="Tahoma"/>
              <a:cs typeface="Tahoma"/>
            </a:endParaRPr>
          </a:p>
        </p:txBody>
      </p:sp>
      <p:sp>
        <p:nvSpPr>
          <p:cNvPr id="3" name="TextBox 2">
            <a:extLst>
              <a:ext uri="{FF2B5EF4-FFF2-40B4-BE49-F238E27FC236}">
                <a16:creationId xmlns:a16="http://schemas.microsoft.com/office/drawing/2014/main" id="{DD8F0581-A217-649D-D40C-70986D1AD7C1}"/>
              </a:ext>
            </a:extLst>
          </p:cNvPr>
          <p:cNvSpPr txBox="1"/>
          <p:nvPr/>
        </p:nvSpPr>
        <p:spPr>
          <a:xfrm>
            <a:off x="182033" y="1113366"/>
            <a:ext cx="11827933" cy="5456365"/>
          </a:xfrm>
          <a:prstGeom prst="rect">
            <a:avLst/>
          </a:prstGeom>
          <a:noFill/>
        </p:spPr>
        <p:txBody>
          <a:bodyPr wrap="square" rtlCol="0">
            <a:spAutoFit/>
          </a:bodyPr>
          <a:lstStyle/>
          <a:p>
            <a:pPr algn="l" fontAlgn="base">
              <a:lnSpc>
                <a:spcPts val="1950"/>
              </a:lnSpc>
              <a:spcBef>
                <a:spcPts val="1200"/>
              </a:spcBef>
              <a:buNone/>
            </a:pPr>
            <a:r>
              <a:rPr lang="en-US" sz="2000" b="1" i="0" dirty="0">
                <a:solidFill>
                  <a:srgbClr val="1A2029"/>
                </a:solidFill>
                <a:effectLst/>
                <a:latin typeface="-apple-system"/>
              </a:rPr>
              <a:t>What Would a Venus Project Society Look Like?</a:t>
            </a:r>
          </a:p>
          <a:p>
            <a:pPr algn="l" fontAlgn="base">
              <a:lnSpc>
                <a:spcPts val="1950"/>
              </a:lnSpc>
              <a:spcBef>
                <a:spcPts val="1200"/>
              </a:spcBef>
              <a:buNone/>
            </a:pPr>
            <a:endParaRPr lang="en-US" sz="2000" b="1" i="0" dirty="0">
              <a:solidFill>
                <a:srgbClr val="1A2029"/>
              </a:solidFill>
              <a:effectLst/>
              <a:latin typeface="-apple-system"/>
            </a:endParaRPr>
          </a:p>
          <a:p>
            <a:pPr algn="l" fontAlgn="base">
              <a:lnSpc>
                <a:spcPts val="2025"/>
              </a:lnSpc>
              <a:spcBef>
                <a:spcPts val="600"/>
              </a:spcBef>
              <a:buNone/>
            </a:pPr>
            <a:r>
              <a:rPr lang="en-US" sz="2000" b="0" i="0" dirty="0">
                <a:solidFill>
                  <a:srgbClr val="1A2029"/>
                </a:solidFill>
                <a:effectLst/>
                <a:latin typeface="-apple-system"/>
              </a:rPr>
              <a:t>Fresco and his team spent decades designing detailed models and blueprints of what this future would look like.</a:t>
            </a:r>
          </a:p>
          <a:p>
            <a:pPr algn="l" fontAlgn="base">
              <a:lnSpc>
                <a:spcPts val="2025"/>
              </a:lnSpc>
              <a:spcBef>
                <a:spcPts val="600"/>
              </a:spcBef>
              <a:buNone/>
            </a:pPr>
            <a:endParaRPr lang="en-US" sz="2000"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Circular Cities:</a:t>
            </a:r>
            <a:r>
              <a:rPr lang="en-US" sz="2000" b="0" i="0" dirty="0">
                <a:solidFill>
                  <a:srgbClr val="1A2029"/>
                </a:solidFill>
                <a:effectLst/>
                <a:latin typeface="-apple-system"/>
              </a:rPr>
              <a:t> The vision involves building entirely new, self-sufficient cities designed in a circular pattern. This layout minimizes waste and transportation needs. The cities would be divided into different zones:</a:t>
            </a:r>
          </a:p>
          <a:p>
            <a:pPr marL="742950" lvl="1" indent="-285750"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Central Dome:</a:t>
            </a:r>
            <a:r>
              <a:rPr lang="en-US" sz="2000" b="0" i="0" dirty="0">
                <a:solidFill>
                  <a:srgbClr val="1A2029"/>
                </a:solidFill>
                <a:effectLst/>
                <a:latin typeface="-apple-system"/>
              </a:rPr>
              <a:t> The core for social, cultural, and educational activities.</a:t>
            </a:r>
          </a:p>
          <a:p>
            <a:pPr marL="742950" lvl="1" indent="-285750"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Agricultural Belt:</a:t>
            </a:r>
            <a:r>
              <a:rPr lang="en-US" sz="2000" b="0" i="0" dirty="0">
                <a:solidFill>
                  <a:srgbClr val="1A2029"/>
                </a:solidFill>
                <a:effectLst/>
                <a:latin typeface="-apple-system"/>
              </a:rPr>
              <a:t> A section for hydroponic and aeroponic food production.</a:t>
            </a:r>
          </a:p>
          <a:p>
            <a:pPr marL="742950" lvl="1" indent="-285750"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Residential Zone:</a:t>
            </a:r>
            <a:r>
              <a:rPr lang="en-US" sz="2000" b="0" i="0" dirty="0">
                <a:solidFill>
                  <a:srgbClr val="1A2029"/>
                </a:solidFill>
                <a:effectLst/>
                <a:latin typeface="-apple-system"/>
              </a:rPr>
              <a:t> Housing integrated with parks and natural landscapes.</a:t>
            </a:r>
          </a:p>
          <a:p>
            <a:pPr marL="742950" lvl="1" indent="-285750"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Energy Belt:</a:t>
            </a:r>
            <a:r>
              <a:rPr lang="en-US" sz="2000" b="0" i="0" dirty="0">
                <a:solidFill>
                  <a:srgbClr val="1A2029"/>
                </a:solidFill>
                <a:effectLst/>
                <a:latin typeface="-apple-system"/>
              </a:rPr>
              <a:t> Using clean, renewable sources like solar, wind, and geothermal power.</a:t>
            </a:r>
          </a:p>
          <a:p>
            <a:pPr lvl="1" algn="l" fontAlgn="base">
              <a:lnSpc>
                <a:spcPts val="2025"/>
              </a:lnSpc>
              <a:spcBef>
                <a:spcPts val="600"/>
              </a:spcBef>
            </a:pPr>
            <a:endParaRPr lang="en-US" sz="2000"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Transportation:</a:t>
            </a:r>
            <a:r>
              <a:rPr lang="en-US" sz="2000" b="0" i="0" dirty="0">
                <a:solidFill>
                  <a:srgbClr val="1A2029"/>
                </a:solidFill>
                <a:effectLst/>
                <a:latin typeface="-apple-system"/>
              </a:rPr>
              <a:t> Fully automated, electric vehicles and high-speed maglev trains would provide seamless, integrated public transportation, eliminating the need for private cars.</a:t>
            </a:r>
          </a:p>
          <a:p>
            <a:pPr algn="l" fontAlgn="base">
              <a:lnSpc>
                <a:spcPts val="2025"/>
              </a:lnSpc>
              <a:spcBef>
                <a:spcPts val="600"/>
              </a:spcBef>
            </a:pPr>
            <a:endParaRPr lang="en-US" sz="2000"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sz="2000" b="1" i="0" dirty="0">
                <a:solidFill>
                  <a:srgbClr val="1A2029"/>
                </a:solidFill>
                <a:effectLst/>
                <a:latin typeface="-apple-system"/>
              </a:rPr>
              <a:t>Daily Life:</a:t>
            </a:r>
            <a:r>
              <a:rPr lang="en-US" sz="2000" b="0" i="0" dirty="0">
                <a:solidFill>
                  <a:srgbClr val="1A2029"/>
                </a:solidFill>
                <a:effectLst/>
                <a:latin typeface="-apple-system"/>
              </a:rPr>
              <a:t> With automation handling production and resource management, people would be free to pursue their interests—science, art, education, exploration, and social relationships. The emphasis would shift from “jobs” and “careers” to lifelong learning and contribution.</a:t>
            </a:r>
          </a:p>
        </p:txBody>
      </p:sp>
    </p:spTree>
    <p:extLst>
      <p:ext uri="{BB962C8B-B14F-4D97-AF65-F5344CB8AC3E}">
        <p14:creationId xmlns:p14="http://schemas.microsoft.com/office/powerpoint/2010/main" val="3370821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2D44D2-3C89-CCD4-33DD-A7D10E5E28C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061BA2E-A388-41C5-B73A-B0FEB6B10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city&#10;&#10;AI-generated content may be incorrect.">
            <a:extLst>
              <a:ext uri="{FF2B5EF4-FFF2-40B4-BE49-F238E27FC236}">
                <a16:creationId xmlns:a16="http://schemas.microsoft.com/office/drawing/2014/main" id="{ADEEB78A-27A8-6739-102A-EF840563C9E7}"/>
              </a:ext>
            </a:extLst>
          </p:cNvPr>
          <p:cNvPicPr>
            <a:picLocks noChangeAspect="1"/>
          </p:cNvPicPr>
          <p:nvPr/>
        </p:nvPicPr>
        <p:blipFill>
          <a:blip r:embed="rId2">
            <a:extLst>
              <a:ext uri="{28A0092B-C50C-407E-A947-70E740481C1C}">
                <a14:useLocalDpi xmlns:a14="http://schemas.microsoft.com/office/drawing/2010/main" val="0"/>
              </a:ext>
            </a:extLst>
          </a:blip>
          <a:srcRect l="30736" r="19264"/>
          <a:stretch>
            <a:fillRect/>
          </a:stretch>
        </p:blipFill>
        <p:spPr>
          <a:xfrm>
            <a:off x="-1" y="10"/>
            <a:ext cx="6096001" cy="6857990"/>
          </a:xfrm>
          <a:prstGeom prst="rect">
            <a:avLst/>
          </a:prstGeom>
        </p:spPr>
      </p:pic>
      <p:pic>
        <p:nvPicPr>
          <p:cNvPr id="7" name="Picture 6" descr="A futuristic building on a island&#10;&#10;AI-generated content may be incorrect.">
            <a:extLst>
              <a:ext uri="{FF2B5EF4-FFF2-40B4-BE49-F238E27FC236}">
                <a16:creationId xmlns:a16="http://schemas.microsoft.com/office/drawing/2014/main" id="{F430816B-1FFC-9425-98F3-483081B4D894}"/>
              </a:ext>
            </a:extLst>
          </p:cNvPr>
          <p:cNvPicPr>
            <a:picLocks noChangeAspect="1"/>
          </p:cNvPicPr>
          <p:nvPr/>
        </p:nvPicPr>
        <p:blipFill>
          <a:blip r:embed="rId3">
            <a:extLst>
              <a:ext uri="{28A0092B-C50C-407E-A947-70E740481C1C}">
                <a14:useLocalDpi xmlns:a14="http://schemas.microsoft.com/office/drawing/2010/main" val="0"/>
              </a:ext>
            </a:extLst>
          </a:blip>
          <a:srcRect t="12510" r="-2" b="-2"/>
          <a:stretch>
            <a:fillRect/>
          </a:stretch>
        </p:blipFill>
        <p:spPr>
          <a:xfrm>
            <a:off x="6094476" y="10"/>
            <a:ext cx="6094477" cy="6857990"/>
          </a:xfrm>
          <a:prstGeom prst="rect">
            <a:avLst/>
          </a:prstGeom>
        </p:spPr>
      </p:pic>
      <p:sp>
        <p:nvSpPr>
          <p:cNvPr id="14" name="Rectangle 13">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gradFill>
            <a:gsLst>
              <a:gs pos="41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288">
            <a:extLst>
              <a:ext uri="{FF2B5EF4-FFF2-40B4-BE49-F238E27FC236}">
                <a16:creationId xmlns:a16="http://schemas.microsoft.com/office/drawing/2014/main" id="{ED582DA0-4948-1EEB-F92F-41BAF10D0CCC}"/>
              </a:ext>
            </a:extLst>
          </p:cNvPr>
          <p:cNvSpPr/>
          <p:nvPr/>
        </p:nvSpPr>
        <p:spPr>
          <a:xfrm>
            <a:off x="404553" y="3091928"/>
            <a:ext cx="9079991" cy="2387600"/>
          </a:xfrm>
          <a:prstGeom prst="rect">
            <a:avLst/>
          </a:prstGeom>
        </p:spPr>
        <p:txBody>
          <a:bodyPr vert="horz" lIns="91440" tIns="45720" rIns="91440" bIns="45720" rtlCol="0" anchor="b">
            <a:normAutofit/>
          </a:bodyPr>
          <a:lstStyle/>
          <a:p>
            <a:pPr>
              <a:lnSpc>
                <a:spcPct val="90000"/>
              </a:lnSpc>
              <a:spcBef>
                <a:spcPct val="0"/>
              </a:spcBef>
              <a:spcAft>
                <a:spcPts val="600"/>
              </a:spcAft>
              <a:tabLst/>
            </a:pPr>
            <a:endParaRPr lang="en-US" sz="3400" kern="1200" dirty="0">
              <a:solidFill>
                <a:schemeClr val="bg1"/>
              </a:solidFill>
              <a:latin typeface="+mj-lt"/>
              <a:ea typeface="+mj-ea"/>
              <a:cs typeface="+mj-cs"/>
            </a:endParaRPr>
          </a:p>
          <a:p>
            <a:pPr>
              <a:lnSpc>
                <a:spcPct val="90000"/>
              </a:lnSpc>
              <a:spcBef>
                <a:spcPct val="0"/>
              </a:spcBef>
              <a:spcAft>
                <a:spcPts val="600"/>
              </a:spcAft>
              <a:tabLst/>
            </a:pPr>
            <a:endParaRPr lang="en-US" sz="3400" kern="1200" dirty="0">
              <a:solidFill>
                <a:schemeClr val="bg1"/>
              </a:solidFill>
              <a:latin typeface="+mj-lt"/>
              <a:ea typeface="+mj-ea"/>
              <a:cs typeface="+mj-cs"/>
            </a:endParaRPr>
          </a:p>
          <a:p>
            <a:pPr marL="671194">
              <a:lnSpc>
                <a:spcPct val="90000"/>
              </a:lnSpc>
              <a:spcBef>
                <a:spcPct val="0"/>
              </a:spcBef>
              <a:spcAft>
                <a:spcPts val="600"/>
              </a:spcAft>
              <a:tabLst/>
            </a:pPr>
            <a:r>
              <a:rPr lang="en-US" sz="3400" b="1" kern="1200" spc="-110" dirty="0">
                <a:solidFill>
                  <a:schemeClr val="bg1"/>
                </a:solidFill>
                <a:latin typeface="+mj-lt"/>
                <a:ea typeface="+mj-ea"/>
                <a:cs typeface="+mj-cs"/>
              </a:rPr>
              <a:t>X-Factor – History – The Venus Project</a:t>
            </a:r>
            <a:endParaRPr lang="en-US" sz="3400" kern="1200" dirty="0">
              <a:solidFill>
                <a:schemeClr val="bg1"/>
              </a:solidFill>
              <a:latin typeface="+mj-lt"/>
              <a:ea typeface="+mj-ea"/>
              <a:cs typeface="+mj-cs"/>
            </a:endParaRPr>
          </a:p>
        </p:txBody>
      </p:sp>
      <p:sp>
        <p:nvSpPr>
          <p:cNvPr id="19" name="Rectangle: Rounded Corners 1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575039"/>
            <a:ext cx="9784080" cy="685800"/>
          </a:xfrm>
          <a:prstGeom prst="roundRect">
            <a:avLst>
              <a:gd name="adj" fmla="val 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Tree>
    <p:extLst>
      <p:ext uri="{BB962C8B-B14F-4D97-AF65-F5344CB8AC3E}">
        <p14:creationId xmlns:p14="http://schemas.microsoft.com/office/powerpoint/2010/main" val="5611960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5545-F556-5248-0483-2A7666A028E1}"/>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6FDDA656-C37C-820E-CEF9-C3098BAD852E}"/>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Wallstreet</a:t>
            </a:r>
            <a:endParaRPr sz="2700" dirty="0">
              <a:latin typeface="Tahoma"/>
              <a:ea typeface="Tahoma"/>
              <a:cs typeface="Tahoma"/>
            </a:endParaRPr>
          </a:p>
        </p:txBody>
      </p:sp>
      <p:sp>
        <p:nvSpPr>
          <p:cNvPr id="3" name="TextBox 2">
            <a:extLst>
              <a:ext uri="{FF2B5EF4-FFF2-40B4-BE49-F238E27FC236}">
                <a16:creationId xmlns:a16="http://schemas.microsoft.com/office/drawing/2014/main" id="{D64E3AFC-206F-3B1B-71A6-E063661E34F4}"/>
              </a:ext>
            </a:extLst>
          </p:cNvPr>
          <p:cNvSpPr txBox="1"/>
          <p:nvPr/>
        </p:nvSpPr>
        <p:spPr>
          <a:xfrm>
            <a:off x="182033" y="1210733"/>
            <a:ext cx="11827933" cy="5468420"/>
          </a:xfrm>
          <a:prstGeom prst="rect">
            <a:avLst/>
          </a:prstGeom>
          <a:noFill/>
        </p:spPr>
        <p:txBody>
          <a:bodyPr wrap="square" rtlCol="0">
            <a:spAutoFit/>
          </a:bodyPr>
          <a:lstStyle/>
          <a:p>
            <a:pPr algn="l" fontAlgn="base">
              <a:lnSpc>
                <a:spcPts val="2025"/>
              </a:lnSpc>
              <a:spcBef>
                <a:spcPts val="600"/>
              </a:spcBef>
              <a:buNone/>
            </a:pPr>
            <a:r>
              <a:rPr lang="en-US" sz="1600" b="0" i="0" dirty="0">
                <a:solidFill>
                  <a:srgbClr val="1A2029"/>
                </a:solidFill>
                <a:effectLst/>
                <a:latin typeface="-apple-system"/>
              </a:rPr>
              <a:t>In the early 20th century, Tulsa’s Greenwood District was a thriving, self-sufficient African American community. Following the oil boom in Oklahoma, the city was booming, and segregation laws forced Black residents to create their own economic ecosystem. This segregation, born of oppression, ironically became the foundation for Black prosperity.</a:t>
            </a:r>
          </a:p>
          <a:p>
            <a:pPr algn="l" fontAlgn="base">
              <a:lnSpc>
                <a:spcPts val="2025"/>
              </a:lnSpc>
              <a:spcBef>
                <a:spcPts val="600"/>
              </a:spcBef>
              <a:buNone/>
            </a:pPr>
            <a:r>
              <a:rPr lang="en-US" sz="1600" b="1" i="0" dirty="0">
                <a:solidFill>
                  <a:srgbClr val="1A2029"/>
                </a:solidFill>
                <a:effectLst/>
                <a:latin typeface="-apple-system"/>
              </a:rPr>
              <a:t>What made it so successful?</a:t>
            </a:r>
            <a:endParaRPr lang="en-US" sz="1600"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Self-Reliance:</a:t>
            </a:r>
            <a:r>
              <a:rPr lang="en-US" sz="1600" b="0" i="0" dirty="0">
                <a:solidFill>
                  <a:srgbClr val="1A2029"/>
                </a:solidFill>
                <a:effectLst/>
                <a:latin typeface="-apple-system"/>
              </a:rPr>
              <a:t> The community had its own everything. Black dollars were spent at Black-owned businesses and circulated within the community dozens of times before leaving.</a:t>
            </a:r>
          </a:p>
          <a:p>
            <a:pPr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Entrepreneurial Spirit:</a:t>
            </a:r>
            <a:r>
              <a:rPr lang="en-US" sz="1600" b="0" i="0" dirty="0">
                <a:solidFill>
                  <a:srgbClr val="1A2029"/>
                </a:solidFill>
                <a:effectLst/>
                <a:latin typeface="-apple-system"/>
              </a:rPr>
              <a:t> The district was home to over 300 Black-owned businesses, including:</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Financial Institutions:</a:t>
            </a:r>
            <a:r>
              <a:rPr lang="en-US" sz="1600" b="0" i="0" dirty="0">
                <a:solidFill>
                  <a:srgbClr val="1A2029"/>
                </a:solidFill>
                <a:effectLst/>
                <a:latin typeface="-apple-system"/>
              </a:rPr>
              <a:t> Two Black-owned banks, including the nation’s largest, the </a:t>
            </a:r>
            <a:r>
              <a:rPr lang="en-US" sz="1600" b="1" i="0" dirty="0">
                <a:solidFill>
                  <a:srgbClr val="1A2029"/>
                </a:solidFill>
                <a:effectLst/>
                <a:latin typeface="-apple-system"/>
              </a:rPr>
              <a:t>Dollar Savings Bank</a:t>
            </a:r>
            <a:r>
              <a:rPr lang="en-US" sz="1600" b="0" i="0" dirty="0">
                <a:solidFill>
                  <a:srgbClr val="1A2029"/>
                </a:solidFill>
                <a:effectLst/>
                <a:latin typeface="-apple-system"/>
              </a:rPr>
              <a:t>, which provided loans to Black entrepreneurs who couldn’t get them from white institutions.</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Retail:</a:t>
            </a:r>
            <a:r>
              <a:rPr lang="en-US" sz="1600" b="0" i="0" dirty="0">
                <a:solidFill>
                  <a:srgbClr val="1A2029"/>
                </a:solidFill>
                <a:effectLst/>
                <a:latin typeface="-apple-system"/>
              </a:rPr>
              <a:t> Grocery stores, clothing shops, jewelry stores, and funeral homes.</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Services:</a:t>
            </a:r>
            <a:r>
              <a:rPr lang="en-US" sz="1600" b="0" i="0" dirty="0">
                <a:solidFill>
                  <a:srgbClr val="1A2029"/>
                </a:solidFill>
                <a:effectLst/>
                <a:latin typeface="-apple-system"/>
              </a:rPr>
              <a:t> Law offices, doctor’s offices, a modern hospital, and a library.</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Media:</a:t>
            </a:r>
            <a:r>
              <a:rPr lang="en-US" sz="1600" b="0" i="0" dirty="0">
                <a:solidFill>
                  <a:srgbClr val="1A2029"/>
                </a:solidFill>
                <a:effectLst/>
                <a:latin typeface="-apple-system"/>
              </a:rPr>
              <a:t> Two newspapers, including the </a:t>
            </a:r>
            <a:r>
              <a:rPr lang="en-US" sz="1600" b="1" i="0" dirty="0">
                <a:solidFill>
                  <a:srgbClr val="1A2029"/>
                </a:solidFill>
                <a:effectLst/>
                <a:latin typeface="-apple-system"/>
              </a:rPr>
              <a:t>Tulsa Star</a:t>
            </a:r>
            <a:r>
              <a:rPr lang="en-US" sz="1600" b="0" i="0" dirty="0">
                <a:solidFill>
                  <a:srgbClr val="1A2029"/>
                </a:solidFill>
                <a:effectLst/>
                <a:latin typeface="-apple-system"/>
              </a:rPr>
              <a:t>, which advocated for Black political and social rights.</a:t>
            </a:r>
          </a:p>
          <a:p>
            <a:pPr marL="742950" lvl="1" indent="-285750"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Entertainment:</a:t>
            </a:r>
            <a:r>
              <a:rPr lang="en-US" sz="1600" b="0" i="0" dirty="0">
                <a:solidFill>
                  <a:srgbClr val="1A2029"/>
                </a:solidFill>
                <a:effectLst/>
                <a:latin typeface="-apple-system"/>
              </a:rPr>
              <a:t> Hotels, theaters, and a famous jazz scene that attracted top artists of the era.</a:t>
            </a:r>
          </a:p>
          <a:p>
            <a:pPr algn="l" fontAlgn="base">
              <a:lnSpc>
                <a:spcPts val="2025"/>
              </a:lnSpc>
              <a:spcBef>
                <a:spcPts val="600"/>
              </a:spcBef>
              <a:buFont typeface="Arial" panose="020B0604020202020204" pitchFamily="34" charset="0"/>
              <a:buChar char="•"/>
            </a:pPr>
            <a:r>
              <a:rPr lang="en-US" sz="1600" b="1" i="0" dirty="0">
                <a:solidFill>
                  <a:srgbClr val="1A2029"/>
                </a:solidFill>
                <a:effectLst/>
                <a:latin typeface="-apple-system"/>
              </a:rPr>
              <a:t>Education and Wealth:</a:t>
            </a:r>
            <a:r>
              <a:rPr lang="en-US" sz="1600" b="0" i="0" dirty="0">
                <a:solidFill>
                  <a:srgbClr val="1A2029"/>
                </a:solidFill>
                <a:effectLst/>
                <a:latin typeface="-apple-system"/>
              </a:rPr>
              <a:t> The community had a high rate of Black homeownership and a strong school system. It was a place of immense Black pride, intellectual achievement, and wealth. The famous educator Booker T. Washington visited and reportedly called it the “Negro Wall Street of America,” a name that stuck.</a:t>
            </a:r>
          </a:p>
          <a:p>
            <a:pPr algn="l" fontAlgn="base">
              <a:lnSpc>
                <a:spcPts val="2025"/>
              </a:lnSpc>
              <a:spcBef>
                <a:spcPts val="600"/>
              </a:spcBef>
              <a:buNone/>
            </a:pPr>
            <a:r>
              <a:rPr lang="en-US" sz="1600" b="0" i="0" dirty="0">
                <a:solidFill>
                  <a:srgbClr val="1A2029"/>
                </a:solidFill>
                <a:effectLst/>
                <a:latin typeface="-apple-system"/>
              </a:rPr>
              <a:t>Greenwood was a testament to what was possible in a deeply segregated nation. It was a safe, prosperous, and vibrant community where Black families could build a life of dignity and success.</a:t>
            </a:r>
          </a:p>
        </p:txBody>
      </p:sp>
    </p:spTree>
    <p:extLst>
      <p:ext uri="{BB962C8B-B14F-4D97-AF65-F5344CB8AC3E}">
        <p14:creationId xmlns:p14="http://schemas.microsoft.com/office/powerpoint/2010/main" val="13520750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E66E-9399-5C2B-0C0B-7A9ED90DE29A}"/>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1B99A099-3D3B-4C5A-FBE8-3CF7942971C8}"/>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Wallstreet – The Fall</a:t>
            </a:r>
            <a:endParaRPr sz="2700" dirty="0">
              <a:latin typeface="Tahoma"/>
              <a:ea typeface="Tahoma"/>
              <a:cs typeface="Tahoma"/>
            </a:endParaRPr>
          </a:p>
        </p:txBody>
      </p:sp>
      <p:sp>
        <p:nvSpPr>
          <p:cNvPr id="3" name="TextBox 2">
            <a:extLst>
              <a:ext uri="{FF2B5EF4-FFF2-40B4-BE49-F238E27FC236}">
                <a16:creationId xmlns:a16="http://schemas.microsoft.com/office/drawing/2014/main" id="{9F5C5C7E-4AA2-02CC-0111-13C718F3462C}"/>
              </a:ext>
            </a:extLst>
          </p:cNvPr>
          <p:cNvSpPr txBox="1"/>
          <p:nvPr/>
        </p:nvSpPr>
        <p:spPr>
          <a:xfrm>
            <a:off x="182033" y="1210733"/>
            <a:ext cx="11827933" cy="5468420"/>
          </a:xfrm>
          <a:prstGeom prst="rect">
            <a:avLst/>
          </a:prstGeom>
          <a:noFill/>
        </p:spPr>
        <p:txBody>
          <a:bodyPr wrap="square" rtlCol="0">
            <a:spAutoFit/>
          </a:bodyPr>
          <a:lstStyle/>
          <a:p>
            <a:pPr algn="l" fontAlgn="base">
              <a:lnSpc>
                <a:spcPts val="1950"/>
              </a:lnSpc>
              <a:spcBef>
                <a:spcPts val="1200"/>
              </a:spcBef>
              <a:buNone/>
            </a:pPr>
            <a:r>
              <a:rPr lang="en-US" sz="1600" b="1" i="0" dirty="0">
                <a:solidFill>
                  <a:srgbClr val="1A2029"/>
                </a:solidFill>
                <a:effectLst/>
                <a:latin typeface="-apple-system"/>
              </a:rPr>
              <a:t>The Massacre: 31 Hours of Terror</a:t>
            </a:r>
          </a:p>
          <a:p>
            <a:pPr algn="l" fontAlgn="base">
              <a:lnSpc>
                <a:spcPts val="2025"/>
              </a:lnSpc>
              <a:spcBef>
                <a:spcPts val="600"/>
              </a:spcBef>
              <a:buNone/>
            </a:pPr>
            <a:r>
              <a:rPr lang="en-US" sz="1600" b="0" i="0" dirty="0">
                <a:solidFill>
                  <a:srgbClr val="1A2029"/>
                </a:solidFill>
                <a:effectLst/>
                <a:latin typeface="-apple-system"/>
              </a:rPr>
              <a:t>On </a:t>
            </a:r>
            <a:r>
              <a:rPr lang="en-US" sz="1600" b="1" i="0" dirty="0">
                <a:solidFill>
                  <a:srgbClr val="1A2029"/>
                </a:solidFill>
                <a:effectLst/>
                <a:latin typeface="-apple-system"/>
              </a:rPr>
              <a:t>May 31 and June 1, 1921</a:t>
            </a:r>
            <a:r>
              <a:rPr lang="en-US" sz="1600" b="0" i="0" dirty="0">
                <a:solidFill>
                  <a:srgbClr val="1A2029"/>
                </a:solidFill>
                <a:effectLst/>
                <a:latin typeface="-apple-system"/>
              </a:rPr>
              <a:t>, the entire community was decimated in one of the worst acts of racial violence in American history.</a:t>
            </a:r>
          </a:p>
          <a:p>
            <a:pPr algn="l" fontAlgn="base">
              <a:lnSpc>
                <a:spcPts val="2025"/>
              </a:lnSpc>
              <a:spcBef>
                <a:spcPts val="600"/>
              </a:spcBef>
              <a:buNone/>
            </a:pPr>
            <a:r>
              <a:rPr lang="en-US" sz="1600" b="1" i="0" dirty="0">
                <a:solidFill>
                  <a:srgbClr val="1A2029"/>
                </a:solidFill>
                <a:effectLst/>
                <a:latin typeface="-apple-system"/>
              </a:rPr>
              <a:t>The Catalyst:</a:t>
            </a:r>
            <a:endParaRPr lang="en-US" sz="1600" b="0" i="0" dirty="0">
              <a:solidFill>
                <a:srgbClr val="1A2029"/>
              </a:solidFill>
              <a:effectLst/>
              <a:latin typeface="-apple-system"/>
            </a:endParaRPr>
          </a:p>
          <a:p>
            <a:pPr algn="l" fontAlgn="base">
              <a:lnSpc>
                <a:spcPts val="2025"/>
              </a:lnSpc>
              <a:spcBef>
                <a:spcPts val="600"/>
              </a:spcBef>
              <a:buNone/>
            </a:pPr>
            <a:r>
              <a:rPr lang="en-US" sz="1600" b="0" i="0" dirty="0">
                <a:solidFill>
                  <a:srgbClr val="1A2029"/>
                </a:solidFill>
                <a:effectLst/>
                <a:latin typeface="-apple-system"/>
              </a:rPr>
              <a:t>The violence was sparked by a rumor. A young Black man named </a:t>
            </a:r>
            <a:r>
              <a:rPr lang="en-US" sz="1600" b="1" i="0" dirty="0">
                <a:solidFill>
                  <a:srgbClr val="1A2029"/>
                </a:solidFill>
                <a:effectLst/>
                <a:latin typeface="-apple-system"/>
              </a:rPr>
              <a:t>Dick Rowland</a:t>
            </a:r>
            <a:r>
              <a:rPr lang="en-US" sz="1600" b="0" i="0" dirty="0">
                <a:solidFill>
                  <a:srgbClr val="1A2029"/>
                </a:solidFill>
                <a:effectLst/>
                <a:latin typeface="-apple-system"/>
              </a:rPr>
              <a:t> tripped and fell in an elevator, accidentally brushing against the white elevator operator, </a:t>
            </a:r>
            <a:r>
              <a:rPr lang="en-US" sz="1600" b="1" i="0" dirty="0">
                <a:solidFill>
                  <a:srgbClr val="1A2029"/>
                </a:solidFill>
                <a:effectLst/>
                <a:latin typeface="-apple-system"/>
              </a:rPr>
              <a:t>Sarah Page</a:t>
            </a:r>
            <a:r>
              <a:rPr lang="en-US" sz="1600" b="0" i="0" dirty="0">
                <a:solidFill>
                  <a:srgbClr val="1A2029"/>
                </a:solidFill>
                <a:effectLst/>
                <a:latin typeface="-apple-system"/>
              </a:rPr>
              <a:t>. A clerk who witnessed the fall misconstrued the event as an assault. The next day, the </a:t>
            </a:r>
            <a:r>
              <a:rPr lang="en-US" sz="1600" b="1" i="0" dirty="0">
                <a:solidFill>
                  <a:srgbClr val="1A2029"/>
                </a:solidFill>
                <a:effectLst/>
                <a:latin typeface="-apple-system"/>
              </a:rPr>
              <a:t>Tulsa Tribune</a:t>
            </a:r>
            <a:r>
              <a:rPr lang="en-US" sz="1600" b="0" i="0" dirty="0">
                <a:solidFill>
                  <a:srgbClr val="1A2029"/>
                </a:solidFill>
                <a:effectLst/>
                <a:latin typeface="-apple-system"/>
              </a:rPr>
              <a:t> ran a sensational, inflammatory front-page story titled “Nab Negro for Attacking Girl in an Elevator.”</a:t>
            </a:r>
          </a:p>
          <a:p>
            <a:pPr algn="l" fontAlgn="base">
              <a:lnSpc>
                <a:spcPts val="2025"/>
              </a:lnSpc>
              <a:spcBef>
                <a:spcPts val="600"/>
              </a:spcBef>
              <a:buNone/>
            </a:pPr>
            <a:r>
              <a:rPr lang="en-US" sz="1600" b="1" i="0" dirty="0">
                <a:solidFill>
                  <a:srgbClr val="1A2029"/>
                </a:solidFill>
                <a:effectLst/>
                <a:latin typeface="-apple-system"/>
              </a:rPr>
              <a:t>The Escalation:</a:t>
            </a:r>
            <a:endParaRPr lang="en-US" sz="1600" b="0" i="0" dirty="0">
              <a:solidFill>
                <a:srgbClr val="1A2029"/>
              </a:solidFill>
              <a:effectLst/>
              <a:latin typeface="-apple-system"/>
            </a:endParaRPr>
          </a:p>
          <a:p>
            <a:pPr algn="l" fontAlgn="base">
              <a:lnSpc>
                <a:spcPts val="2025"/>
              </a:lnSpc>
              <a:spcBef>
                <a:spcPts val="600"/>
              </a:spcBef>
              <a:buFont typeface="+mj-lt"/>
              <a:buAutoNum type="arabicPeriod"/>
            </a:pPr>
            <a:r>
              <a:rPr lang="en-US" sz="1600" b="1" i="0" dirty="0">
                <a:solidFill>
                  <a:srgbClr val="1A2029"/>
                </a:solidFill>
                <a:effectLst/>
                <a:latin typeface="-apple-system"/>
              </a:rPr>
              <a:t> Confrontation at the Courthouse:</a:t>
            </a:r>
            <a:r>
              <a:rPr lang="en-US" sz="1600" b="0" i="0" dirty="0">
                <a:solidFill>
                  <a:srgbClr val="1A2029"/>
                </a:solidFill>
                <a:effectLst/>
                <a:latin typeface="-apple-system"/>
              </a:rPr>
              <a:t> An angry white mob gathered outside the courthouse, intent on lynching Rowland. Hearing of the threat, a group of Black men from Greenwood, many of whom were World War I veterans, went to the courthouse armed and offered to help the sheriff protect Rowland. Their offer was refused, but their presence infuriated the white mob.</a:t>
            </a:r>
          </a:p>
          <a:p>
            <a:pPr algn="l" fontAlgn="base">
              <a:lnSpc>
                <a:spcPts val="2025"/>
              </a:lnSpc>
              <a:spcBef>
                <a:spcPts val="600"/>
              </a:spcBef>
              <a:buFont typeface="+mj-lt"/>
              <a:buAutoNum type="arabicPeriod"/>
            </a:pPr>
            <a:r>
              <a:rPr lang="en-US" sz="1600" b="1" i="0" dirty="0">
                <a:solidFill>
                  <a:srgbClr val="1A2029"/>
                </a:solidFill>
                <a:effectLst/>
                <a:latin typeface="-apple-system"/>
              </a:rPr>
              <a:t> The Shot Heard 'Round the Courthouse:</a:t>
            </a:r>
            <a:r>
              <a:rPr lang="en-US" sz="1600" b="0" i="0" dirty="0">
                <a:solidFill>
                  <a:srgbClr val="1A2029"/>
                </a:solidFill>
                <a:effectLst/>
                <a:latin typeface="-apple-system"/>
              </a:rPr>
              <a:t> In the chaos that evening, a white man tried to disarm a Black veteran. A shot was fired, and the mob descended on the outnumbered Black men, chasing them back toward Greenwood.</a:t>
            </a:r>
          </a:p>
          <a:p>
            <a:pPr algn="l" fontAlgn="base">
              <a:lnSpc>
                <a:spcPts val="2025"/>
              </a:lnSpc>
              <a:spcBef>
                <a:spcPts val="600"/>
              </a:spcBef>
              <a:buFont typeface="+mj-lt"/>
              <a:buAutoNum type="arabicPeriod"/>
            </a:pPr>
            <a:r>
              <a:rPr lang="en-US" sz="1600" b="1" i="0" dirty="0">
                <a:solidFill>
                  <a:srgbClr val="1A2029"/>
                </a:solidFill>
                <a:effectLst/>
                <a:latin typeface="-apple-system"/>
              </a:rPr>
              <a:t> The Invasion:</a:t>
            </a:r>
            <a:r>
              <a:rPr lang="en-US" sz="1600" b="0" i="0" dirty="0">
                <a:solidFill>
                  <a:srgbClr val="1A2029"/>
                </a:solidFill>
                <a:effectLst/>
                <a:latin typeface="-apple-system"/>
              </a:rPr>
              <a:t> The white mob, now numbering in the thousands and deputized by city officials, swarmed into the Greenwood District. They were given weapons and ammunition. They looted homes and businesses, setting them on fire one by one.</a:t>
            </a:r>
          </a:p>
          <a:p>
            <a:pPr algn="l" fontAlgn="base">
              <a:lnSpc>
                <a:spcPts val="2025"/>
              </a:lnSpc>
              <a:spcBef>
                <a:spcPts val="600"/>
              </a:spcBef>
              <a:buFont typeface="+mj-lt"/>
              <a:buAutoNum type="arabicPeriod"/>
            </a:pPr>
            <a:r>
              <a:rPr lang="en-US" sz="1600" b="1" i="0" dirty="0">
                <a:solidFill>
                  <a:srgbClr val="1A2029"/>
                </a:solidFill>
                <a:effectLst/>
                <a:latin typeface="-apple-system"/>
              </a:rPr>
              <a:t> Aerial Attack:</a:t>
            </a:r>
            <a:r>
              <a:rPr lang="en-US" sz="1600" b="0" i="0" dirty="0">
                <a:solidFill>
                  <a:srgbClr val="1A2029"/>
                </a:solidFill>
                <a:effectLst/>
                <a:latin typeface="-apple-system"/>
              </a:rPr>
              <a:t> In a horrifying and unprecedented act, private planes were used to drop turpentine bombs and firebombs from the sky, making the Tulsa Race Massacre the first and only time American citizens have been aerially bombed on U.S. soil by their fellow citizens.</a:t>
            </a:r>
          </a:p>
          <a:p>
            <a:pPr algn="l" fontAlgn="base">
              <a:lnSpc>
                <a:spcPts val="2025"/>
              </a:lnSpc>
              <a:spcBef>
                <a:spcPts val="600"/>
              </a:spcBef>
              <a:buFont typeface="+mj-lt"/>
              <a:buAutoNum type="arabicPeriod"/>
            </a:pPr>
            <a:r>
              <a:rPr lang="en-US" sz="1600" b="1" i="0" dirty="0">
                <a:solidFill>
                  <a:srgbClr val="1A2029"/>
                </a:solidFill>
                <a:effectLst/>
                <a:latin typeface="-apple-system"/>
              </a:rPr>
              <a:t> Systematic Murder:</a:t>
            </a:r>
            <a:r>
              <a:rPr lang="en-US" sz="1600" b="0" i="0" dirty="0">
                <a:solidFill>
                  <a:srgbClr val="1A2029"/>
                </a:solidFill>
                <a:effectLst/>
                <a:latin typeface="-apple-system"/>
              </a:rPr>
              <a:t> People were shot in their homes, in the streets, and as they tried to flee. The violence was not random; it was a coordinated, systematic destruction of an entire community.</a:t>
            </a:r>
          </a:p>
        </p:txBody>
      </p:sp>
    </p:spTree>
    <p:extLst>
      <p:ext uri="{BB962C8B-B14F-4D97-AF65-F5344CB8AC3E}">
        <p14:creationId xmlns:p14="http://schemas.microsoft.com/office/powerpoint/2010/main" val="783787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5284-B583-0FA2-EF34-A3437B199E9D}"/>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6B199D1E-6916-8070-96E7-4C86E419BD80}"/>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Black Wallstreet – The Aftermath</a:t>
            </a:r>
            <a:endParaRPr sz="2700" dirty="0">
              <a:latin typeface="Tahoma"/>
              <a:ea typeface="Tahoma"/>
              <a:cs typeface="Tahoma"/>
            </a:endParaRPr>
          </a:p>
        </p:txBody>
      </p:sp>
      <p:sp>
        <p:nvSpPr>
          <p:cNvPr id="3" name="TextBox 2">
            <a:extLst>
              <a:ext uri="{FF2B5EF4-FFF2-40B4-BE49-F238E27FC236}">
                <a16:creationId xmlns:a16="http://schemas.microsoft.com/office/drawing/2014/main" id="{8196F3E1-CC74-A4A8-6174-BBDCCAEF1EF8}"/>
              </a:ext>
            </a:extLst>
          </p:cNvPr>
          <p:cNvSpPr txBox="1"/>
          <p:nvPr/>
        </p:nvSpPr>
        <p:spPr>
          <a:xfrm>
            <a:off x="182033" y="1210733"/>
            <a:ext cx="11827933" cy="5555367"/>
          </a:xfrm>
          <a:prstGeom prst="rect">
            <a:avLst/>
          </a:prstGeom>
          <a:noFill/>
        </p:spPr>
        <p:txBody>
          <a:bodyPr wrap="square" rtlCol="0">
            <a:spAutoFit/>
          </a:bodyPr>
          <a:lstStyle/>
          <a:p>
            <a:pPr algn="l" fontAlgn="base">
              <a:lnSpc>
                <a:spcPts val="1950"/>
              </a:lnSpc>
              <a:spcBef>
                <a:spcPts val="1200"/>
              </a:spcBef>
              <a:buNone/>
            </a:pPr>
            <a:r>
              <a:rPr lang="en-US" b="1" i="0" dirty="0">
                <a:solidFill>
                  <a:srgbClr val="1A2029"/>
                </a:solidFill>
                <a:effectLst/>
                <a:latin typeface="-apple-system"/>
              </a:rPr>
              <a:t>The Cover-Up</a:t>
            </a: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The Cost:</a:t>
            </a:r>
            <a:r>
              <a:rPr lang="en-US" b="0" i="0" dirty="0">
                <a:solidFill>
                  <a:srgbClr val="1A2029"/>
                </a:solidFill>
                <a:effectLst/>
                <a:latin typeface="-apple-system"/>
              </a:rPr>
              <a:t> The official death toll at the time was 36 (10 white and 26 Black). Modern historians estimate the true number is between </a:t>
            </a:r>
            <a:r>
              <a:rPr lang="en-US" b="1" i="0" dirty="0">
                <a:solidFill>
                  <a:srgbClr val="1A2029"/>
                </a:solidFill>
                <a:effectLst/>
                <a:latin typeface="-apple-system"/>
              </a:rPr>
              <a:t>100 and 300 people</a:t>
            </a:r>
            <a:r>
              <a:rPr lang="en-US" b="0" i="0" dirty="0">
                <a:solidFill>
                  <a:srgbClr val="1A2029"/>
                </a:solidFill>
                <a:effectLst/>
                <a:latin typeface="-apple-system"/>
              </a:rPr>
              <a:t>, with the vast majority of victims being Black.</a:t>
            </a: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Economic Devastation:</a:t>
            </a:r>
            <a:r>
              <a:rPr lang="en-US" b="0" i="0" dirty="0">
                <a:solidFill>
                  <a:srgbClr val="1A2029"/>
                </a:solidFill>
                <a:effectLst/>
                <a:latin typeface="-apple-system"/>
              </a:rPr>
              <a:t> Over </a:t>
            </a:r>
            <a:r>
              <a:rPr lang="en-US" b="1" i="0" dirty="0">
                <a:solidFill>
                  <a:srgbClr val="1A2029"/>
                </a:solidFill>
                <a:effectLst/>
                <a:latin typeface="-apple-system"/>
              </a:rPr>
              <a:t>35 square blocks</a:t>
            </a:r>
            <a:r>
              <a:rPr lang="en-US" b="0" i="0" dirty="0">
                <a:solidFill>
                  <a:srgbClr val="1A2029"/>
                </a:solidFill>
                <a:effectLst/>
                <a:latin typeface="-apple-system"/>
              </a:rPr>
              <a:t> were destroyed. More than </a:t>
            </a:r>
            <a:r>
              <a:rPr lang="en-US" b="1" i="0" dirty="0">
                <a:solidFill>
                  <a:srgbClr val="1A2029"/>
                </a:solidFill>
                <a:effectLst/>
                <a:latin typeface="-apple-system"/>
              </a:rPr>
              <a:t>1,250 homes</a:t>
            </a:r>
            <a:r>
              <a:rPr lang="en-US" b="0" i="0" dirty="0">
                <a:solidFill>
                  <a:srgbClr val="1A2029"/>
                </a:solidFill>
                <a:effectLst/>
                <a:latin typeface="-apple-system"/>
              </a:rPr>
              <a:t> were burned, leaving nearly 9,000 people homeless. Over 200 businesses were destroyed, and the economic loss would be worth over $30 million today (over $400 million adjusted for inflation).</a:t>
            </a: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The Cover-Up:</a:t>
            </a:r>
            <a:r>
              <a:rPr lang="en-US" b="0" i="0" dirty="0">
                <a:solidFill>
                  <a:srgbClr val="1A2029"/>
                </a:solidFill>
                <a:effectLst/>
                <a:latin typeface="-apple-system"/>
              </a:rPr>
              <a:t> In the days that followed, no white person was ever prosecuted for the violence. Instead, city officials blamed the Black community. For decades, the massacre was systematically erased from history books and public conversation. Survivors were terrorized into silence.</a:t>
            </a:r>
            <a:endParaRPr lang="en-US" dirty="0"/>
          </a:p>
          <a:p>
            <a:pPr algn="l" fontAlgn="base">
              <a:lnSpc>
                <a:spcPts val="1950"/>
              </a:lnSpc>
              <a:spcBef>
                <a:spcPts val="1200"/>
              </a:spcBef>
              <a:buNone/>
            </a:pPr>
            <a:r>
              <a:rPr lang="en-US" b="1" i="0" dirty="0">
                <a:solidFill>
                  <a:srgbClr val="1A2029"/>
                </a:solidFill>
                <a:effectLst/>
                <a:latin typeface="-apple-system"/>
              </a:rPr>
              <a:t>The Legacy </a:t>
            </a:r>
          </a:p>
          <a:p>
            <a:pPr algn="l" fontAlgn="base">
              <a:lnSpc>
                <a:spcPts val="1950"/>
              </a:lnSpc>
              <a:spcBef>
                <a:spcPts val="1200"/>
              </a:spcBef>
              <a:buNone/>
            </a:pPr>
            <a:r>
              <a:rPr lang="en-US" b="0" i="0" dirty="0">
                <a:solidFill>
                  <a:srgbClr val="1A2029"/>
                </a:solidFill>
                <a:effectLst/>
                <a:latin typeface="-apple-system"/>
              </a:rPr>
              <a:t>In 1997, the Tulsa Race Riot Commission was formed to investigate the massacre. Their final report confirmed the city’s complicity and recommended reparations for survivors and their descendants.</a:t>
            </a: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Modern Efforts:</a:t>
            </a:r>
            <a:endParaRPr lang="en-US" b="0" i="0" dirty="0">
              <a:solidFill>
                <a:srgbClr val="1A2029"/>
              </a:solidFill>
              <a:effectLst/>
              <a:latin typeface="-apple-system"/>
            </a:endParaRP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Greenwood Rising:</a:t>
            </a:r>
            <a:r>
              <a:rPr lang="en-US" b="0" i="0" dirty="0">
                <a:solidFill>
                  <a:srgbClr val="1A2029"/>
                </a:solidFill>
                <a:effectLst/>
                <a:latin typeface="-apple-system"/>
              </a:rPr>
              <a:t> A state-of-the-art history center was built in 2021 on the centennial of the massacre to tell the story of Greenwood’s rise, fall, and resilience.</a:t>
            </a: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Search for Graves:</a:t>
            </a:r>
            <a:r>
              <a:rPr lang="en-US" b="0" i="0" dirty="0">
                <a:solidFill>
                  <a:srgbClr val="1A2029"/>
                </a:solidFill>
                <a:effectLst/>
                <a:latin typeface="-apple-system"/>
              </a:rPr>
              <a:t> Archaeological investigations are ongoing to find the unmarked mass graves where victims were buried.</a:t>
            </a:r>
          </a:p>
          <a:p>
            <a:pPr marL="742950" lvl="1" indent="-285750"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Justice Movement:</a:t>
            </a:r>
            <a:r>
              <a:rPr lang="en-US" b="0" i="0" dirty="0">
                <a:solidFill>
                  <a:srgbClr val="1A2029"/>
                </a:solidFill>
                <a:effectLst/>
                <a:latin typeface="-apple-system"/>
              </a:rPr>
              <a:t> The fight for legal justice and reparations for the last three known survivors continues to this day.</a:t>
            </a:r>
          </a:p>
        </p:txBody>
      </p:sp>
    </p:spTree>
    <p:extLst>
      <p:ext uri="{BB962C8B-B14F-4D97-AF65-F5344CB8AC3E}">
        <p14:creationId xmlns:p14="http://schemas.microsoft.com/office/powerpoint/2010/main" val="939094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F6B69-8F0B-9BC5-83AE-1794BC84E63A}"/>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9746485A-F1CA-0DD8-A92B-DFEF31C402A6}"/>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Gaddafi</a:t>
            </a:r>
            <a:endParaRPr sz="2700" dirty="0">
              <a:latin typeface="Tahoma"/>
              <a:ea typeface="Tahoma"/>
              <a:cs typeface="Tahoma"/>
            </a:endParaRPr>
          </a:p>
        </p:txBody>
      </p:sp>
      <p:sp>
        <p:nvSpPr>
          <p:cNvPr id="3" name="TextBox 2">
            <a:extLst>
              <a:ext uri="{FF2B5EF4-FFF2-40B4-BE49-F238E27FC236}">
                <a16:creationId xmlns:a16="http://schemas.microsoft.com/office/drawing/2014/main" id="{F0986D6F-AB81-F636-499D-E12B28B8C22E}"/>
              </a:ext>
            </a:extLst>
          </p:cNvPr>
          <p:cNvSpPr txBox="1"/>
          <p:nvPr/>
        </p:nvSpPr>
        <p:spPr>
          <a:xfrm>
            <a:off x="182033" y="1265766"/>
            <a:ext cx="11827933" cy="5401479"/>
          </a:xfrm>
          <a:prstGeom prst="rect">
            <a:avLst/>
          </a:prstGeom>
          <a:noFill/>
        </p:spPr>
        <p:txBody>
          <a:bodyPr wrap="square" rtlCol="0">
            <a:spAutoFit/>
          </a:bodyPr>
          <a:lstStyle/>
          <a:p>
            <a:pPr algn="l" fontAlgn="base">
              <a:lnSpc>
                <a:spcPts val="2025"/>
              </a:lnSpc>
              <a:spcBef>
                <a:spcPts val="600"/>
              </a:spcBef>
              <a:buNone/>
            </a:pPr>
            <a:r>
              <a:rPr lang="en-US" b="0" i="0" dirty="0">
                <a:solidFill>
                  <a:srgbClr val="1A2029"/>
                </a:solidFill>
                <a:effectLst/>
                <a:latin typeface="-apple-system"/>
              </a:rPr>
              <a:t>Gaddafi was born in 1942 near Sirte, Libya, to a Bedouin family. He was a fervent Arab nationalist and admired Egyptian President Gamal Abdel Nasser. While a young army officer, he formed the </a:t>
            </a:r>
            <a:r>
              <a:rPr lang="en-US" b="1" i="0" dirty="0">
                <a:solidFill>
                  <a:srgbClr val="1A2029"/>
                </a:solidFill>
                <a:effectLst/>
                <a:latin typeface="-apple-system"/>
              </a:rPr>
              <a:t>Free Officers Movement</a:t>
            </a:r>
            <a:r>
              <a:rPr lang="en-US" b="0" i="0" dirty="0">
                <a:solidFill>
                  <a:srgbClr val="1A2029"/>
                </a:solidFill>
                <a:effectLst/>
                <a:latin typeface="-apple-system"/>
              </a:rPr>
              <a:t>, a secret group of revolutionaries dedicated to overthrowing the pro-Western monarchy of King Idris I.</a:t>
            </a:r>
          </a:p>
          <a:p>
            <a:pPr algn="l" fontAlgn="base">
              <a:lnSpc>
                <a:spcPts val="2025"/>
              </a:lnSpc>
              <a:spcBef>
                <a:spcPts val="600"/>
              </a:spcBef>
              <a:buNone/>
            </a:pPr>
            <a:r>
              <a:rPr lang="en-US" b="0" i="0" dirty="0">
                <a:solidFill>
                  <a:srgbClr val="1A2029"/>
                </a:solidFill>
                <a:effectLst/>
                <a:latin typeface="-apple-system"/>
              </a:rPr>
              <a:t>On </a:t>
            </a:r>
            <a:r>
              <a:rPr lang="en-US" b="1" i="0" dirty="0">
                <a:solidFill>
                  <a:srgbClr val="1A2029"/>
                </a:solidFill>
                <a:effectLst/>
                <a:latin typeface="-apple-system"/>
              </a:rPr>
              <a:t>September 1, 1969</a:t>
            </a:r>
            <a:r>
              <a:rPr lang="en-US" b="0" i="0" dirty="0">
                <a:solidFill>
                  <a:srgbClr val="1A2029"/>
                </a:solidFill>
                <a:effectLst/>
                <a:latin typeface="-apple-system"/>
              </a:rPr>
              <a:t>, Gaddafi and his men launched a nearly bloodless coup while the king was abroad for medical treatment. He was just 27 years old. The coup was popular, as many Libyans felt the monarchy had benefited from the nation’s oil wealth while leaving the general population poor.</a:t>
            </a:r>
          </a:p>
          <a:p>
            <a:pPr algn="l" fontAlgn="base">
              <a:lnSpc>
                <a:spcPts val="2025"/>
              </a:lnSpc>
              <a:spcBef>
                <a:spcPts val="600"/>
              </a:spcBef>
              <a:buNone/>
            </a:pPr>
            <a:endParaRPr lang="en-US" b="0" i="0" dirty="0">
              <a:solidFill>
                <a:srgbClr val="1A2029"/>
              </a:solidFill>
              <a:effectLst/>
              <a:latin typeface="-apple-system"/>
            </a:endParaRPr>
          </a:p>
          <a:p>
            <a:pPr algn="l" fontAlgn="base">
              <a:lnSpc>
                <a:spcPts val="1950"/>
              </a:lnSpc>
              <a:spcBef>
                <a:spcPts val="1200"/>
              </a:spcBef>
              <a:buNone/>
            </a:pPr>
            <a:r>
              <a:rPr lang="en-US" b="1" i="0" dirty="0">
                <a:solidFill>
                  <a:srgbClr val="1A2029"/>
                </a:solidFill>
                <a:effectLst/>
                <a:latin typeface="-apple-system"/>
              </a:rPr>
              <a:t>The “Jamahiriya” and The Green Book</a:t>
            </a:r>
          </a:p>
          <a:p>
            <a:pPr algn="l" fontAlgn="base">
              <a:lnSpc>
                <a:spcPts val="2025"/>
              </a:lnSpc>
              <a:spcBef>
                <a:spcPts val="600"/>
              </a:spcBef>
              <a:buNone/>
            </a:pPr>
            <a:r>
              <a:rPr lang="en-US" b="0" i="0" dirty="0">
                <a:solidFill>
                  <a:srgbClr val="1A2029"/>
                </a:solidFill>
                <a:effectLst/>
                <a:latin typeface="-apple-system"/>
              </a:rPr>
              <a:t>Gaddafi rejected traditional systems of democracy and monarchy. Instead, he created his own unique political system outlined in his three-volume collection, </a:t>
            </a:r>
            <a:r>
              <a:rPr lang="en-US" b="1" i="0" dirty="0">
                <a:solidFill>
                  <a:srgbClr val="1A2029"/>
                </a:solidFill>
                <a:effectLst/>
                <a:latin typeface="-apple-system"/>
              </a:rPr>
              <a:t>The Green Book</a:t>
            </a:r>
            <a:r>
              <a:rPr lang="en-US" b="0" i="0" dirty="0">
                <a:solidFill>
                  <a:srgbClr val="1A2029"/>
                </a:solidFill>
                <a:effectLst/>
                <a:latin typeface="-apple-system"/>
              </a:rPr>
              <a:t>.</a:t>
            </a:r>
          </a:p>
          <a:p>
            <a:pPr algn="l" fontAlgn="base">
              <a:lnSpc>
                <a:spcPts val="2025"/>
              </a:lnSpc>
              <a:spcBef>
                <a:spcPts val="600"/>
              </a:spcBef>
              <a:buNone/>
            </a:pPr>
            <a:endParaRPr lang="en-US"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Jamahiriya:</a:t>
            </a:r>
            <a:r>
              <a:rPr lang="en-US" b="0" i="0" dirty="0">
                <a:solidFill>
                  <a:srgbClr val="1A2029"/>
                </a:solidFill>
                <a:effectLst/>
                <a:latin typeface="-apple-system"/>
              </a:rPr>
              <a:t> In 1977, he declared Libya a “Jamahiriya,” which translates to “state of the masses.” In theory, this was a direct democracy governed by local people’s councils. It was an autocracy where all power was concentrated in Gaddafi’s hands. He held no official title, styling himself as a “Brotherly Leader and Guide of the Revolution.”</a:t>
            </a:r>
          </a:p>
          <a:p>
            <a:pPr algn="l" fontAlgn="base">
              <a:lnSpc>
                <a:spcPts val="2025"/>
              </a:lnSpc>
              <a:spcBef>
                <a:spcPts val="600"/>
              </a:spcBef>
            </a:pPr>
            <a:endParaRPr lang="en-US"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The Green Book:</a:t>
            </a:r>
            <a:r>
              <a:rPr lang="en-US" b="0" i="0" dirty="0">
                <a:solidFill>
                  <a:srgbClr val="1A2029"/>
                </a:solidFill>
                <a:effectLst/>
                <a:latin typeface="-apple-system"/>
              </a:rPr>
              <a:t> This book was his political manifesto, critiquing Western democracy and communism while proposing his “Third Universal Theory.” It was mandatory reading in Libyan schools and was the basis for the country’s laws, though its ideas were often bizarre and impractical.</a:t>
            </a:r>
          </a:p>
        </p:txBody>
      </p:sp>
    </p:spTree>
    <p:extLst>
      <p:ext uri="{BB962C8B-B14F-4D97-AF65-F5344CB8AC3E}">
        <p14:creationId xmlns:p14="http://schemas.microsoft.com/office/powerpoint/2010/main" val="29419295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5341-7777-222E-BA92-8DD6CF0B8D66}"/>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5DE86816-FC24-040A-5C3D-BDCED1F63288}"/>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Gaddafi</a:t>
            </a:r>
            <a:endParaRPr sz="2700" dirty="0">
              <a:latin typeface="Tahoma"/>
              <a:ea typeface="Tahoma"/>
              <a:cs typeface="Tahoma"/>
            </a:endParaRPr>
          </a:p>
        </p:txBody>
      </p:sp>
      <p:sp>
        <p:nvSpPr>
          <p:cNvPr id="3" name="TextBox 2">
            <a:extLst>
              <a:ext uri="{FF2B5EF4-FFF2-40B4-BE49-F238E27FC236}">
                <a16:creationId xmlns:a16="http://schemas.microsoft.com/office/drawing/2014/main" id="{6BC62930-3B0F-DD8D-7144-819AE2AB87D1}"/>
              </a:ext>
            </a:extLst>
          </p:cNvPr>
          <p:cNvSpPr txBox="1"/>
          <p:nvPr/>
        </p:nvSpPr>
        <p:spPr>
          <a:xfrm>
            <a:off x="182033" y="1265766"/>
            <a:ext cx="11827933" cy="4837222"/>
          </a:xfrm>
          <a:prstGeom prst="rect">
            <a:avLst/>
          </a:prstGeom>
          <a:noFill/>
        </p:spPr>
        <p:txBody>
          <a:bodyPr wrap="square" rtlCol="0">
            <a:spAutoFit/>
          </a:bodyPr>
          <a:lstStyle/>
          <a:p>
            <a:pPr algn="l" fontAlgn="base">
              <a:lnSpc>
                <a:spcPts val="2025"/>
              </a:lnSpc>
              <a:spcBef>
                <a:spcPts val="600"/>
              </a:spcBef>
              <a:buNone/>
            </a:pPr>
            <a:r>
              <a:rPr lang="en-US" b="0" i="0" dirty="0">
                <a:solidFill>
                  <a:srgbClr val="1A2029"/>
                </a:solidFill>
                <a:effectLst/>
                <a:latin typeface="-apple-system"/>
              </a:rPr>
              <a:t>Gaddafi’s 42-year rule was a paradox of significant social development and brutal repression.</a:t>
            </a:r>
          </a:p>
          <a:p>
            <a:pPr algn="l" fontAlgn="base">
              <a:lnSpc>
                <a:spcPts val="2025"/>
              </a:lnSpc>
              <a:spcBef>
                <a:spcPts val="600"/>
              </a:spcBef>
              <a:buNone/>
            </a:pPr>
            <a:endParaRPr lang="en-US" b="0" i="0" dirty="0">
              <a:solidFill>
                <a:srgbClr val="1A2029"/>
              </a:solidFill>
              <a:effectLst/>
              <a:latin typeface="-apple-system"/>
            </a:endParaRPr>
          </a:p>
          <a:p>
            <a:pPr algn="l" fontAlgn="base">
              <a:lnSpc>
                <a:spcPts val="1875"/>
              </a:lnSpc>
              <a:spcBef>
                <a:spcPts val="1200"/>
              </a:spcBef>
              <a:buNone/>
            </a:pPr>
            <a:r>
              <a:rPr lang="en-US" b="1" i="0" dirty="0">
                <a:solidFill>
                  <a:srgbClr val="1A2029"/>
                </a:solidFill>
                <a:effectLst/>
                <a:latin typeface="-apple-system"/>
              </a:rPr>
              <a:t>The “Positive” Side (as promoted by his regime):</a:t>
            </a:r>
          </a:p>
          <a:p>
            <a:pPr algn="l" fontAlgn="base">
              <a:lnSpc>
                <a:spcPts val="1875"/>
              </a:lnSpc>
              <a:spcBef>
                <a:spcPts val="1200"/>
              </a:spcBef>
              <a:buNone/>
            </a:pPr>
            <a:endParaRPr lang="en-US" b="1"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Social Welfare:</a:t>
            </a:r>
            <a:r>
              <a:rPr lang="en-US" b="0" i="0" dirty="0">
                <a:solidFill>
                  <a:srgbClr val="1A2029"/>
                </a:solidFill>
                <a:effectLst/>
                <a:latin typeface="-apple-system"/>
              </a:rPr>
              <a:t> Using Libya’s vast oil wealth, Gaddafi invested heavily in social programs. He introduced free education and free healthcare, dramatically raising literacy rates and life expectancy.</a:t>
            </a:r>
          </a:p>
          <a:p>
            <a:pPr algn="l" fontAlgn="base">
              <a:lnSpc>
                <a:spcPts val="2025"/>
              </a:lnSpc>
              <a:spcBef>
                <a:spcPts val="600"/>
              </a:spcBef>
            </a:pPr>
            <a:endParaRPr lang="en-US"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Infrastructure:</a:t>
            </a:r>
            <a:r>
              <a:rPr lang="en-US" b="0" i="0" dirty="0">
                <a:solidFill>
                  <a:srgbClr val="1A2029"/>
                </a:solidFill>
                <a:effectLst/>
                <a:latin typeface="-apple-system"/>
              </a:rPr>
              <a:t> He initiated massive infrastructure projects, the most famous of which is the </a:t>
            </a:r>
            <a:r>
              <a:rPr lang="en-US" b="1" i="0" dirty="0">
                <a:solidFill>
                  <a:srgbClr val="1A2029"/>
                </a:solidFill>
                <a:effectLst/>
                <a:latin typeface="-apple-system"/>
              </a:rPr>
              <a:t>Great Man-Made River Project</a:t>
            </a:r>
            <a:r>
              <a:rPr lang="en-US" b="0" i="0" dirty="0">
                <a:solidFill>
                  <a:srgbClr val="1A2029"/>
                </a:solidFill>
                <a:effectLst/>
                <a:latin typeface="-apple-system"/>
              </a:rPr>
              <a:t>, an enormous network of pipes that pumps fossil water from aquifers deep in the desert to coastal cities.</a:t>
            </a:r>
          </a:p>
          <a:p>
            <a:pPr algn="l" fontAlgn="base">
              <a:lnSpc>
                <a:spcPts val="2025"/>
              </a:lnSpc>
              <a:spcBef>
                <a:spcPts val="600"/>
              </a:spcBef>
            </a:pPr>
            <a:endParaRPr lang="en-US"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Women’s Rights:</a:t>
            </a:r>
            <a:r>
              <a:rPr lang="en-US" b="0" i="0" dirty="0">
                <a:solidFill>
                  <a:srgbClr val="1A2029"/>
                </a:solidFill>
                <a:effectLst/>
                <a:latin typeface="-apple-system"/>
              </a:rPr>
              <a:t> Compared to many other Arab nations, Gaddafi promoted women’s rights. Women were encouraged to pursue education and join the workforce. He famously employed an all-female contingent of elite bodyguards.</a:t>
            </a:r>
          </a:p>
          <a:p>
            <a:pPr algn="l" fontAlgn="base">
              <a:lnSpc>
                <a:spcPts val="2025"/>
              </a:lnSpc>
              <a:spcBef>
                <a:spcPts val="600"/>
              </a:spcBef>
            </a:pPr>
            <a:endParaRPr lang="en-US" b="0" i="0" dirty="0">
              <a:solidFill>
                <a:srgbClr val="1A2029"/>
              </a:solidFill>
              <a:effectLst/>
              <a:latin typeface="-apple-system"/>
            </a:endParaRPr>
          </a:p>
          <a:p>
            <a:pPr algn="l" fontAlgn="base">
              <a:lnSpc>
                <a:spcPts val="2025"/>
              </a:lnSpc>
              <a:spcBef>
                <a:spcPts val="600"/>
              </a:spcBef>
              <a:buFont typeface="Arial" panose="020B0604020202020204" pitchFamily="34" charset="0"/>
              <a:buChar char="•"/>
            </a:pPr>
            <a:r>
              <a:rPr lang="en-US" b="1" i="0" dirty="0">
                <a:solidFill>
                  <a:srgbClr val="1A2029"/>
                </a:solidFill>
                <a:effectLst/>
                <a:latin typeface="-apple-system"/>
              </a:rPr>
              <a:t> Anti-Imperialism:</a:t>
            </a:r>
            <a:r>
              <a:rPr lang="en-US" b="0" i="0" dirty="0">
                <a:solidFill>
                  <a:srgbClr val="1A2029"/>
                </a:solidFill>
                <a:effectLst/>
                <a:latin typeface="-apple-system"/>
              </a:rPr>
              <a:t> He was a staunch opponent of Western influence and colonialism, which earned him respect in some parts of the developing world.</a:t>
            </a:r>
          </a:p>
        </p:txBody>
      </p:sp>
    </p:spTree>
    <p:extLst>
      <p:ext uri="{BB962C8B-B14F-4D97-AF65-F5344CB8AC3E}">
        <p14:creationId xmlns:p14="http://schemas.microsoft.com/office/powerpoint/2010/main" val="7444013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894D7-A804-6DA7-E76C-DAF7C7EC7F97}"/>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AA1C9D0C-774E-CC58-5EBF-10378BAC3CE0}"/>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Gaddafi</a:t>
            </a:r>
            <a:endParaRPr sz="2700" dirty="0">
              <a:latin typeface="Tahoma"/>
              <a:ea typeface="Tahoma"/>
              <a:cs typeface="Tahoma"/>
            </a:endParaRPr>
          </a:p>
        </p:txBody>
      </p:sp>
      <p:sp>
        <p:nvSpPr>
          <p:cNvPr id="3" name="TextBox 2">
            <a:extLst>
              <a:ext uri="{FF2B5EF4-FFF2-40B4-BE49-F238E27FC236}">
                <a16:creationId xmlns:a16="http://schemas.microsoft.com/office/drawing/2014/main" id="{B8B81E33-C3B4-E846-6F60-C17BE61E2F44}"/>
              </a:ext>
            </a:extLst>
          </p:cNvPr>
          <p:cNvSpPr txBox="1"/>
          <p:nvPr/>
        </p:nvSpPr>
        <p:spPr>
          <a:xfrm>
            <a:off x="254000" y="1426633"/>
            <a:ext cx="11827933" cy="4349909"/>
          </a:xfrm>
          <a:prstGeom prst="rect">
            <a:avLst/>
          </a:prstGeom>
          <a:noFill/>
        </p:spPr>
        <p:txBody>
          <a:bodyPr wrap="square" rtlCol="0">
            <a:spAutoFit/>
          </a:bodyPr>
          <a:lstStyle/>
          <a:p>
            <a:pPr marL="0" marR="0" lvl="0" indent="0" algn="l" defTabSz="914400" rtl="0" eaLnBrk="1" fontAlgn="base" latinLnBrk="0" hangingPunct="1">
              <a:lnSpc>
                <a:spcPts val="1875"/>
              </a:lnSpc>
              <a:spcBef>
                <a:spcPts val="1200"/>
              </a:spcBef>
              <a:spcAft>
                <a:spcPts val="0"/>
              </a:spcAft>
              <a:buClrTx/>
              <a:buSzTx/>
              <a:buFontTx/>
              <a:buNone/>
              <a:tabLst/>
              <a:defRPr/>
            </a:pPr>
            <a:r>
              <a:rPr kumimoji="0" lang="en-US" sz="1800" b="1" i="0" u="none" strike="noStrike" kern="1200" cap="none" spc="0" normalizeH="0" baseline="0" noProof="0" dirty="0">
                <a:ln>
                  <a:noFill/>
                </a:ln>
                <a:solidFill>
                  <a:srgbClr val="1A2029"/>
                </a:solidFill>
                <a:effectLst/>
                <a:uLnTx/>
                <a:uFillTx/>
                <a:latin typeface="-apple-system"/>
                <a:ea typeface="+mn-ea"/>
                <a:cs typeface="+mn-cs"/>
              </a:rPr>
              <a:t>The Dark Side (The Dictatorship):</a:t>
            </a:r>
          </a:p>
          <a:p>
            <a:pPr marL="0" marR="0" lvl="0" indent="0" algn="l" defTabSz="914400" rtl="0" eaLnBrk="1" fontAlgn="base" latinLnBrk="0" hangingPunct="1">
              <a:lnSpc>
                <a:spcPts val="1875"/>
              </a:lnSpc>
              <a:spcBef>
                <a:spcPts val="1200"/>
              </a:spcBef>
              <a:spcAft>
                <a:spcPts val="0"/>
              </a:spcAft>
              <a:buClrTx/>
              <a:buSzTx/>
              <a:buFontTx/>
              <a:buNone/>
              <a:tabLst/>
              <a:defRPr/>
            </a:pPr>
            <a:endParaRPr kumimoji="0" lang="en-US" sz="1800" b="1" i="0" u="none" strike="noStrike" kern="1200" cap="none" spc="0" normalizeH="0" baseline="0" noProof="0" dirty="0">
              <a:ln>
                <a:noFill/>
              </a:ln>
              <a:solidFill>
                <a:srgbClr val="1A2029"/>
              </a:solidFill>
              <a:effectLst/>
              <a:uLnTx/>
              <a:uFillTx/>
              <a:latin typeface="-apple-system"/>
              <a:ea typeface="+mn-ea"/>
              <a:cs typeface="+mn-cs"/>
            </a:endParaRPr>
          </a:p>
          <a:p>
            <a:pPr marL="0" marR="0" lvl="0" indent="0" algn="l" defTabSz="914400" rtl="0" eaLnBrk="1" fontAlgn="base" latinLnBrk="0" hangingPunct="1">
              <a:lnSpc>
                <a:spcPts val="2025"/>
              </a:lnSpc>
              <a:spcBef>
                <a:spcPts val="6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1A2029"/>
                </a:solidFill>
                <a:effectLst/>
                <a:uLnTx/>
                <a:uFillTx/>
                <a:latin typeface="-apple-system"/>
                <a:ea typeface="+mn-ea"/>
                <a:cs typeface="+mn-cs"/>
              </a:rPr>
              <a:t> Brutal Repression:</a:t>
            </a:r>
            <a:r>
              <a:rPr kumimoji="0" lang="en-US" sz="1800" b="0" i="0" u="none" strike="noStrike" kern="1200" cap="none" spc="0" normalizeH="0" baseline="0" noProof="0" dirty="0">
                <a:ln>
                  <a:noFill/>
                </a:ln>
                <a:solidFill>
                  <a:srgbClr val="1A2029"/>
                </a:solidFill>
                <a:effectLst/>
                <a:uLnTx/>
                <a:uFillTx/>
                <a:latin typeface="-apple-system"/>
                <a:ea typeface="+mn-ea"/>
                <a:cs typeface="+mn-cs"/>
              </a:rPr>
              <a:t> There was no political freedom or freedom of speech. Dissent was crushed mercilessly. Political opponents were tortured, imprisoned, or killed. Public executions were common.</a:t>
            </a:r>
          </a:p>
          <a:p>
            <a:pPr marL="0" marR="0" lvl="0" indent="0" algn="l" defTabSz="914400" rtl="0" eaLnBrk="1" fontAlgn="base" latinLnBrk="0" hangingPunct="1">
              <a:lnSpc>
                <a:spcPts val="2025"/>
              </a:lnSpc>
              <a:spcBef>
                <a:spcPts val="600"/>
              </a:spcBef>
              <a:spcAft>
                <a:spcPts val="0"/>
              </a:spcAft>
              <a:buClrTx/>
              <a:buSzTx/>
              <a:tabLst/>
              <a:defRPr/>
            </a:pPr>
            <a:endParaRPr kumimoji="0" lang="en-US" sz="1800" b="0" i="0" u="none" strike="noStrike" kern="1200" cap="none" spc="0" normalizeH="0" baseline="0" noProof="0" dirty="0">
              <a:ln>
                <a:noFill/>
              </a:ln>
              <a:solidFill>
                <a:srgbClr val="1A2029"/>
              </a:solidFill>
              <a:effectLst/>
              <a:uLnTx/>
              <a:uFillTx/>
              <a:latin typeface="-apple-system"/>
              <a:ea typeface="+mn-ea"/>
              <a:cs typeface="+mn-cs"/>
            </a:endParaRPr>
          </a:p>
          <a:p>
            <a:pPr marL="0" marR="0" lvl="0" indent="0" algn="l" defTabSz="914400" rtl="0" eaLnBrk="1" fontAlgn="base" latinLnBrk="0" hangingPunct="1">
              <a:lnSpc>
                <a:spcPts val="2025"/>
              </a:lnSpc>
              <a:spcBef>
                <a:spcPts val="6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1A2029"/>
                </a:solidFill>
                <a:effectLst/>
                <a:uLnTx/>
                <a:uFillTx/>
                <a:latin typeface="-apple-system"/>
                <a:ea typeface="+mn-ea"/>
                <a:cs typeface="+mn-cs"/>
              </a:rPr>
              <a:t> Cult of Personality:</a:t>
            </a:r>
            <a:r>
              <a:rPr kumimoji="0" lang="en-US" sz="1800" b="0" i="0" u="none" strike="noStrike" kern="1200" cap="none" spc="0" normalizeH="0" baseline="0" noProof="0" dirty="0">
                <a:ln>
                  <a:noFill/>
                </a:ln>
                <a:solidFill>
                  <a:srgbClr val="1A2029"/>
                </a:solidFill>
                <a:effectLst/>
                <a:uLnTx/>
                <a:uFillTx/>
                <a:latin typeface="-apple-system"/>
                <a:ea typeface="+mn-ea"/>
                <a:cs typeface="+mn-cs"/>
              </a:rPr>
              <a:t> Gaddafi built an immense cult of personality around himself. His portrait was everywhere, and his speeches were broadcast for hours on state television.</a:t>
            </a:r>
          </a:p>
          <a:p>
            <a:pPr marL="0" marR="0" lvl="0" indent="0" algn="l" defTabSz="914400" rtl="0" eaLnBrk="1" fontAlgn="base" latinLnBrk="0" hangingPunct="1">
              <a:lnSpc>
                <a:spcPts val="2025"/>
              </a:lnSpc>
              <a:spcBef>
                <a:spcPts val="600"/>
              </a:spcBef>
              <a:spcAft>
                <a:spcPts val="0"/>
              </a:spcAft>
              <a:buClrTx/>
              <a:buSzTx/>
              <a:tabLst/>
              <a:defRPr/>
            </a:pPr>
            <a:endParaRPr kumimoji="0" lang="en-US" sz="1800" b="0" i="0" u="none" strike="noStrike" kern="1200" cap="none" spc="0" normalizeH="0" baseline="0" noProof="0" dirty="0">
              <a:ln>
                <a:noFill/>
              </a:ln>
              <a:solidFill>
                <a:srgbClr val="1A2029"/>
              </a:solidFill>
              <a:effectLst/>
              <a:uLnTx/>
              <a:uFillTx/>
              <a:latin typeface="-apple-system"/>
              <a:ea typeface="+mn-ea"/>
              <a:cs typeface="+mn-cs"/>
            </a:endParaRPr>
          </a:p>
          <a:p>
            <a:pPr marL="0" marR="0" lvl="0" indent="0" algn="l" defTabSz="914400" rtl="0" eaLnBrk="1" fontAlgn="base" latinLnBrk="0" hangingPunct="1">
              <a:lnSpc>
                <a:spcPts val="2025"/>
              </a:lnSpc>
              <a:spcBef>
                <a:spcPts val="6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1A2029"/>
                </a:solidFill>
                <a:effectLst/>
                <a:uLnTx/>
                <a:uFillTx/>
                <a:latin typeface="-apple-system"/>
                <a:ea typeface="+mn-ea"/>
                <a:cs typeface="+mn-cs"/>
              </a:rPr>
              <a:t> State-Sponsored Terrorism:</a:t>
            </a:r>
            <a:r>
              <a:rPr kumimoji="0" lang="en-US" sz="1800" b="0" i="0" u="none" strike="noStrike" kern="1200" cap="none" spc="0" normalizeH="0" baseline="0" noProof="0" dirty="0">
                <a:ln>
                  <a:noFill/>
                </a:ln>
                <a:solidFill>
                  <a:srgbClr val="1A2029"/>
                </a:solidFill>
                <a:effectLst/>
                <a:uLnTx/>
                <a:uFillTx/>
                <a:latin typeface="-apple-system"/>
                <a:ea typeface="+mn-ea"/>
                <a:cs typeface="+mn-cs"/>
              </a:rPr>
              <a:t> For years, Libya was designated a state sponsor of terrorism. The most notorious example was the </a:t>
            </a:r>
            <a:r>
              <a:rPr kumimoji="0" lang="en-US" sz="1800" b="1" i="0" u="none" strike="noStrike" kern="1200" cap="none" spc="0" normalizeH="0" baseline="0" noProof="0" dirty="0">
                <a:ln>
                  <a:noFill/>
                </a:ln>
                <a:solidFill>
                  <a:srgbClr val="1A2029"/>
                </a:solidFill>
                <a:effectLst/>
                <a:uLnTx/>
                <a:uFillTx/>
                <a:latin typeface="-apple-system"/>
                <a:ea typeface="+mn-ea"/>
                <a:cs typeface="+mn-cs"/>
              </a:rPr>
              <a:t>1988 Lockerbie bombing</a:t>
            </a:r>
            <a:r>
              <a:rPr kumimoji="0" lang="en-US" sz="1800" b="0" i="0" u="none" strike="noStrike" kern="1200" cap="none" spc="0" normalizeH="0" baseline="0" noProof="0" dirty="0">
                <a:ln>
                  <a:noFill/>
                </a:ln>
                <a:solidFill>
                  <a:srgbClr val="1A2029"/>
                </a:solidFill>
                <a:effectLst/>
                <a:uLnTx/>
                <a:uFillTx/>
                <a:latin typeface="-apple-system"/>
                <a:ea typeface="+mn-ea"/>
                <a:cs typeface="+mn-cs"/>
              </a:rPr>
              <a:t>, where a Pan Am flight was blown up over Scotland, killing 270 people. A Libyan intelligence agent was eventually convicted.</a:t>
            </a:r>
          </a:p>
          <a:p>
            <a:pPr marL="0" marR="0" lvl="0" indent="0" algn="l" defTabSz="914400" rtl="0" eaLnBrk="1" fontAlgn="base" latinLnBrk="0" hangingPunct="1">
              <a:lnSpc>
                <a:spcPts val="2025"/>
              </a:lnSpc>
              <a:spcBef>
                <a:spcPts val="600"/>
              </a:spcBef>
              <a:spcAft>
                <a:spcPts val="0"/>
              </a:spcAft>
              <a:buClrTx/>
              <a:buSzTx/>
              <a:tabLst/>
              <a:defRPr/>
            </a:pPr>
            <a:endParaRPr kumimoji="0" lang="en-US" sz="1800" b="0" i="0" u="none" strike="noStrike" kern="1200" cap="none" spc="0" normalizeH="0" baseline="0" noProof="0" dirty="0">
              <a:ln>
                <a:noFill/>
              </a:ln>
              <a:solidFill>
                <a:srgbClr val="1A2029"/>
              </a:solidFill>
              <a:effectLst/>
              <a:uLnTx/>
              <a:uFillTx/>
              <a:latin typeface="-apple-system"/>
              <a:ea typeface="+mn-ea"/>
              <a:cs typeface="+mn-cs"/>
            </a:endParaRPr>
          </a:p>
          <a:p>
            <a:pPr marL="0" marR="0" lvl="0" indent="0" algn="l" defTabSz="914400" rtl="0" eaLnBrk="1" fontAlgn="base" latinLnBrk="0" hangingPunct="1">
              <a:lnSpc>
                <a:spcPts val="2025"/>
              </a:lnSpc>
              <a:spcBef>
                <a:spcPts val="6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1A2029"/>
                </a:solidFill>
                <a:effectLst/>
                <a:uLnTx/>
                <a:uFillTx/>
                <a:latin typeface="-apple-system"/>
                <a:ea typeface="+mn-ea"/>
                <a:cs typeface="+mn-cs"/>
              </a:rPr>
              <a:t> Corruption and Nepotism:</a:t>
            </a:r>
            <a:r>
              <a:rPr kumimoji="0" lang="en-US" sz="1800" b="0" i="0" u="none" strike="noStrike" kern="1200" cap="none" spc="0" normalizeH="0" baseline="0" noProof="0" dirty="0">
                <a:ln>
                  <a:noFill/>
                </a:ln>
                <a:solidFill>
                  <a:srgbClr val="1A2029"/>
                </a:solidFill>
                <a:effectLst/>
                <a:uLnTx/>
                <a:uFillTx/>
                <a:latin typeface="-apple-system"/>
                <a:ea typeface="+mn-ea"/>
                <a:cs typeface="+mn-cs"/>
              </a:rPr>
              <a:t> While the country had oil wealth, it was controlled by Gaddafi, his family, and his inner circle, leading to widespread corruption.</a:t>
            </a:r>
          </a:p>
        </p:txBody>
      </p:sp>
    </p:spTree>
    <p:extLst>
      <p:ext uri="{BB962C8B-B14F-4D97-AF65-F5344CB8AC3E}">
        <p14:creationId xmlns:p14="http://schemas.microsoft.com/office/powerpoint/2010/main" val="31070350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91AB9-2FAA-D137-A513-E4D9C564AA79}"/>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8EF53CCF-B606-0380-0CD7-627A02877C9B}"/>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Gaddafi - International Relations</a:t>
            </a:r>
            <a:endParaRPr sz="2700" dirty="0">
              <a:latin typeface="Tahoma"/>
              <a:ea typeface="Tahoma"/>
              <a:cs typeface="Tahoma"/>
            </a:endParaRPr>
          </a:p>
        </p:txBody>
      </p:sp>
      <p:sp>
        <p:nvSpPr>
          <p:cNvPr id="3" name="TextBox 2">
            <a:extLst>
              <a:ext uri="{FF2B5EF4-FFF2-40B4-BE49-F238E27FC236}">
                <a16:creationId xmlns:a16="http://schemas.microsoft.com/office/drawing/2014/main" id="{2580E375-4720-C46D-595D-E749505293FD}"/>
              </a:ext>
            </a:extLst>
          </p:cNvPr>
          <p:cNvSpPr txBox="1"/>
          <p:nvPr/>
        </p:nvSpPr>
        <p:spPr>
          <a:xfrm>
            <a:off x="254000" y="1426633"/>
            <a:ext cx="11827933" cy="3970318"/>
          </a:xfrm>
          <a:prstGeom prst="rect">
            <a:avLst/>
          </a:prstGeom>
          <a:noFill/>
        </p:spPr>
        <p:txBody>
          <a:bodyPr wrap="square" rtlCol="0">
            <a:spAutoFit/>
          </a:bodyPr>
          <a:lstStyle/>
          <a:p>
            <a:pPr fontAlgn="base"/>
            <a:r>
              <a:rPr lang="en-US" b="1" dirty="0"/>
              <a:t>A Pariah to a Partner and Back</a:t>
            </a:r>
          </a:p>
          <a:p>
            <a:pPr fontAlgn="base"/>
            <a:r>
              <a:rPr lang="en-US" dirty="0"/>
              <a:t>Gaddafi’s relationship with the world was volatile.</a:t>
            </a:r>
          </a:p>
          <a:p>
            <a:pPr fontAlgn="base"/>
            <a:endParaRPr lang="en-US" dirty="0"/>
          </a:p>
          <a:p>
            <a:pPr fontAlgn="base"/>
            <a:r>
              <a:rPr lang="en-US" b="1" dirty="0"/>
              <a:t>Pariah State (1980s-1990s):</a:t>
            </a:r>
            <a:r>
              <a:rPr lang="en-US" dirty="0"/>
              <a:t> After the Lockerbie bombing and other terrorist acts, Libya faced international sanctions and isolation. In 1986, the U.S. bombed Tripoli and Benghazi to kill Gaddafi, which failed.</a:t>
            </a:r>
          </a:p>
          <a:p>
            <a:pPr fontAlgn="base"/>
            <a:endParaRPr lang="en-US" dirty="0"/>
          </a:p>
          <a:p>
            <a:pPr fontAlgn="base"/>
            <a:r>
              <a:rPr lang="en-US" b="1" dirty="0"/>
              <a:t>Rehabilitation (2000s):</a:t>
            </a:r>
            <a:r>
              <a:rPr lang="en-US" dirty="0"/>
              <a:t> In a dramatic turnaround, Gaddafi sought to end his isolation. He accepted responsibility for Lockerbie, dismantled his weapons of mass destruction programs, and shared intelligence with the West on terrorist groups. Leaders like Tony Blair, Silvio Berlusconi, and Condoleezza Rice visited Libya, and the country was welcomed back into the international community.</a:t>
            </a:r>
          </a:p>
          <a:p>
            <a:pPr fontAlgn="base"/>
            <a:endParaRPr lang="en-US" dirty="0"/>
          </a:p>
          <a:p>
            <a:pPr fontAlgn="base"/>
            <a:r>
              <a:rPr lang="en-US" dirty="0"/>
              <a:t>This is very important to take notice of, and to also remember that the victors write the history books, a fundamental flaw in the current approach to history. Even if you surrender, you will still be considered a threat to be removed.</a:t>
            </a:r>
          </a:p>
        </p:txBody>
      </p:sp>
    </p:spTree>
    <p:extLst>
      <p:ext uri="{BB962C8B-B14F-4D97-AF65-F5344CB8AC3E}">
        <p14:creationId xmlns:p14="http://schemas.microsoft.com/office/powerpoint/2010/main" val="37480375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B02F5-57E1-64EE-E405-4E1B58C7C52F}"/>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BAE87F45-1A1F-C599-A160-E55269397905}"/>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Gaddafi – The Fall</a:t>
            </a:r>
            <a:endParaRPr sz="2700" dirty="0">
              <a:latin typeface="Tahoma"/>
              <a:ea typeface="Tahoma"/>
              <a:cs typeface="Tahoma"/>
            </a:endParaRPr>
          </a:p>
        </p:txBody>
      </p:sp>
      <p:sp>
        <p:nvSpPr>
          <p:cNvPr id="3" name="TextBox 2">
            <a:extLst>
              <a:ext uri="{FF2B5EF4-FFF2-40B4-BE49-F238E27FC236}">
                <a16:creationId xmlns:a16="http://schemas.microsoft.com/office/drawing/2014/main" id="{C1135A92-7AAB-BC74-0E8B-9DCAFCC1D704}"/>
              </a:ext>
            </a:extLst>
          </p:cNvPr>
          <p:cNvSpPr txBox="1"/>
          <p:nvPr/>
        </p:nvSpPr>
        <p:spPr>
          <a:xfrm>
            <a:off x="182033" y="1113366"/>
            <a:ext cx="11827933" cy="5355312"/>
          </a:xfrm>
          <a:prstGeom prst="rect">
            <a:avLst/>
          </a:prstGeom>
          <a:noFill/>
        </p:spPr>
        <p:txBody>
          <a:bodyPr wrap="square" rtlCol="0">
            <a:spAutoFit/>
          </a:bodyPr>
          <a:lstStyle/>
          <a:p>
            <a:pPr fontAlgn="base"/>
            <a:r>
              <a:rPr lang="en-US" dirty="0"/>
              <a:t>In February 2011, inspired by the Arab Spring uprisings in Tunisia and Egypt, protests broke out in Libya. Gaddafi’s response was swift and brutal, vowing to hunt down the protesters “door to door” and “show no mercy.”</a:t>
            </a:r>
          </a:p>
          <a:p>
            <a:pPr fontAlgn="base"/>
            <a:endParaRPr lang="en-US" dirty="0"/>
          </a:p>
          <a:p>
            <a:pPr fontAlgn="base"/>
            <a:r>
              <a:rPr lang="en-US" dirty="0"/>
              <a:t>This triggered a full-blown civil war. The United Nations authorized a </a:t>
            </a:r>
            <a:r>
              <a:rPr lang="en-US" b="1" dirty="0"/>
              <a:t>no-fly zone</a:t>
            </a:r>
            <a:r>
              <a:rPr lang="en-US" dirty="0"/>
              <a:t> to protect civilians, which was enforced by a NATO-led coalition. The intervention quickly expanded to active air support for the rebel forces.</a:t>
            </a:r>
          </a:p>
          <a:p>
            <a:pPr fontAlgn="base"/>
            <a:endParaRPr lang="en-US" dirty="0"/>
          </a:p>
          <a:p>
            <a:pPr fontAlgn="base"/>
            <a:r>
              <a:rPr lang="en-US" dirty="0"/>
              <a:t>After months of fierce fighting, rebel forces captured the capital, Tripoli, in August 2011. On </a:t>
            </a:r>
            <a:r>
              <a:rPr lang="en-US" b="1" dirty="0"/>
              <a:t>October 20, 2011</a:t>
            </a:r>
            <a:r>
              <a:rPr lang="en-US" dirty="0"/>
              <a:t>, Gaddafi was captured, brutally beaten, and killed by rebels in his hometown of Sirte. His final moments were filmed on a cell phone and broadcast globally.</a:t>
            </a:r>
          </a:p>
          <a:p>
            <a:pPr fontAlgn="base"/>
            <a:endParaRPr lang="en-US" dirty="0"/>
          </a:p>
          <a:p>
            <a:pPr fontAlgn="base"/>
            <a:r>
              <a:rPr lang="en-US" b="1" dirty="0"/>
              <a:t>Legacy and the Aftermath</a:t>
            </a:r>
          </a:p>
          <a:p>
            <a:pPr fontAlgn="base"/>
            <a:endParaRPr lang="en-US" b="1" dirty="0"/>
          </a:p>
          <a:p>
            <a:pPr fontAlgn="base"/>
            <a:r>
              <a:rPr lang="en-US" dirty="0"/>
              <a:t>Gaddafi left behind a deeply divided country with no functioning political institutions. His removal created a power vacuum that Libya has never recovered from. The country has been in a state of near-constant civil war, plagued by rival governments, Islamist militias, and human trafficking.</a:t>
            </a:r>
          </a:p>
          <a:p>
            <a:pPr fontAlgn="base"/>
            <a:endParaRPr lang="en-US" dirty="0"/>
          </a:p>
          <a:p>
            <a:pPr fontAlgn="base"/>
            <a:r>
              <a:rPr lang="en-US" dirty="0"/>
              <a:t>His legacy is intensely debated:</a:t>
            </a:r>
          </a:p>
          <a:p>
            <a:pPr marL="285750" indent="-285750" fontAlgn="base">
              <a:buFont typeface="Arial" panose="020B0604020202020204" pitchFamily="34" charset="0"/>
              <a:buChar char="•"/>
            </a:pPr>
            <a:r>
              <a:rPr lang="en-US" dirty="0"/>
              <a:t>To his supporters, he was a revolutionary hero who stood up to the West and lifted Libya out of poverty.</a:t>
            </a:r>
          </a:p>
          <a:p>
            <a:pPr marL="285750" indent="-285750" fontAlgn="base">
              <a:buFont typeface="Arial" panose="020B0604020202020204" pitchFamily="34" charset="0"/>
              <a:buChar char="•"/>
            </a:pPr>
            <a:r>
              <a:rPr lang="en-US" dirty="0"/>
              <a:t>To his detractors, he was a cruel, eccentric tyrant who murdered his own people and ruled through fear.</a:t>
            </a:r>
          </a:p>
        </p:txBody>
      </p:sp>
    </p:spTree>
    <p:extLst>
      <p:ext uri="{BB962C8B-B14F-4D97-AF65-F5344CB8AC3E}">
        <p14:creationId xmlns:p14="http://schemas.microsoft.com/office/powerpoint/2010/main" val="34244585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28256-5F48-0C27-F821-C8409E5744EB}"/>
            </a:ext>
          </a:extLst>
        </p:cNvPr>
        <p:cNvGrpSpPr/>
        <p:nvPr/>
      </p:nvGrpSpPr>
      <p:grpSpPr>
        <a:xfrm>
          <a:off x="0" y="0"/>
          <a:ext cx="0" cy="0"/>
          <a:chOff x="0" y="0"/>
          <a:chExt cx="0" cy="0"/>
        </a:xfrm>
      </p:grpSpPr>
      <p:sp>
        <p:nvSpPr>
          <p:cNvPr id="2" name="textbox 288">
            <a:extLst>
              <a:ext uri="{FF2B5EF4-FFF2-40B4-BE49-F238E27FC236}">
                <a16:creationId xmlns:a16="http://schemas.microsoft.com/office/drawing/2014/main" id="{55D2959A-CE11-2174-AAA2-C44247470DE4}"/>
              </a:ext>
            </a:extLst>
          </p:cNvPr>
          <p:cNvSpPr/>
          <p:nvPr/>
        </p:nvSpPr>
        <p:spPr>
          <a:xfrm>
            <a:off x="0" y="-29634"/>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32000"/>
              </a:lnSpc>
              <a:tabLst/>
            </a:pPr>
            <a:endParaRPr sz="1000" dirty="0">
              <a:latin typeface="Arial"/>
              <a:ea typeface="Arial"/>
              <a:cs typeface="Arial"/>
            </a:endParaRPr>
          </a:p>
          <a:p>
            <a:pPr algn="l" rtl="0" eaLnBrk="0">
              <a:lnSpc>
                <a:spcPct val="133000"/>
              </a:lnSpc>
              <a:tabLst/>
            </a:pPr>
            <a:endParaRPr sz="1000" dirty="0">
              <a:latin typeface="Arial"/>
              <a:ea typeface="Arial"/>
              <a:cs typeface="Arial"/>
            </a:endParaRPr>
          </a:p>
          <a:p>
            <a:pPr marL="671194" algn="l" rtl="0" eaLnBrk="0">
              <a:lnSpc>
                <a:spcPct val="81000"/>
              </a:lnSpc>
              <a:spcBef>
                <a:spcPts val="6"/>
              </a:spcBef>
              <a:tabLst/>
            </a:pPr>
            <a:r>
              <a:rPr sz="2700" b="1" kern="0" spc="-110" dirty="0">
                <a:solidFill>
                  <a:srgbClr val="FFFFFF">
                    <a:alpha val="100000"/>
                  </a:srgbClr>
                </a:solidFill>
                <a:latin typeface="Tahoma"/>
                <a:ea typeface="Tahoma"/>
                <a:cs typeface="Tahoma"/>
              </a:rPr>
              <a:t>X-Factor</a:t>
            </a:r>
            <a:r>
              <a:rPr lang="en-US" sz="2700" b="1" kern="0" spc="-110" dirty="0">
                <a:solidFill>
                  <a:srgbClr val="FFFFFF">
                    <a:alpha val="100000"/>
                  </a:srgbClr>
                </a:solidFill>
                <a:latin typeface="Tahoma"/>
                <a:ea typeface="Tahoma"/>
                <a:cs typeface="Tahoma"/>
              </a:rPr>
              <a:t> – History – Summary</a:t>
            </a:r>
            <a:endParaRPr sz="2700" dirty="0">
              <a:latin typeface="Tahoma"/>
              <a:ea typeface="Tahoma"/>
              <a:cs typeface="Tahoma"/>
            </a:endParaRPr>
          </a:p>
        </p:txBody>
      </p:sp>
      <p:sp>
        <p:nvSpPr>
          <p:cNvPr id="3" name="TextBox 2">
            <a:extLst>
              <a:ext uri="{FF2B5EF4-FFF2-40B4-BE49-F238E27FC236}">
                <a16:creationId xmlns:a16="http://schemas.microsoft.com/office/drawing/2014/main" id="{DFF63EC5-C272-D119-F3BD-1DC6B96F6951}"/>
              </a:ext>
            </a:extLst>
          </p:cNvPr>
          <p:cNvSpPr txBox="1"/>
          <p:nvPr/>
        </p:nvSpPr>
        <p:spPr>
          <a:xfrm>
            <a:off x="182033" y="1113366"/>
            <a:ext cx="11827933" cy="2862322"/>
          </a:xfrm>
          <a:prstGeom prst="rect">
            <a:avLst/>
          </a:prstGeom>
          <a:noFill/>
        </p:spPr>
        <p:txBody>
          <a:bodyPr wrap="square" rtlCol="0">
            <a:spAutoFit/>
          </a:bodyPr>
          <a:lstStyle/>
          <a:p>
            <a:pPr fontAlgn="base"/>
            <a:r>
              <a:rPr lang="en-US" dirty="0"/>
              <a:t>Vonguul’s X-Factor isn’t intended to be surmised as just history. For those who know me and how I operate, know that I am especially skilled at reverse engineering information. With such a large database of different ideas, experiences, and outcomes, creating a system that works for us isn’t a fantasy story. This is not a dream, this is not a myth, we may not be able to present ourselves to our full potential today, but with consistent focused effort towards an effective goal we can exceed the expectations of our potential.</a:t>
            </a:r>
          </a:p>
          <a:p>
            <a:pPr fontAlgn="base"/>
            <a:endParaRPr lang="en-US" dirty="0"/>
          </a:p>
          <a:p>
            <a:pPr fontAlgn="base"/>
            <a:r>
              <a:rPr lang="en-US" dirty="0"/>
              <a:t>No more begging, no more scamming, no more losing a winnable battle, no more thinking that big bro loves you, no more hiding the fact that the world we live in is ugly, no more expecting that the government can be trusted. </a:t>
            </a:r>
          </a:p>
          <a:p>
            <a:pPr fontAlgn="base"/>
            <a:endParaRPr lang="en-US" dirty="0"/>
          </a:p>
          <a:p>
            <a:pPr fontAlgn="base"/>
            <a:r>
              <a:rPr lang="en-US" dirty="0"/>
              <a:t>God said this is disgusting and somebody has to clean it up.</a:t>
            </a:r>
          </a:p>
        </p:txBody>
      </p:sp>
    </p:spTree>
    <p:extLst>
      <p:ext uri="{BB962C8B-B14F-4D97-AF65-F5344CB8AC3E}">
        <p14:creationId xmlns:p14="http://schemas.microsoft.com/office/powerpoint/2010/main" val="2525345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4" name="picture 364"/>
          <p:cNvPicPr>
            <a:picLocks noChangeAspect="1"/>
          </p:cNvPicPr>
          <p:nvPr/>
        </p:nvPicPr>
        <p:blipFill>
          <a:blip r:embed="rId2"/>
          <a:stretch>
            <a:fillRect/>
          </a:stretch>
        </p:blipFill>
        <p:spPr>
          <a:xfrm rot="21600000">
            <a:off x="0" y="0"/>
            <a:ext cx="12192000" cy="6858000"/>
          </a:xfrm>
          <a:prstGeom prst="rect">
            <a:avLst/>
          </a:prstGeom>
        </p:spPr>
      </p:pic>
      <p:sp>
        <p:nvSpPr>
          <p:cNvPr id="366" name="textbox 366"/>
          <p:cNvSpPr/>
          <p:nvPr/>
        </p:nvSpPr>
        <p:spPr>
          <a:xfrm>
            <a:off x="0" y="0"/>
            <a:ext cx="12192000" cy="1143000"/>
          </a:xfrm>
          <a:prstGeom prst="rect">
            <a:avLst/>
          </a:prstGeom>
          <a:solidFill>
            <a:srgbClr val="19376D">
              <a:alpha val="100000"/>
            </a:srgbClr>
          </a:solidFill>
          <a:ln w="0" cap="flat">
            <a:noFill/>
            <a:prstDash val="solid"/>
            <a:miter lim="0"/>
          </a:ln>
        </p:spPr>
        <p:txBody>
          <a:bodyPr vert="horz" wrap="square" lIns="0" tIns="0" rIns="0" bIns="0"/>
          <a:lstStyle/>
          <a:p>
            <a:pPr algn="l" rtl="0" eaLnBrk="0">
              <a:lnSpc>
                <a:spcPct val="184000"/>
              </a:lnSpc>
              <a:tabLst/>
            </a:pPr>
            <a:endParaRPr sz="1000" dirty="0">
              <a:latin typeface="Arial"/>
              <a:ea typeface="Arial"/>
              <a:cs typeface="Arial"/>
            </a:endParaRPr>
          </a:p>
          <a:p>
            <a:pPr marL="666115" algn="l" rtl="0" eaLnBrk="0">
              <a:lnSpc>
                <a:spcPts val="3881"/>
              </a:lnSpc>
              <a:tabLst/>
            </a:pPr>
            <a:r>
              <a:rPr sz="2800" b="1" kern="0" spc="-130" dirty="0">
                <a:solidFill>
                  <a:srgbClr val="FFFFFF">
                    <a:alpha val="100000"/>
                  </a:srgbClr>
                </a:solidFill>
                <a:latin typeface="Tahoma"/>
                <a:ea typeface="Tahoma"/>
                <a:cs typeface="Tahoma"/>
              </a:rPr>
              <a:t>Actionable Nex</a:t>
            </a:r>
            <a:r>
              <a:rPr sz="2800" b="1" kern="0" spc="-140" dirty="0">
                <a:solidFill>
                  <a:srgbClr val="FFFFFF">
                    <a:alpha val="100000"/>
                  </a:srgbClr>
                </a:solidFill>
                <a:latin typeface="Tahoma"/>
                <a:ea typeface="Tahoma"/>
                <a:cs typeface="Tahoma"/>
              </a:rPr>
              <a:t>t Steps</a:t>
            </a:r>
            <a:endParaRPr sz="2800" dirty="0">
              <a:latin typeface="Tahoma"/>
              <a:ea typeface="Tahoma"/>
              <a:cs typeface="Tahoma"/>
            </a:endParaRPr>
          </a:p>
        </p:txBody>
      </p:sp>
      <p:pic>
        <p:nvPicPr>
          <p:cNvPr id="368" name="picture 368"/>
          <p:cNvPicPr>
            <a:picLocks noChangeAspect="1"/>
          </p:cNvPicPr>
          <p:nvPr/>
        </p:nvPicPr>
        <p:blipFill>
          <a:blip r:embed="rId3"/>
          <a:stretch>
            <a:fillRect/>
          </a:stretch>
        </p:blipFill>
        <p:spPr>
          <a:xfrm rot="21600000">
            <a:off x="6524625" y="2876550"/>
            <a:ext cx="571500" cy="571500"/>
          </a:xfrm>
          <a:prstGeom prst="rect">
            <a:avLst/>
          </a:prstGeom>
        </p:spPr>
      </p:pic>
      <p:sp>
        <p:nvSpPr>
          <p:cNvPr id="370" name="textbox 370"/>
          <p:cNvSpPr/>
          <p:nvPr/>
        </p:nvSpPr>
        <p:spPr>
          <a:xfrm>
            <a:off x="6540500" y="2981083"/>
            <a:ext cx="4641850" cy="250952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17475" algn="l" rtl="0" eaLnBrk="0">
              <a:lnSpc>
                <a:spcPts val="2717"/>
              </a:lnSpc>
              <a:tabLst>
                <a:tab pos="422275" algn="l"/>
              </a:tabLst>
            </a:pPr>
            <a:r>
              <a:rPr sz="2000" b="1" kern="0" spc="0" dirty="0">
                <a:solidFill>
                  <a:srgbClr val="19376D">
                    <a:alpha val="100000"/>
                  </a:srgbClr>
                </a:solidFill>
                <a:latin typeface="Tahoma"/>
                <a:ea typeface="Tahoma"/>
                <a:cs typeface="Tahoma"/>
              </a:rPr>
              <a:t>	</a:t>
            </a:r>
            <a:r>
              <a:rPr sz="2000" b="1" kern="0" spc="70" dirty="0">
                <a:solidFill>
                  <a:srgbClr val="19376D">
                    <a:alpha val="100000"/>
                  </a:srgbClr>
                </a:solidFill>
                <a:latin typeface="Tahoma"/>
                <a:ea typeface="Tahoma"/>
                <a:cs typeface="Tahoma"/>
              </a:rPr>
              <a:t>    </a:t>
            </a:r>
            <a:r>
              <a:rPr sz="2000" b="1" kern="0" spc="-90" dirty="0">
                <a:solidFill>
                  <a:srgbClr val="19376D">
                    <a:alpha val="100000"/>
                  </a:srgbClr>
                </a:solidFill>
                <a:latin typeface="Tahoma"/>
                <a:ea typeface="Tahoma"/>
                <a:cs typeface="Tahoma"/>
              </a:rPr>
              <a:t>Join Community</a:t>
            </a:r>
            <a:endParaRPr sz="2000" dirty="0">
              <a:latin typeface="Tahoma"/>
              <a:ea typeface="Tahoma"/>
              <a:cs typeface="Tahoma"/>
            </a:endParaRPr>
          </a:p>
          <a:p>
            <a:pPr algn="l" rtl="0" eaLnBrk="0">
              <a:lnSpc>
                <a:spcPct val="159000"/>
              </a:lnSpc>
              <a:tabLst/>
            </a:pPr>
            <a:endParaRPr sz="1000" dirty="0">
              <a:latin typeface="Arial"/>
              <a:ea typeface="Arial"/>
              <a:cs typeface="Arial"/>
            </a:endParaRPr>
          </a:p>
          <a:p>
            <a:pPr marL="317500" indent="-304800" algn="l" rtl="0" eaLnBrk="0">
              <a:lnSpc>
                <a:spcPct val="122000"/>
              </a:lnSpc>
              <a:spcBef>
                <a:spcPts val="458"/>
              </a:spcBef>
              <a:tabLst>
                <a:tab pos="184150" algn="l"/>
              </a:tabLst>
            </a:pPr>
            <a:r>
              <a:rPr sz="1500" b="1" kern="0" spc="0" dirty="0">
                <a:solidFill>
                  <a:srgbClr val="576CBC">
                    <a:alpha val="100000"/>
                  </a:srgbClr>
                </a:solidFill>
                <a:latin typeface="Tahoma"/>
                <a:ea typeface="Tahoma"/>
                <a:cs typeface="Tahoma"/>
              </a:rPr>
              <a:t>	</a:t>
            </a:r>
            <a:r>
              <a:rPr sz="1500" b="1" kern="0" spc="40" dirty="0">
                <a:solidFill>
                  <a:srgbClr val="576CBC">
                    <a:alpha val="100000"/>
                  </a:srgbClr>
                </a:solidFill>
                <a:latin typeface="Tahoma"/>
                <a:ea typeface="Tahoma"/>
                <a:cs typeface="Tahoma"/>
              </a:rPr>
              <a:t>  </a:t>
            </a:r>
            <a:r>
              <a:rPr sz="1500" b="1" kern="0" spc="-40" dirty="0">
                <a:solidFill>
                  <a:srgbClr val="576CBC">
                    <a:alpha val="100000"/>
                  </a:srgbClr>
                </a:solidFill>
                <a:latin typeface="Tahoma"/>
                <a:ea typeface="Tahoma"/>
                <a:cs typeface="Tahoma"/>
              </a:rPr>
              <a:t>Attend </a:t>
            </a:r>
            <a:r>
              <a:rPr sz="1500" kern="0" spc="-40" dirty="0">
                <a:solidFill>
                  <a:srgbClr val="333333">
                    <a:alpha val="100000"/>
                  </a:srgbClr>
                </a:solidFill>
                <a:latin typeface="Tahoma"/>
                <a:ea typeface="Tahoma"/>
                <a:cs typeface="Tahoma"/>
              </a:rPr>
              <a:t>an introd</a:t>
            </a:r>
            <a:r>
              <a:rPr sz="1500" kern="0" spc="-50" dirty="0">
                <a:solidFill>
                  <a:srgbClr val="333333">
                    <a:alpha val="100000"/>
                  </a:srgbClr>
                </a:solidFill>
                <a:latin typeface="Tahoma"/>
                <a:ea typeface="Tahoma"/>
                <a:cs typeface="Tahoma"/>
              </a:rPr>
              <a:t>uctory</a:t>
            </a:r>
            <a:r>
              <a:rPr sz="1500" kern="0" spc="-13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session</a:t>
            </a:r>
            <a:r>
              <a:rPr sz="1500" kern="0" spc="-14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to</a:t>
            </a:r>
            <a:r>
              <a:rPr sz="1500" kern="0" spc="-10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experience</a:t>
            </a:r>
            <a:r>
              <a:rPr sz="1500" kern="0" spc="-11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our</a:t>
            </a:r>
            <a:r>
              <a:rPr sz="1500" kern="0" spc="0" dirty="0">
                <a:solidFill>
                  <a:srgbClr val="333333">
                    <a:alpha val="100000"/>
                  </a:srgbClr>
                </a:solidFill>
                <a:latin typeface="Tahoma"/>
                <a:ea typeface="Tahoma"/>
                <a:cs typeface="Tahoma"/>
              </a:rPr>
              <a:t>         </a:t>
            </a:r>
            <a:r>
              <a:rPr sz="1500" kern="0" spc="-30" dirty="0">
                <a:solidFill>
                  <a:srgbClr val="333333">
                    <a:alpha val="100000"/>
                  </a:srgbClr>
                </a:solidFill>
                <a:latin typeface="Tahoma"/>
                <a:ea typeface="Tahoma"/>
                <a:cs typeface="Tahoma"/>
              </a:rPr>
              <a:t>approach</a:t>
            </a:r>
            <a:endParaRPr sz="1500" dirty="0">
              <a:latin typeface="Tahoma"/>
              <a:ea typeface="Tahoma"/>
              <a:cs typeface="Tahoma"/>
            </a:endParaRPr>
          </a:p>
          <a:p>
            <a:pPr marL="12700" algn="l" rtl="0" eaLnBrk="0">
              <a:lnSpc>
                <a:spcPts val="2098"/>
              </a:lnSpc>
              <a:spcBef>
                <a:spcPts val="1218"/>
              </a:spcBef>
              <a:tabLst>
                <a:tab pos="184150" algn="l"/>
              </a:tabLst>
            </a:pPr>
            <a:r>
              <a:rPr sz="1500" b="1" kern="0" spc="0" dirty="0">
                <a:solidFill>
                  <a:srgbClr val="576CBC">
                    <a:alpha val="100000"/>
                  </a:srgbClr>
                </a:solidFill>
                <a:latin typeface="Tahoma"/>
                <a:ea typeface="Tahoma"/>
                <a:cs typeface="Tahoma"/>
              </a:rPr>
              <a:t>	</a:t>
            </a:r>
            <a:r>
              <a:rPr sz="1500" b="1" kern="0" spc="80" dirty="0">
                <a:solidFill>
                  <a:srgbClr val="576CBC">
                    <a:alpha val="100000"/>
                  </a:srgbClr>
                </a:solidFill>
                <a:latin typeface="Tahoma"/>
                <a:ea typeface="Tahoma"/>
                <a:cs typeface="Tahoma"/>
              </a:rPr>
              <a:t>  </a:t>
            </a:r>
            <a:r>
              <a:rPr sz="1500" b="1" kern="0" spc="-40" dirty="0">
                <a:solidFill>
                  <a:srgbClr val="576CBC">
                    <a:alpha val="100000"/>
                  </a:srgbClr>
                </a:solidFill>
                <a:latin typeface="Tahoma"/>
                <a:ea typeface="Tahoma"/>
                <a:cs typeface="Tahoma"/>
              </a:rPr>
              <a:t>Connect</a:t>
            </a:r>
            <a:r>
              <a:rPr sz="1500" b="1" kern="0" spc="-100" dirty="0">
                <a:solidFill>
                  <a:srgbClr val="576CBC">
                    <a:alpha val="100000"/>
                  </a:srgbClr>
                </a:solidFill>
                <a:latin typeface="Tahoma"/>
                <a:ea typeface="Tahoma"/>
                <a:cs typeface="Tahoma"/>
              </a:rPr>
              <a:t> </a:t>
            </a:r>
            <a:r>
              <a:rPr lang="en-US" sz="1500" kern="0" spc="-40" dirty="0">
                <a:solidFill>
                  <a:srgbClr val="333333">
                    <a:alpha val="100000"/>
                  </a:srgbClr>
                </a:solidFill>
                <a:latin typeface="Tahoma"/>
                <a:ea typeface="Tahoma"/>
                <a:cs typeface="Tahoma"/>
              </a:rPr>
              <a:t>with us via Patreon or Discord for updates</a:t>
            </a:r>
            <a:endParaRPr sz="1500" dirty="0">
              <a:latin typeface="Tahoma"/>
              <a:ea typeface="Tahoma"/>
              <a:cs typeface="Tahoma"/>
            </a:endParaRPr>
          </a:p>
          <a:p>
            <a:pPr marL="12700" algn="l" rtl="0" eaLnBrk="0">
              <a:lnSpc>
                <a:spcPts val="2116"/>
              </a:lnSpc>
              <a:spcBef>
                <a:spcPts val="1277"/>
              </a:spcBef>
              <a:tabLst>
                <a:tab pos="184150" algn="l"/>
              </a:tabLst>
            </a:pPr>
            <a:r>
              <a:rPr sz="1500" b="1" kern="0" spc="0" dirty="0">
                <a:solidFill>
                  <a:srgbClr val="576CBC">
                    <a:alpha val="100000"/>
                  </a:srgbClr>
                </a:solidFill>
                <a:latin typeface="Tahoma"/>
                <a:ea typeface="Tahoma"/>
                <a:cs typeface="Tahoma"/>
              </a:rPr>
              <a:t>	</a:t>
            </a:r>
            <a:r>
              <a:rPr sz="1500" b="1" kern="0" spc="100" dirty="0">
                <a:solidFill>
                  <a:srgbClr val="576CBC">
                    <a:alpha val="100000"/>
                  </a:srgbClr>
                </a:solidFill>
                <a:latin typeface="Tahoma"/>
                <a:ea typeface="Tahoma"/>
                <a:cs typeface="Tahoma"/>
              </a:rPr>
              <a:t>  </a:t>
            </a:r>
            <a:r>
              <a:rPr sz="1500" b="1" kern="0" spc="-50" dirty="0">
                <a:solidFill>
                  <a:srgbClr val="576CBC">
                    <a:alpha val="100000"/>
                  </a:srgbClr>
                </a:solidFill>
                <a:latin typeface="Tahoma"/>
                <a:ea typeface="Tahoma"/>
                <a:cs typeface="Tahoma"/>
              </a:rPr>
              <a:t>Participate </a:t>
            </a:r>
            <a:r>
              <a:rPr sz="1500" kern="0" spc="-50" dirty="0">
                <a:solidFill>
                  <a:srgbClr val="333333">
                    <a:alpha val="100000"/>
                  </a:srgbClr>
                </a:solidFill>
                <a:latin typeface="Tahoma"/>
                <a:ea typeface="Tahoma"/>
                <a:cs typeface="Tahoma"/>
              </a:rPr>
              <a:t>in projects</a:t>
            </a:r>
            <a:r>
              <a:rPr sz="1500" kern="0" spc="-13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t</a:t>
            </a:r>
            <a:r>
              <a:rPr lang="en-US" sz="1500" kern="0" spc="-50" dirty="0">
                <a:solidFill>
                  <a:srgbClr val="333333">
                    <a:alpha val="100000"/>
                  </a:srgbClr>
                </a:solidFill>
                <a:latin typeface="Tahoma"/>
                <a:ea typeface="Tahoma"/>
                <a:cs typeface="Tahoma"/>
              </a:rPr>
              <a:t>hat</a:t>
            </a:r>
            <a:r>
              <a:rPr sz="1500" kern="0" spc="-13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showc</a:t>
            </a:r>
            <a:r>
              <a:rPr sz="1500" kern="0" spc="-60" dirty="0">
                <a:solidFill>
                  <a:srgbClr val="333333">
                    <a:alpha val="100000"/>
                  </a:srgbClr>
                </a:solidFill>
                <a:latin typeface="Tahoma"/>
                <a:ea typeface="Tahoma"/>
                <a:cs typeface="Tahoma"/>
              </a:rPr>
              <a:t>ase</a:t>
            </a:r>
            <a:r>
              <a:rPr sz="1500" kern="0" spc="-160" dirty="0">
                <a:solidFill>
                  <a:srgbClr val="333333">
                    <a:alpha val="100000"/>
                  </a:srgbClr>
                </a:solidFill>
                <a:latin typeface="Tahoma"/>
                <a:ea typeface="Tahoma"/>
                <a:cs typeface="Tahoma"/>
              </a:rPr>
              <a:t> </a:t>
            </a:r>
            <a:r>
              <a:rPr sz="1500" kern="0" spc="-60" dirty="0">
                <a:solidFill>
                  <a:srgbClr val="333333">
                    <a:alpha val="100000"/>
                  </a:srgbClr>
                </a:solidFill>
                <a:latin typeface="Tahoma"/>
                <a:ea typeface="Tahoma"/>
                <a:cs typeface="Tahoma"/>
              </a:rPr>
              <a:t>value</a:t>
            </a:r>
            <a:endParaRPr sz="1500" dirty="0">
              <a:latin typeface="Tahoma"/>
              <a:ea typeface="Tahoma"/>
              <a:cs typeface="Tahoma"/>
            </a:endParaRPr>
          </a:p>
          <a:p>
            <a:pPr algn="l" rtl="0" eaLnBrk="0">
              <a:lnSpc>
                <a:spcPct val="104000"/>
              </a:lnSpc>
              <a:tabLst/>
            </a:pPr>
            <a:endParaRPr sz="1000" dirty="0">
              <a:latin typeface="Arial"/>
              <a:ea typeface="Arial"/>
              <a:cs typeface="Arial"/>
            </a:endParaRPr>
          </a:p>
          <a:p>
            <a:pPr algn="l" rtl="0" eaLnBrk="0">
              <a:lnSpc>
                <a:spcPct val="8850"/>
              </a:lnSpc>
              <a:tabLst/>
            </a:pPr>
            <a:endParaRPr sz="100" dirty="0">
              <a:latin typeface="Arial"/>
              <a:ea typeface="Arial"/>
              <a:cs typeface="Arial"/>
            </a:endParaRPr>
          </a:p>
          <a:p>
            <a:pPr marL="12700" algn="l" rtl="0" eaLnBrk="0">
              <a:lnSpc>
                <a:spcPts val="2116"/>
              </a:lnSpc>
              <a:tabLst>
                <a:tab pos="184150" algn="l"/>
              </a:tabLst>
            </a:pPr>
            <a:r>
              <a:rPr sz="1500" b="1" kern="0" spc="0" dirty="0">
                <a:solidFill>
                  <a:srgbClr val="576CBC">
                    <a:alpha val="100000"/>
                  </a:srgbClr>
                </a:solidFill>
                <a:latin typeface="Tahoma"/>
                <a:ea typeface="Tahoma"/>
                <a:cs typeface="Tahoma"/>
              </a:rPr>
              <a:t>	</a:t>
            </a:r>
            <a:r>
              <a:rPr sz="1500" b="1" kern="0" spc="90" dirty="0">
                <a:solidFill>
                  <a:srgbClr val="576CBC">
                    <a:alpha val="100000"/>
                  </a:srgbClr>
                </a:solidFill>
                <a:latin typeface="Tahoma"/>
                <a:ea typeface="Tahoma"/>
                <a:cs typeface="Tahoma"/>
              </a:rPr>
              <a:t>  </a:t>
            </a:r>
            <a:r>
              <a:rPr sz="1500" b="1" kern="0" spc="-60" dirty="0">
                <a:solidFill>
                  <a:srgbClr val="576CBC">
                    <a:alpha val="100000"/>
                  </a:srgbClr>
                </a:solidFill>
                <a:latin typeface="Tahoma"/>
                <a:ea typeface="Tahoma"/>
                <a:cs typeface="Tahoma"/>
              </a:rPr>
              <a:t>Contribute</a:t>
            </a:r>
            <a:r>
              <a:rPr sz="1500" b="1" kern="0" spc="-90" dirty="0">
                <a:solidFill>
                  <a:srgbClr val="576CBC">
                    <a:alpha val="100000"/>
                  </a:srgbClr>
                </a:solidFill>
                <a:latin typeface="Tahoma"/>
                <a:ea typeface="Tahoma"/>
                <a:cs typeface="Tahoma"/>
              </a:rPr>
              <a:t> </a:t>
            </a:r>
            <a:r>
              <a:rPr sz="1500" kern="0" spc="-60" dirty="0">
                <a:solidFill>
                  <a:srgbClr val="333333">
                    <a:alpha val="100000"/>
                  </a:srgbClr>
                </a:solidFill>
                <a:latin typeface="Tahoma"/>
                <a:ea typeface="Tahoma"/>
                <a:cs typeface="Tahoma"/>
              </a:rPr>
              <a:t>to our</a:t>
            </a:r>
            <a:r>
              <a:rPr sz="1500" kern="0" spc="-110" dirty="0">
                <a:solidFill>
                  <a:srgbClr val="333333">
                    <a:alpha val="100000"/>
                  </a:srgbClr>
                </a:solidFill>
                <a:latin typeface="Tahoma"/>
                <a:ea typeface="Tahoma"/>
                <a:cs typeface="Tahoma"/>
              </a:rPr>
              <a:t> </a:t>
            </a:r>
            <a:r>
              <a:rPr lang="en-US" sz="1500" kern="0" spc="-60" dirty="0">
                <a:solidFill>
                  <a:srgbClr val="333333">
                    <a:alpha val="100000"/>
                  </a:srgbClr>
                </a:solidFill>
                <a:latin typeface="Tahoma"/>
                <a:ea typeface="Tahoma"/>
                <a:cs typeface="Tahoma"/>
              </a:rPr>
              <a:t>commitment with a donation</a:t>
            </a:r>
            <a:endParaRPr sz="1500" dirty="0">
              <a:latin typeface="Tahoma"/>
              <a:ea typeface="Tahoma"/>
              <a:cs typeface="Tahoma"/>
            </a:endParaRPr>
          </a:p>
        </p:txBody>
      </p:sp>
      <p:pic>
        <p:nvPicPr>
          <p:cNvPr id="372" name="picture 372"/>
          <p:cNvPicPr>
            <a:picLocks noChangeAspect="1"/>
          </p:cNvPicPr>
          <p:nvPr/>
        </p:nvPicPr>
        <p:blipFill>
          <a:blip r:embed="rId4"/>
          <a:stretch>
            <a:fillRect/>
          </a:stretch>
        </p:blipFill>
        <p:spPr>
          <a:xfrm rot="21600000">
            <a:off x="6553200" y="5209032"/>
            <a:ext cx="171450" cy="230885"/>
          </a:xfrm>
          <a:prstGeom prst="rect">
            <a:avLst/>
          </a:prstGeom>
        </p:spPr>
      </p:pic>
      <p:pic>
        <p:nvPicPr>
          <p:cNvPr id="374" name="picture 374"/>
          <p:cNvPicPr>
            <a:picLocks noChangeAspect="1"/>
          </p:cNvPicPr>
          <p:nvPr/>
        </p:nvPicPr>
        <p:blipFill>
          <a:blip r:embed="rId5"/>
          <a:stretch>
            <a:fillRect/>
          </a:stretch>
        </p:blipFill>
        <p:spPr>
          <a:xfrm rot="21600000">
            <a:off x="6553200" y="4780407"/>
            <a:ext cx="171450" cy="230885"/>
          </a:xfrm>
          <a:prstGeom prst="rect">
            <a:avLst/>
          </a:prstGeom>
        </p:spPr>
      </p:pic>
      <p:pic>
        <p:nvPicPr>
          <p:cNvPr id="376" name="picture 376"/>
          <p:cNvPicPr>
            <a:picLocks noChangeAspect="1"/>
          </p:cNvPicPr>
          <p:nvPr/>
        </p:nvPicPr>
        <p:blipFill>
          <a:blip r:embed="rId6"/>
          <a:stretch>
            <a:fillRect/>
          </a:stretch>
        </p:blipFill>
        <p:spPr>
          <a:xfrm rot="21600000">
            <a:off x="6553200" y="4351782"/>
            <a:ext cx="171450" cy="230885"/>
          </a:xfrm>
          <a:prstGeom prst="rect">
            <a:avLst/>
          </a:prstGeom>
        </p:spPr>
      </p:pic>
      <p:pic>
        <p:nvPicPr>
          <p:cNvPr id="378" name="picture 378"/>
          <p:cNvPicPr>
            <a:picLocks noChangeAspect="1"/>
          </p:cNvPicPr>
          <p:nvPr/>
        </p:nvPicPr>
        <p:blipFill>
          <a:blip r:embed="rId7"/>
          <a:stretch>
            <a:fillRect/>
          </a:stretch>
        </p:blipFill>
        <p:spPr>
          <a:xfrm rot="21600000">
            <a:off x="6553200" y="3637407"/>
            <a:ext cx="171450" cy="230885"/>
          </a:xfrm>
          <a:prstGeom prst="rect">
            <a:avLst/>
          </a:prstGeom>
        </p:spPr>
      </p:pic>
      <p:pic>
        <p:nvPicPr>
          <p:cNvPr id="380" name="picture 380"/>
          <p:cNvPicPr>
            <a:picLocks noChangeAspect="1"/>
          </p:cNvPicPr>
          <p:nvPr/>
        </p:nvPicPr>
        <p:blipFill>
          <a:blip r:embed="rId8"/>
          <a:stretch>
            <a:fillRect/>
          </a:stretch>
        </p:blipFill>
        <p:spPr>
          <a:xfrm rot="21600000">
            <a:off x="6657975" y="3008376"/>
            <a:ext cx="304800" cy="307847"/>
          </a:xfrm>
          <a:prstGeom prst="rect">
            <a:avLst/>
          </a:prstGeom>
        </p:spPr>
      </p:pic>
      <p:pic>
        <p:nvPicPr>
          <p:cNvPr id="382" name="picture 382"/>
          <p:cNvPicPr>
            <a:picLocks noChangeAspect="1"/>
          </p:cNvPicPr>
          <p:nvPr/>
        </p:nvPicPr>
        <p:blipFill>
          <a:blip r:embed="rId9"/>
          <a:stretch>
            <a:fillRect/>
          </a:stretch>
        </p:blipFill>
        <p:spPr>
          <a:xfrm rot="21600000">
            <a:off x="952500" y="2876550"/>
            <a:ext cx="571500" cy="571500"/>
          </a:xfrm>
          <a:prstGeom prst="rect">
            <a:avLst/>
          </a:prstGeom>
        </p:spPr>
      </p:pic>
      <p:sp>
        <p:nvSpPr>
          <p:cNvPr id="384" name="textbox 384"/>
          <p:cNvSpPr/>
          <p:nvPr/>
        </p:nvSpPr>
        <p:spPr>
          <a:xfrm>
            <a:off x="968375" y="2981083"/>
            <a:ext cx="4603750" cy="250952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9539" algn="l" rtl="0" eaLnBrk="0">
              <a:lnSpc>
                <a:spcPts val="2717"/>
              </a:lnSpc>
              <a:tabLst>
                <a:tab pos="384175" algn="l"/>
              </a:tabLst>
            </a:pPr>
            <a:r>
              <a:rPr sz="1900" b="1" kern="0" spc="0" dirty="0">
                <a:solidFill>
                  <a:srgbClr val="19376D">
                    <a:alpha val="100000"/>
                  </a:srgbClr>
                </a:solidFill>
                <a:latin typeface="Tahoma"/>
                <a:ea typeface="Tahoma"/>
                <a:cs typeface="Tahoma"/>
              </a:rPr>
              <a:t>	</a:t>
            </a:r>
            <a:r>
              <a:rPr sz="1900" b="1" kern="0" spc="40" dirty="0">
                <a:solidFill>
                  <a:srgbClr val="19376D">
                    <a:alpha val="100000"/>
                  </a:srgbClr>
                </a:solidFill>
                <a:latin typeface="Tahoma"/>
                <a:ea typeface="Tahoma"/>
                <a:cs typeface="Tahoma"/>
              </a:rPr>
              <a:t>     </a:t>
            </a:r>
            <a:r>
              <a:rPr sz="1900" b="1" kern="0" spc="-60" dirty="0">
                <a:solidFill>
                  <a:srgbClr val="19376D">
                    <a:alpha val="100000"/>
                  </a:srgbClr>
                </a:solidFill>
                <a:latin typeface="Tahoma"/>
                <a:ea typeface="Tahoma"/>
                <a:cs typeface="Tahoma"/>
              </a:rPr>
              <a:t>Purchase Services</a:t>
            </a:r>
            <a:endParaRPr sz="1900" dirty="0">
              <a:latin typeface="Tahoma"/>
              <a:ea typeface="Tahoma"/>
              <a:cs typeface="Tahoma"/>
            </a:endParaRPr>
          </a:p>
          <a:p>
            <a:pPr algn="l" rtl="0" eaLnBrk="0">
              <a:lnSpc>
                <a:spcPct val="158000"/>
              </a:lnSpc>
              <a:tabLst/>
            </a:pPr>
            <a:endParaRPr sz="1000" dirty="0">
              <a:latin typeface="Arial"/>
              <a:ea typeface="Arial"/>
              <a:cs typeface="Arial"/>
            </a:endParaRPr>
          </a:p>
          <a:p>
            <a:pPr marL="12700" algn="l" rtl="0" eaLnBrk="0">
              <a:lnSpc>
                <a:spcPts val="2116"/>
              </a:lnSpc>
              <a:spcBef>
                <a:spcPts val="455"/>
              </a:spcBef>
              <a:tabLst>
                <a:tab pos="184150" algn="l"/>
              </a:tabLst>
            </a:pPr>
            <a:r>
              <a:rPr sz="1500" b="1" kern="0" spc="0" dirty="0">
                <a:solidFill>
                  <a:srgbClr val="576CBC">
                    <a:alpha val="100000"/>
                  </a:srgbClr>
                </a:solidFill>
                <a:latin typeface="Tahoma"/>
                <a:ea typeface="Tahoma"/>
                <a:cs typeface="Tahoma"/>
              </a:rPr>
              <a:t>	</a:t>
            </a:r>
            <a:r>
              <a:rPr sz="1500" b="1" kern="0" spc="110" dirty="0">
                <a:solidFill>
                  <a:srgbClr val="576CBC">
                    <a:alpha val="100000"/>
                  </a:srgbClr>
                </a:solidFill>
                <a:latin typeface="Tahoma"/>
                <a:ea typeface="Tahoma"/>
                <a:cs typeface="Tahoma"/>
              </a:rPr>
              <a:t>  </a:t>
            </a:r>
            <a:r>
              <a:rPr sz="1500" b="1" kern="0" spc="-50" dirty="0">
                <a:solidFill>
                  <a:srgbClr val="576CBC">
                    <a:alpha val="100000"/>
                  </a:srgbClr>
                </a:solidFill>
                <a:latin typeface="Tahoma"/>
                <a:ea typeface="Tahoma"/>
                <a:cs typeface="Tahoma"/>
              </a:rPr>
              <a:t>Explore </a:t>
            </a:r>
            <a:r>
              <a:rPr sz="1500" kern="0" spc="-50" dirty="0">
                <a:solidFill>
                  <a:srgbClr val="333333">
                    <a:alpha val="100000"/>
                  </a:srgbClr>
                </a:solidFill>
                <a:latin typeface="Tahoma"/>
                <a:ea typeface="Tahoma"/>
                <a:cs typeface="Tahoma"/>
              </a:rPr>
              <a:t>our</a:t>
            </a:r>
            <a:r>
              <a:rPr sz="1500" kern="0" spc="-14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service catalog</a:t>
            </a:r>
            <a:endParaRPr lang="en-US" sz="1500" dirty="0">
              <a:latin typeface="Tahoma"/>
              <a:ea typeface="Tahoma"/>
              <a:cs typeface="Tahoma"/>
            </a:endParaRPr>
          </a:p>
          <a:p>
            <a:pPr marL="12700" algn="l" rtl="0" eaLnBrk="0">
              <a:lnSpc>
                <a:spcPts val="2116"/>
              </a:lnSpc>
              <a:spcBef>
                <a:spcPts val="1259"/>
              </a:spcBef>
              <a:tabLst>
                <a:tab pos="184150" algn="l"/>
              </a:tabLst>
            </a:pPr>
            <a:r>
              <a:rPr lang="en-US" sz="1500" b="1" kern="0" spc="0" dirty="0">
                <a:solidFill>
                  <a:srgbClr val="576CBC">
                    <a:alpha val="100000"/>
                  </a:srgbClr>
                </a:solidFill>
                <a:latin typeface="Tahoma"/>
                <a:ea typeface="Tahoma"/>
                <a:cs typeface="Tahoma"/>
              </a:rPr>
              <a:t>	</a:t>
            </a:r>
            <a:r>
              <a:rPr lang="en-US" sz="1500" b="1" kern="0" spc="70" dirty="0">
                <a:solidFill>
                  <a:srgbClr val="576CBC">
                    <a:alpha val="100000"/>
                  </a:srgbClr>
                </a:solidFill>
                <a:latin typeface="Tahoma"/>
                <a:ea typeface="Tahoma"/>
                <a:cs typeface="Tahoma"/>
              </a:rPr>
              <a:t>  </a:t>
            </a:r>
            <a:r>
              <a:rPr lang="en-US" sz="1500" b="1" kern="0" spc="-40" dirty="0">
                <a:solidFill>
                  <a:srgbClr val="576CBC">
                    <a:alpha val="100000"/>
                  </a:srgbClr>
                </a:solidFill>
                <a:latin typeface="Tahoma"/>
                <a:ea typeface="Tahoma"/>
                <a:cs typeface="Tahoma"/>
              </a:rPr>
              <a:t>Select</a:t>
            </a:r>
            <a:r>
              <a:rPr lang="en-US" sz="1500" b="1" kern="0" spc="-100" dirty="0">
                <a:solidFill>
                  <a:srgbClr val="576CBC">
                    <a:alpha val="100000"/>
                  </a:srgbClr>
                </a:solidFill>
                <a:latin typeface="Tahoma"/>
                <a:ea typeface="Tahoma"/>
                <a:cs typeface="Tahoma"/>
              </a:rPr>
              <a:t> </a:t>
            </a:r>
            <a:r>
              <a:rPr lang="en-US" sz="1500" kern="0" spc="-40" dirty="0">
                <a:solidFill>
                  <a:srgbClr val="333333">
                    <a:alpha val="100000"/>
                  </a:srgbClr>
                </a:solidFill>
                <a:latin typeface="Tahoma"/>
                <a:ea typeface="Tahoma"/>
                <a:cs typeface="Tahoma"/>
              </a:rPr>
              <a:t>the options</a:t>
            </a:r>
            <a:r>
              <a:rPr lang="en-US" sz="1500" kern="0" spc="-140" dirty="0">
                <a:solidFill>
                  <a:srgbClr val="333333">
                    <a:alpha val="100000"/>
                  </a:srgbClr>
                </a:solidFill>
                <a:latin typeface="Tahoma"/>
                <a:ea typeface="Tahoma"/>
                <a:cs typeface="Tahoma"/>
              </a:rPr>
              <a:t> </a:t>
            </a:r>
            <a:r>
              <a:rPr lang="en-US" sz="1500" kern="0" spc="-40" dirty="0">
                <a:solidFill>
                  <a:srgbClr val="333333">
                    <a:alpha val="100000"/>
                  </a:srgbClr>
                </a:solidFill>
                <a:latin typeface="Tahoma"/>
                <a:ea typeface="Tahoma"/>
                <a:cs typeface="Tahoma"/>
              </a:rPr>
              <a:t>that align</a:t>
            </a:r>
            <a:r>
              <a:rPr lang="en-US" sz="1500" kern="0" spc="-140" dirty="0">
                <a:solidFill>
                  <a:srgbClr val="333333">
                    <a:alpha val="100000"/>
                  </a:srgbClr>
                </a:solidFill>
                <a:latin typeface="Tahoma"/>
                <a:ea typeface="Tahoma"/>
                <a:cs typeface="Tahoma"/>
              </a:rPr>
              <a:t> </a:t>
            </a:r>
            <a:r>
              <a:rPr lang="en-US" sz="1500" kern="0" spc="-40" dirty="0">
                <a:solidFill>
                  <a:srgbClr val="333333">
                    <a:alpha val="100000"/>
                  </a:srgbClr>
                </a:solidFill>
                <a:latin typeface="Tahoma"/>
                <a:ea typeface="Tahoma"/>
                <a:cs typeface="Tahoma"/>
              </a:rPr>
              <a:t>with</a:t>
            </a:r>
            <a:r>
              <a:rPr lang="en-US" sz="1500" kern="0" spc="-160" dirty="0">
                <a:solidFill>
                  <a:srgbClr val="333333">
                    <a:alpha val="100000"/>
                  </a:srgbClr>
                </a:solidFill>
                <a:latin typeface="Tahoma"/>
                <a:ea typeface="Tahoma"/>
                <a:cs typeface="Tahoma"/>
              </a:rPr>
              <a:t> </a:t>
            </a:r>
            <a:r>
              <a:rPr lang="en-US" sz="1500" kern="0" spc="-40" dirty="0">
                <a:solidFill>
                  <a:srgbClr val="333333">
                    <a:alpha val="100000"/>
                  </a:srgbClr>
                </a:solidFill>
                <a:latin typeface="Tahoma"/>
                <a:ea typeface="Tahoma"/>
                <a:cs typeface="Tahoma"/>
              </a:rPr>
              <a:t>you</a:t>
            </a:r>
            <a:r>
              <a:rPr lang="en-US" sz="1500" kern="0" spc="-50" dirty="0">
                <a:solidFill>
                  <a:srgbClr val="333333">
                    <a:alpha val="100000"/>
                  </a:srgbClr>
                </a:solidFill>
                <a:latin typeface="Tahoma"/>
                <a:ea typeface="Tahoma"/>
                <a:cs typeface="Tahoma"/>
              </a:rPr>
              <a:t>r</a:t>
            </a:r>
            <a:r>
              <a:rPr lang="en-US" sz="1500" kern="0" spc="-110" dirty="0">
                <a:solidFill>
                  <a:srgbClr val="333333">
                    <a:alpha val="100000"/>
                  </a:srgbClr>
                </a:solidFill>
                <a:latin typeface="Tahoma"/>
                <a:ea typeface="Tahoma"/>
                <a:cs typeface="Tahoma"/>
              </a:rPr>
              <a:t> </a:t>
            </a:r>
            <a:r>
              <a:rPr lang="en-US" sz="1500" kern="0" spc="-50" dirty="0">
                <a:solidFill>
                  <a:srgbClr val="333333">
                    <a:alpha val="100000"/>
                  </a:srgbClr>
                </a:solidFill>
                <a:latin typeface="Tahoma"/>
                <a:ea typeface="Tahoma"/>
                <a:cs typeface="Tahoma"/>
              </a:rPr>
              <a:t>goals</a:t>
            </a:r>
            <a:endParaRPr lang="en-US" sz="1500" dirty="0">
              <a:latin typeface="Tahoma"/>
              <a:ea typeface="Tahoma"/>
              <a:cs typeface="Tahoma"/>
            </a:endParaRPr>
          </a:p>
          <a:p>
            <a:pPr marL="317500" indent="-304800" algn="l" rtl="0" eaLnBrk="0">
              <a:lnSpc>
                <a:spcPct val="118000"/>
              </a:lnSpc>
              <a:spcBef>
                <a:spcPts val="1274"/>
              </a:spcBef>
              <a:tabLst>
                <a:tab pos="184150" algn="l"/>
              </a:tabLst>
            </a:pPr>
            <a:r>
              <a:rPr sz="1500" b="1" kern="0" spc="0" dirty="0">
                <a:solidFill>
                  <a:srgbClr val="576CBC">
                    <a:alpha val="100000"/>
                  </a:srgbClr>
                </a:solidFill>
                <a:latin typeface="Tahoma"/>
                <a:ea typeface="Tahoma"/>
                <a:cs typeface="Tahoma"/>
              </a:rPr>
              <a:t>	</a:t>
            </a:r>
            <a:r>
              <a:rPr sz="1500" b="1" kern="0" spc="80" dirty="0">
                <a:solidFill>
                  <a:srgbClr val="576CBC">
                    <a:alpha val="100000"/>
                  </a:srgbClr>
                </a:solidFill>
                <a:latin typeface="Tahoma"/>
                <a:ea typeface="Tahoma"/>
                <a:cs typeface="Tahoma"/>
              </a:rPr>
              <a:t>  </a:t>
            </a:r>
            <a:r>
              <a:rPr sz="1500" b="1" kern="0" spc="-50" dirty="0">
                <a:solidFill>
                  <a:srgbClr val="576CBC">
                    <a:alpha val="100000"/>
                  </a:srgbClr>
                </a:solidFill>
                <a:latin typeface="Tahoma"/>
                <a:ea typeface="Tahoma"/>
                <a:cs typeface="Tahoma"/>
              </a:rPr>
              <a:t>Complete</a:t>
            </a:r>
            <a:r>
              <a:rPr sz="1500" b="1" kern="0" spc="-100" dirty="0">
                <a:solidFill>
                  <a:srgbClr val="576CBC">
                    <a:alpha val="100000"/>
                  </a:srgbClr>
                </a:solidFill>
                <a:latin typeface="Tahoma"/>
                <a:ea typeface="Tahoma"/>
                <a:cs typeface="Tahoma"/>
              </a:rPr>
              <a:t> </a:t>
            </a:r>
            <a:r>
              <a:rPr lang="en-US" sz="1500" kern="0" spc="-50" dirty="0">
                <a:solidFill>
                  <a:srgbClr val="333333">
                    <a:alpha val="100000"/>
                  </a:srgbClr>
                </a:solidFill>
                <a:latin typeface="Tahoma"/>
                <a:ea typeface="Tahoma"/>
                <a:cs typeface="Tahoma"/>
              </a:rPr>
              <a:t>any necessary forms</a:t>
            </a:r>
            <a:endParaRPr sz="1100" dirty="0">
              <a:latin typeface="Arial"/>
              <a:ea typeface="Arial"/>
              <a:cs typeface="Arial"/>
            </a:endParaRPr>
          </a:p>
          <a:p>
            <a:pPr marL="12700" algn="l" rtl="0" eaLnBrk="0">
              <a:lnSpc>
                <a:spcPts val="2116"/>
              </a:lnSpc>
              <a:spcBef>
                <a:spcPts val="3"/>
              </a:spcBef>
              <a:tabLst>
                <a:tab pos="184150" algn="l"/>
              </a:tabLst>
            </a:pPr>
            <a:r>
              <a:rPr sz="1500" b="1" kern="0" spc="0" dirty="0">
                <a:solidFill>
                  <a:srgbClr val="576CBC">
                    <a:alpha val="100000"/>
                  </a:srgbClr>
                </a:solidFill>
                <a:latin typeface="Tahoma"/>
                <a:ea typeface="Tahoma"/>
                <a:cs typeface="Tahoma"/>
              </a:rPr>
              <a:t>	</a:t>
            </a:r>
            <a:r>
              <a:rPr sz="1500" b="1" kern="0" spc="70" dirty="0">
                <a:solidFill>
                  <a:srgbClr val="576CBC">
                    <a:alpha val="100000"/>
                  </a:srgbClr>
                </a:solidFill>
                <a:latin typeface="Tahoma"/>
                <a:ea typeface="Tahoma"/>
                <a:cs typeface="Tahoma"/>
              </a:rPr>
              <a:t>  </a:t>
            </a:r>
            <a:endParaRPr lang="en-US" sz="1500" b="1" kern="0" spc="70" dirty="0">
              <a:solidFill>
                <a:srgbClr val="576CBC">
                  <a:alpha val="100000"/>
                </a:srgbClr>
              </a:solidFill>
              <a:latin typeface="Tahoma"/>
              <a:ea typeface="Tahoma"/>
              <a:cs typeface="Tahoma"/>
            </a:endParaRPr>
          </a:p>
          <a:p>
            <a:pPr marL="12700" algn="l" rtl="0" eaLnBrk="0">
              <a:lnSpc>
                <a:spcPts val="2116"/>
              </a:lnSpc>
              <a:spcBef>
                <a:spcPts val="3"/>
              </a:spcBef>
              <a:tabLst>
                <a:tab pos="184150" algn="l"/>
              </a:tabLst>
            </a:pPr>
            <a:r>
              <a:rPr lang="en-US" sz="1500" b="1" kern="0" spc="70" dirty="0">
                <a:solidFill>
                  <a:srgbClr val="576CBC">
                    <a:alpha val="100000"/>
                  </a:srgbClr>
                </a:solidFill>
                <a:latin typeface="Tahoma"/>
                <a:ea typeface="Tahoma"/>
                <a:cs typeface="Tahoma"/>
              </a:rPr>
              <a:t>	  </a:t>
            </a:r>
            <a:r>
              <a:rPr sz="1500" b="1" kern="0" spc="-40" dirty="0">
                <a:solidFill>
                  <a:srgbClr val="576CBC">
                    <a:alpha val="100000"/>
                  </a:srgbClr>
                </a:solidFill>
                <a:latin typeface="Tahoma"/>
                <a:ea typeface="Tahoma"/>
                <a:cs typeface="Tahoma"/>
              </a:rPr>
              <a:t>Schedule</a:t>
            </a:r>
            <a:r>
              <a:rPr sz="1500" b="1" kern="0" spc="-120" dirty="0">
                <a:solidFill>
                  <a:srgbClr val="576CBC">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your personalized</a:t>
            </a:r>
            <a:r>
              <a:rPr sz="1500" kern="0" spc="-100" dirty="0">
                <a:solidFill>
                  <a:srgbClr val="333333">
                    <a:alpha val="100000"/>
                  </a:srgbClr>
                </a:solidFill>
                <a:latin typeface="Tahoma"/>
                <a:ea typeface="Tahoma"/>
                <a:cs typeface="Tahoma"/>
              </a:rPr>
              <a:t> </a:t>
            </a:r>
            <a:r>
              <a:rPr sz="1500" kern="0" spc="-40" dirty="0">
                <a:solidFill>
                  <a:srgbClr val="333333">
                    <a:alpha val="100000"/>
                  </a:srgbClr>
                </a:solidFill>
                <a:latin typeface="Tahoma"/>
                <a:ea typeface="Tahoma"/>
                <a:cs typeface="Tahoma"/>
              </a:rPr>
              <a:t>g</a:t>
            </a:r>
            <a:r>
              <a:rPr sz="1500" kern="0" spc="-50" dirty="0">
                <a:solidFill>
                  <a:srgbClr val="333333">
                    <a:alpha val="100000"/>
                  </a:srgbClr>
                </a:solidFill>
                <a:latin typeface="Tahoma"/>
                <a:ea typeface="Tahoma"/>
                <a:cs typeface="Tahoma"/>
              </a:rPr>
              <a:t>rowth</a:t>
            </a:r>
            <a:r>
              <a:rPr sz="1500" kern="0" spc="-110" dirty="0">
                <a:solidFill>
                  <a:srgbClr val="333333">
                    <a:alpha val="100000"/>
                  </a:srgbClr>
                </a:solidFill>
                <a:latin typeface="Tahoma"/>
                <a:ea typeface="Tahoma"/>
                <a:cs typeface="Tahoma"/>
              </a:rPr>
              <a:t> </a:t>
            </a:r>
            <a:r>
              <a:rPr sz="1500" kern="0" spc="-50" dirty="0">
                <a:solidFill>
                  <a:srgbClr val="333333">
                    <a:alpha val="100000"/>
                  </a:srgbClr>
                </a:solidFill>
                <a:latin typeface="Tahoma"/>
                <a:ea typeface="Tahoma"/>
                <a:cs typeface="Tahoma"/>
              </a:rPr>
              <a:t>consultation</a:t>
            </a:r>
            <a:r>
              <a:rPr lang="en-US" sz="1500" kern="0" spc="-50" dirty="0">
                <a:solidFill>
                  <a:srgbClr val="333333">
                    <a:alpha val="100000"/>
                  </a:srgbClr>
                </a:solidFill>
                <a:latin typeface="Tahoma"/>
                <a:ea typeface="Tahoma"/>
                <a:cs typeface="Tahoma"/>
              </a:rPr>
              <a:t> (If 		  needed)</a:t>
            </a:r>
            <a:endParaRPr sz="1500" dirty="0">
              <a:latin typeface="Tahoma"/>
              <a:ea typeface="Tahoma"/>
              <a:cs typeface="Tahoma"/>
            </a:endParaRPr>
          </a:p>
        </p:txBody>
      </p:sp>
      <p:pic>
        <p:nvPicPr>
          <p:cNvPr id="386" name="picture 386"/>
          <p:cNvPicPr>
            <a:picLocks noChangeAspect="1"/>
          </p:cNvPicPr>
          <p:nvPr/>
        </p:nvPicPr>
        <p:blipFill>
          <a:blip r:embed="rId10"/>
          <a:stretch>
            <a:fillRect/>
          </a:stretch>
        </p:blipFill>
        <p:spPr>
          <a:xfrm rot="21600000">
            <a:off x="968374" y="5037583"/>
            <a:ext cx="171450" cy="230885"/>
          </a:xfrm>
          <a:prstGeom prst="rect">
            <a:avLst/>
          </a:prstGeom>
        </p:spPr>
      </p:pic>
      <p:pic>
        <p:nvPicPr>
          <p:cNvPr id="388" name="picture 388"/>
          <p:cNvPicPr>
            <a:picLocks noChangeAspect="1"/>
          </p:cNvPicPr>
          <p:nvPr/>
        </p:nvPicPr>
        <p:blipFill>
          <a:blip r:embed="rId11"/>
          <a:stretch>
            <a:fillRect/>
          </a:stretch>
        </p:blipFill>
        <p:spPr>
          <a:xfrm rot="21600000">
            <a:off x="981075" y="4494657"/>
            <a:ext cx="171450" cy="230885"/>
          </a:xfrm>
          <a:prstGeom prst="rect">
            <a:avLst/>
          </a:prstGeom>
        </p:spPr>
      </p:pic>
      <p:pic>
        <p:nvPicPr>
          <p:cNvPr id="390" name="picture 390"/>
          <p:cNvPicPr>
            <a:picLocks noChangeAspect="1"/>
          </p:cNvPicPr>
          <p:nvPr/>
        </p:nvPicPr>
        <p:blipFill>
          <a:blip r:embed="rId12"/>
          <a:stretch>
            <a:fillRect/>
          </a:stretch>
        </p:blipFill>
        <p:spPr>
          <a:xfrm rot="21600000">
            <a:off x="981075" y="4066032"/>
            <a:ext cx="171450" cy="230885"/>
          </a:xfrm>
          <a:prstGeom prst="rect">
            <a:avLst/>
          </a:prstGeom>
        </p:spPr>
      </p:pic>
      <p:pic>
        <p:nvPicPr>
          <p:cNvPr id="392" name="picture 392"/>
          <p:cNvPicPr>
            <a:picLocks noChangeAspect="1"/>
          </p:cNvPicPr>
          <p:nvPr/>
        </p:nvPicPr>
        <p:blipFill>
          <a:blip r:embed="rId13"/>
          <a:stretch>
            <a:fillRect/>
          </a:stretch>
        </p:blipFill>
        <p:spPr>
          <a:xfrm rot="21600000">
            <a:off x="981075" y="3637407"/>
            <a:ext cx="171450" cy="230885"/>
          </a:xfrm>
          <a:prstGeom prst="rect">
            <a:avLst/>
          </a:prstGeom>
        </p:spPr>
      </p:pic>
      <p:pic>
        <p:nvPicPr>
          <p:cNvPr id="394" name="picture 394"/>
          <p:cNvPicPr>
            <a:picLocks noChangeAspect="1"/>
          </p:cNvPicPr>
          <p:nvPr/>
        </p:nvPicPr>
        <p:blipFill>
          <a:blip r:embed="rId14"/>
          <a:stretch>
            <a:fillRect/>
          </a:stretch>
        </p:blipFill>
        <p:spPr>
          <a:xfrm rot="21600000">
            <a:off x="1098346" y="3008376"/>
            <a:ext cx="254203" cy="307847"/>
          </a:xfrm>
          <a:prstGeom prst="rect">
            <a:avLst/>
          </a:prstGeom>
        </p:spPr>
      </p:pic>
      <p:sp>
        <p:nvSpPr>
          <p:cNvPr id="396" name="textbox 396"/>
          <p:cNvSpPr/>
          <p:nvPr/>
        </p:nvSpPr>
        <p:spPr>
          <a:xfrm>
            <a:off x="2407578" y="1532864"/>
            <a:ext cx="7397750" cy="669290"/>
          </a:xfrm>
          <a:prstGeom prst="rect">
            <a:avLst/>
          </a:prstGeom>
          <a:noFill/>
          <a:ln w="0" cap="flat">
            <a:noFill/>
            <a:prstDash val="solid"/>
            <a:miter lim="0"/>
          </a:ln>
        </p:spPr>
        <p:txBody>
          <a:bodyPr vert="horz" wrap="square" lIns="0" tIns="0" rIns="0" bIns="0"/>
          <a:lstStyle/>
          <a:p>
            <a:pPr algn="l" rtl="0" eaLnBrk="0">
              <a:lnSpc>
                <a:spcPct val="58892"/>
              </a:lnSpc>
              <a:tabLst/>
            </a:pPr>
            <a:endParaRPr sz="100" dirty="0">
              <a:latin typeface="Arial"/>
              <a:ea typeface="Arial"/>
              <a:cs typeface="Arial"/>
            </a:endParaRPr>
          </a:p>
          <a:p>
            <a:pPr marL="2106929" indent="-2094864" algn="l" rtl="0" eaLnBrk="0">
              <a:lnSpc>
                <a:spcPct val="118000"/>
              </a:lnSpc>
              <a:tabLst/>
            </a:pPr>
            <a:r>
              <a:rPr sz="1800" kern="0" spc="-70" dirty="0">
                <a:solidFill>
                  <a:srgbClr val="555555">
                    <a:alpha val="100000"/>
                  </a:srgbClr>
                </a:solidFill>
                <a:latin typeface="Tahoma"/>
                <a:ea typeface="Tahoma"/>
                <a:cs typeface="Tahoma"/>
              </a:rPr>
              <a:t>Begin</a:t>
            </a:r>
            <a:r>
              <a:rPr sz="1800" kern="0" spc="-190" dirty="0">
                <a:solidFill>
                  <a:srgbClr val="555555">
                    <a:alpha val="100000"/>
                  </a:srgbClr>
                </a:solidFill>
                <a:latin typeface="Tahoma"/>
                <a:ea typeface="Tahoma"/>
                <a:cs typeface="Tahoma"/>
              </a:rPr>
              <a:t> </a:t>
            </a:r>
            <a:r>
              <a:rPr sz="1800" kern="0" spc="-70" dirty="0">
                <a:solidFill>
                  <a:srgbClr val="555555">
                    <a:alpha val="100000"/>
                  </a:srgbClr>
                </a:solidFill>
                <a:latin typeface="Tahoma"/>
                <a:ea typeface="Tahoma"/>
                <a:cs typeface="Tahoma"/>
              </a:rPr>
              <a:t>your</a:t>
            </a:r>
            <a:r>
              <a:rPr sz="1800" kern="0" spc="-280" dirty="0">
                <a:solidFill>
                  <a:srgbClr val="555555">
                    <a:alpha val="100000"/>
                  </a:srgbClr>
                </a:solidFill>
                <a:latin typeface="Tahoma"/>
                <a:ea typeface="Tahoma"/>
                <a:cs typeface="Tahoma"/>
              </a:rPr>
              <a:t> </a:t>
            </a:r>
            <a:r>
              <a:rPr sz="1800" kern="0" spc="-70" dirty="0">
                <a:solidFill>
                  <a:srgbClr val="555555">
                    <a:alpha val="100000"/>
                  </a:srgbClr>
                </a:solidFill>
                <a:latin typeface="Tahoma"/>
                <a:ea typeface="Tahoma"/>
                <a:cs typeface="Tahoma"/>
              </a:rPr>
              <a:t>journey</a:t>
            </a:r>
            <a:r>
              <a:rPr sz="1800" kern="0" spc="-160" dirty="0">
                <a:solidFill>
                  <a:srgbClr val="555555">
                    <a:alpha val="100000"/>
                  </a:srgbClr>
                </a:solidFill>
                <a:latin typeface="Tahoma"/>
                <a:ea typeface="Tahoma"/>
                <a:cs typeface="Tahoma"/>
              </a:rPr>
              <a:t> </a:t>
            </a:r>
            <a:r>
              <a:rPr sz="1800" kern="0" spc="-70" dirty="0">
                <a:solidFill>
                  <a:srgbClr val="555555">
                    <a:alpha val="100000"/>
                  </a:srgbClr>
                </a:solidFill>
                <a:latin typeface="Tahoma"/>
                <a:ea typeface="Tahoma"/>
                <a:cs typeface="Tahoma"/>
              </a:rPr>
              <a:t>with our organization</a:t>
            </a:r>
            <a:r>
              <a:rPr sz="1800" kern="0" spc="-170" dirty="0">
                <a:solidFill>
                  <a:srgbClr val="555555">
                    <a:alpha val="100000"/>
                  </a:srgbClr>
                </a:solidFill>
                <a:latin typeface="Tahoma"/>
                <a:ea typeface="Tahoma"/>
                <a:cs typeface="Tahoma"/>
              </a:rPr>
              <a:t> </a:t>
            </a:r>
            <a:r>
              <a:rPr sz="1800" kern="0" spc="-70" dirty="0">
                <a:solidFill>
                  <a:srgbClr val="555555">
                    <a:alpha val="100000"/>
                  </a:srgbClr>
                </a:solidFill>
                <a:latin typeface="Tahoma"/>
                <a:ea typeface="Tahoma"/>
                <a:cs typeface="Tahoma"/>
              </a:rPr>
              <a:t>through</a:t>
            </a:r>
            <a:r>
              <a:rPr sz="1800" kern="0" spc="-160" dirty="0">
                <a:solidFill>
                  <a:srgbClr val="555555">
                    <a:alpha val="100000"/>
                  </a:srgbClr>
                </a:solidFill>
                <a:latin typeface="Tahoma"/>
                <a:ea typeface="Tahoma"/>
                <a:cs typeface="Tahoma"/>
              </a:rPr>
              <a:t> </a:t>
            </a:r>
            <a:r>
              <a:rPr sz="1800" kern="0" spc="-70" dirty="0">
                <a:solidFill>
                  <a:srgbClr val="555555">
                    <a:alpha val="100000"/>
                  </a:srgbClr>
                </a:solidFill>
                <a:latin typeface="Tahoma"/>
                <a:ea typeface="Tahoma"/>
                <a:cs typeface="Tahoma"/>
              </a:rPr>
              <a:t>these</a:t>
            </a:r>
            <a:r>
              <a:rPr sz="1800" kern="0" spc="-160" dirty="0">
                <a:solidFill>
                  <a:srgbClr val="555555">
                    <a:alpha val="100000"/>
                  </a:srgbClr>
                </a:solidFill>
                <a:latin typeface="Tahoma"/>
                <a:ea typeface="Tahoma"/>
                <a:cs typeface="Tahoma"/>
              </a:rPr>
              <a:t> </a:t>
            </a:r>
            <a:r>
              <a:rPr sz="1800" b="1" kern="0" spc="-70" dirty="0">
                <a:solidFill>
                  <a:srgbClr val="576CBC">
                    <a:alpha val="100000"/>
                  </a:srgbClr>
                </a:solidFill>
                <a:latin typeface="Tahoma"/>
                <a:ea typeface="Tahoma"/>
                <a:cs typeface="Tahoma"/>
              </a:rPr>
              <a:t>strategic pat</a:t>
            </a:r>
            <a:r>
              <a:rPr sz="1800" b="1" kern="0" spc="-80" dirty="0">
                <a:solidFill>
                  <a:srgbClr val="576CBC">
                    <a:alpha val="100000"/>
                  </a:srgbClr>
                </a:solidFill>
                <a:latin typeface="Tahoma"/>
                <a:ea typeface="Tahoma"/>
                <a:cs typeface="Tahoma"/>
              </a:rPr>
              <a:t>hways </a:t>
            </a:r>
            <a:r>
              <a:rPr sz="1800" kern="0" spc="-80" dirty="0">
                <a:solidFill>
                  <a:srgbClr val="555555">
                    <a:alpha val="100000"/>
                  </a:srgbClr>
                </a:solidFill>
                <a:latin typeface="Tahoma"/>
                <a:ea typeface="Tahoma"/>
                <a:cs typeface="Tahoma"/>
              </a:rPr>
              <a:t>to</a:t>
            </a:r>
            <a:r>
              <a:rPr sz="1800" kern="0" spc="0" dirty="0">
                <a:solidFill>
                  <a:srgbClr val="555555">
                    <a:alpha val="100000"/>
                  </a:srgbClr>
                </a:solidFill>
                <a:latin typeface="Tahoma"/>
                <a:ea typeface="Tahoma"/>
                <a:cs typeface="Tahoma"/>
              </a:rPr>
              <a:t> </a:t>
            </a:r>
            <a:r>
              <a:rPr lang="en-US" sz="1800" kern="0" spc="-40" dirty="0">
                <a:solidFill>
                  <a:srgbClr val="555555">
                    <a:alpha val="100000"/>
                  </a:srgbClr>
                </a:solidFill>
                <a:latin typeface="Tahoma"/>
                <a:ea typeface="Tahoma"/>
                <a:cs typeface="Tahoma"/>
              </a:rPr>
              <a:t>exponential </a:t>
            </a:r>
            <a:r>
              <a:rPr sz="1800" kern="0" spc="-50" dirty="0">
                <a:solidFill>
                  <a:srgbClr val="555555">
                    <a:alpha val="100000"/>
                  </a:srgbClr>
                </a:solidFill>
                <a:latin typeface="Tahoma"/>
                <a:ea typeface="Tahoma"/>
                <a:cs typeface="Tahoma"/>
              </a:rPr>
              <a:t>growth</a:t>
            </a:r>
            <a:endParaRPr sz="1800" dirty="0">
              <a:latin typeface="Tahoma"/>
              <a:ea typeface="Tahoma"/>
              <a:cs typeface="Tahom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TotalTime>
  <Words>14135</Words>
  <Application>Microsoft Office PowerPoint</Application>
  <PresentationFormat>Widescreen</PresentationFormat>
  <Paragraphs>1114</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-apple-system</vt:lpstr>
      <vt:lpstr>Arial</vt:lpstr>
      <vt:lpstr>Arial Unicode MS</vt:lpstr>
      <vt:lpstr>Avenir Next LT Pro</vt:lpstr>
      <vt:lpstr>PingFang SC</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Jay Williams</dc:creator>
  <cp:lastModifiedBy>Jay Williams</cp:lastModifiedBy>
  <cp:revision>3</cp:revision>
  <dcterms:created xsi:type="dcterms:W3CDTF">2025-11-17T17:19:04Z</dcterms:created>
  <dcterms:modified xsi:type="dcterms:W3CDTF">2025-11-22T18:17:45Z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2025-11-17T17:19:16Z</vt:filetime>
  </property>
  <property fmtid="{D5CDD505-2E9C-101B-9397-08002B2CF9AE}" pid="4" name="UsrData">
    <vt:lpwstr>79fb8c8584894430965861b7a6a2dd3c</vt:lpwstr>
  </property>
  <property fmtid="{D5CDD505-2E9C-101B-9397-08002B2CF9AE}" pid="5" name="AIGC">
    <vt:lpwstr>{"Label":"1","ContentProducer":"001191110108MA01KP2T5U00000","ProduceID":"00eb8afd5c7a485b9193c933e7979f38","ReservedCode1":"3046022100d3d4ef8e0ab70edf098910c1e4e83753a8ace5ff5cf6366604dd3dfe3149eff6022100ca0f1527159390ab87bd21195a11baf0cf6c7a432ea5a9602388879b6868ec7f","ContentPropagator":"001191110108MA01KP2T5U00000","PropagateID":"00eb8afd5c7a485b9193c933e7979f38","ReservedCode2":"3046022100d3d4ef8e0ab70edf098910c1e4e83753a8ace5ff5cf6366604dd3dfe3149eff6022100ca0f1527159390ab87bd21195a11baf0cf6c7a432ea5a9602388879b6868ec7f"}</vt:lpwstr>
  </property>
</Properties>
</file>